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embeddedFontLst>
    <p:embeddedFont>
      <p:font typeface="Montserrat SemiBold"/>
      <p:regular r:id="rId30"/>
      <p:bold r:id="rId31"/>
      <p:italic r:id="rId32"/>
      <p:boldItalic r:id="rId33"/>
    </p:embeddedFont>
    <p:embeddedFont>
      <p:font typeface="Inter SemiBold"/>
      <p:regular r:id="rId34"/>
      <p:bold r:id="rId35"/>
      <p:italic r:id="rId36"/>
      <p:boldItalic r:id="rId37"/>
    </p:embeddedFont>
    <p:embeddedFont>
      <p:font typeface="Montserrat"/>
      <p:regular r:id="rId38"/>
      <p:bold r:id="rId39"/>
      <p:italic r:id="rId40"/>
      <p:boldItalic r:id="rId41"/>
    </p:embeddedFont>
    <p:embeddedFont>
      <p:font typeface="Inter"/>
      <p:regular r:id="rId42"/>
      <p:bold r:id="rId43"/>
      <p:italic r:id="rId44"/>
      <p:boldItalic r:id="rId45"/>
    </p:embeddedFont>
    <p:embeddedFont>
      <p:font typeface="Montserrat Medium"/>
      <p:regular r:id="rId46"/>
      <p:bold r:id="rId47"/>
      <p:italic r:id="rId48"/>
      <p:boldItalic r:id="rId49"/>
    </p:embeddedFont>
    <p:embeddedFont>
      <p:font typeface="Montserrat ExtraBold"/>
      <p:bold r:id="rId50"/>
      <p:boldItalic r:id="rId51"/>
    </p:embeddedFont>
    <p:embeddedFont>
      <p:font typeface="Inter Medium"/>
      <p:regular r:id="rId52"/>
      <p:bold r:id="rId53"/>
      <p:italic r:id="rId54"/>
      <p:boldItalic r:id="rId5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561">
          <p15:clr>
            <a:srgbClr val="A4A3A4"/>
          </p15:clr>
        </p15:guide>
        <p15:guide id="3" pos="5120">
          <p15:clr>
            <a:srgbClr val="747775"/>
          </p15:clr>
        </p15:guide>
        <p15:guide id="4" pos="7680">
          <p15:clr>
            <a:srgbClr val="747775"/>
          </p15:clr>
        </p15:guide>
        <p15:guide id="5">
          <p15:clr>
            <a:srgbClr val="747775"/>
          </p15:clr>
        </p15:guide>
      </p15:sldGuideLst>
    </p:ext>
    <p:ext uri="GoogleSlidesCustomDataVersion2">
      <go:slidesCustomData xmlns:go="http://customooxmlschemas.google.com/" r:id="rId56" roundtripDataSignature="AMtx7mhBjDTrEN9zQfNlCUzMr3kgqjfVe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561"/>
        <p:guide pos="5120"/>
        <p:guide pos="7680"/>
        <p:guide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Montserrat-italic.fntdata"/><Relationship Id="rId42" Type="http://schemas.openxmlformats.org/officeDocument/2006/relationships/font" Target="fonts/Inter-regular.fntdata"/><Relationship Id="rId41" Type="http://schemas.openxmlformats.org/officeDocument/2006/relationships/font" Target="fonts/Montserrat-boldItalic.fntdata"/><Relationship Id="rId44" Type="http://schemas.openxmlformats.org/officeDocument/2006/relationships/font" Target="fonts/Inter-italic.fntdata"/><Relationship Id="rId43" Type="http://schemas.openxmlformats.org/officeDocument/2006/relationships/font" Target="fonts/Inter-bold.fntdata"/><Relationship Id="rId46" Type="http://schemas.openxmlformats.org/officeDocument/2006/relationships/font" Target="fonts/MontserratMedium-regular.fntdata"/><Relationship Id="rId45" Type="http://schemas.openxmlformats.org/officeDocument/2006/relationships/font" Target="fonts/Inter-bold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font" Target="fonts/MontserratMedium-italic.fntdata"/><Relationship Id="rId47" Type="http://schemas.openxmlformats.org/officeDocument/2006/relationships/font" Target="fonts/MontserratMedium-bold.fntdata"/><Relationship Id="rId49" Type="http://schemas.openxmlformats.org/officeDocument/2006/relationships/font" Target="fonts/MontserratMedium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MontserratSemiBold-bold.fntdata"/><Relationship Id="rId30" Type="http://schemas.openxmlformats.org/officeDocument/2006/relationships/font" Target="fonts/MontserratSemiBold-regular.fntdata"/><Relationship Id="rId33" Type="http://schemas.openxmlformats.org/officeDocument/2006/relationships/font" Target="fonts/MontserratSemiBold-boldItalic.fntdata"/><Relationship Id="rId32" Type="http://schemas.openxmlformats.org/officeDocument/2006/relationships/font" Target="fonts/MontserratSemiBold-italic.fntdata"/><Relationship Id="rId35" Type="http://schemas.openxmlformats.org/officeDocument/2006/relationships/font" Target="fonts/InterSemiBold-bold.fntdata"/><Relationship Id="rId34" Type="http://schemas.openxmlformats.org/officeDocument/2006/relationships/font" Target="fonts/InterSemiBold-regular.fntdata"/><Relationship Id="rId37" Type="http://schemas.openxmlformats.org/officeDocument/2006/relationships/font" Target="fonts/InterSemiBold-boldItalic.fntdata"/><Relationship Id="rId36" Type="http://schemas.openxmlformats.org/officeDocument/2006/relationships/font" Target="fonts/InterSemiBold-italic.fntdata"/><Relationship Id="rId39" Type="http://schemas.openxmlformats.org/officeDocument/2006/relationships/font" Target="fonts/Montserrat-bold.fntdata"/><Relationship Id="rId38" Type="http://schemas.openxmlformats.org/officeDocument/2006/relationships/font" Target="fonts/Montserrat-regular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font" Target="fonts/MontserratExtraBold-boldItalic.fntdata"/><Relationship Id="rId50" Type="http://schemas.openxmlformats.org/officeDocument/2006/relationships/font" Target="fonts/MontserratExtraBold-bold.fntdata"/><Relationship Id="rId53" Type="http://schemas.openxmlformats.org/officeDocument/2006/relationships/font" Target="fonts/InterMedium-bold.fntdata"/><Relationship Id="rId52" Type="http://schemas.openxmlformats.org/officeDocument/2006/relationships/font" Target="fonts/InterMedium-regular.fntdata"/><Relationship Id="rId11" Type="http://schemas.openxmlformats.org/officeDocument/2006/relationships/slide" Target="slides/slide6.xml"/><Relationship Id="rId55" Type="http://schemas.openxmlformats.org/officeDocument/2006/relationships/font" Target="fonts/InterMedium-boldItalic.fntdata"/><Relationship Id="rId10" Type="http://schemas.openxmlformats.org/officeDocument/2006/relationships/slide" Target="slides/slide5.xml"/><Relationship Id="rId54" Type="http://schemas.openxmlformats.org/officeDocument/2006/relationships/font" Target="fonts/InterMedium-italic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56" Type="http://customschemas.google.com/relationships/presentationmetadata" Target="metadata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h6614320cb80fea18_0_5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h6614320cb80fea18_0_58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h6614320cb80fea18_0_9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h6614320cb80fea18_0_93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h6614320cb80fea18_0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h6614320cb80fea18_0_9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h31d256953cabf977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h31d256953cabf977_1_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h105005292c05e9d_1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h105005292c05e9d_1_2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1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1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h6614320cb80fea18_0_2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h6614320cb80fea18_0_209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h6614320cb80fea18_0_24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h6614320cb80fea18_0_245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1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h6614320cb80fea18_0_30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" name="Google Shape;367;h6614320cb80fea18_0_304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1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h6594a2e70c4c9f3_22_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h6594a2e70c4c9f3_22_11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8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7" name="Google Shape;427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2" name="Google Shape;432;p2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5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5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4" name="Google Shape;14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8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8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9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9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30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30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30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30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3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3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3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3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3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3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2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32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32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3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3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3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3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3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3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4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3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3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5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5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3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3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3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2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3.png"/><Relationship Id="rId4" Type="http://schemas.openxmlformats.org/officeDocument/2006/relationships/image" Target="../media/image10.png"/><Relationship Id="rId9" Type="http://schemas.openxmlformats.org/officeDocument/2006/relationships/image" Target="../media/image34.jpg"/><Relationship Id="rId5" Type="http://schemas.openxmlformats.org/officeDocument/2006/relationships/image" Target="../media/image2.png"/><Relationship Id="rId6" Type="http://schemas.openxmlformats.org/officeDocument/2006/relationships/image" Target="../media/image12.png"/><Relationship Id="rId7" Type="http://schemas.openxmlformats.org/officeDocument/2006/relationships/image" Target="../media/image9.png"/><Relationship Id="rId8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18.png"/><Relationship Id="rId5" Type="http://schemas.openxmlformats.org/officeDocument/2006/relationships/image" Target="../media/image1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7.png"/><Relationship Id="rId4" Type="http://schemas.openxmlformats.org/officeDocument/2006/relationships/image" Target="../media/image1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Relationship Id="rId5" Type="http://schemas.openxmlformats.org/officeDocument/2006/relationships/image" Target="../media/image2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3.png"/><Relationship Id="rId4" Type="http://schemas.openxmlformats.org/officeDocument/2006/relationships/image" Target="../media/image2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3.png"/><Relationship Id="rId4" Type="http://schemas.openxmlformats.org/officeDocument/2006/relationships/image" Target="../media/image2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1.png"/><Relationship Id="rId4" Type="http://schemas.openxmlformats.org/officeDocument/2006/relationships/image" Target="../media/image27.png"/><Relationship Id="rId5" Type="http://schemas.openxmlformats.org/officeDocument/2006/relationships/image" Target="../media/image38.png"/><Relationship Id="rId6" Type="http://schemas.openxmlformats.org/officeDocument/2006/relationships/image" Target="../media/image2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9.png"/><Relationship Id="rId4" Type="http://schemas.openxmlformats.org/officeDocument/2006/relationships/image" Target="../media/image28.png"/><Relationship Id="rId5" Type="http://schemas.openxmlformats.org/officeDocument/2006/relationships/image" Target="../media/image31.png"/><Relationship Id="rId6" Type="http://schemas.openxmlformats.org/officeDocument/2006/relationships/image" Target="../media/image29.png"/><Relationship Id="rId7" Type="http://schemas.openxmlformats.org/officeDocument/2006/relationships/image" Target="../media/image3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3.png"/><Relationship Id="rId4" Type="http://schemas.openxmlformats.org/officeDocument/2006/relationships/image" Target="../media/image3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7868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"/>
          <p:cNvSpPr txBox="1"/>
          <p:nvPr/>
        </p:nvSpPr>
        <p:spPr>
          <a:xfrm>
            <a:off x="138900" y="2857500"/>
            <a:ext cx="11757900" cy="11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¿</a:t>
            </a:r>
            <a:r>
              <a:rPr b="1" lang="en-US" sz="63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POR QUÉ</a:t>
            </a:r>
            <a:r>
              <a:rPr b="1" i="0" lang="en-US" sz="75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                     </a:t>
            </a:r>
            <a:r>
              <a:rPr b="1" lang="en-US" sz="7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b="1" i="0" lang="en-US" sz="75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?</a:t>
            </a:r>
            <a:endParaRPr/>
          </a:p>
        </p:txBody>
      </p:sp>
      <p:pic>
        <p:nvPicPr>
          <p:cNvPr id="90" name="Google Shape;90;p2" title="Gemini_Generated_Image_ys9g3ys9g3ys9g3y-removebg-preview.png"/>
          <p:cNvPicPr preferRelativeResize="0"/>
          <p:nvPr/>
        </p:nvPicPr>
        <p:blipFill rotWithShape="1">
          <a:blip r:embed="rId3">
            <a:alphaModFix/>
          </a:blip>
          <a:srcRect b="28660" l="0" r="0" t="26565"/>
          <a:stretch/>
        </p:blipFill>
        <p:spPr>
          <a:xfrm>
            <a:off x="5197650" y="3053461"/>
            <a:ext cx="5709299" cy="849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5" name="Google Shape;95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40887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6" name="Google Shape;96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54843" y="2261145"/>
            <a:ext cx="2381250" cy="238125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3"/>
          <p:cNvSpPr txBox="1"/>
          <p:nvPr/>
        </p:nvSpPr>
        <p:spPr>
          <a:xfrm>
            <a:off x="295275" y="571500"/>
            <a:ext cx="11601450" cy="5656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800" u="none" cap="none" strike="noStrike">
                <a:solidFill>
                  <a:srgbClr val="11111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El equipo</a:t>
            </a:r>
            <a:endParaRPr b="0" i="0" sz="4800" u="none" cap="none" strike="noStrike">
              <a:solidFill>
                <a:srgbClr val="11111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98" name="Google Shape;98;p3"/>
          <p:cNvSpPr txBox="1"/>
          <p:nvPr/>
        </p:nvSpPr>
        <p:spPr>
          <a:xfrm>
            <a:off x="507801" y="4373396"/>
            <a:ext cx="2675334" cy="11079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Felipe Ascencio</a:t>
            </a:r>
            <a:endParaRPr/>
          </a:p>
        </p:txBody>
      </p:sp>
      <p:sp>
        <p:nvSpPr>
          <p:cNvPr id="99" name="Google Shape;99;p3"/>
          <p:cNvSpPr txBox="1"/>
          <p:nvPr/>
        </p:nvSpPr>
        <p:spPr>
          <a:xfrm>
            <a:off x="571500" y="5554873"/>
            <a:ext cx="2547937" cy="2340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11111"/>
                </a:solidFill>
                <a:latin typeface="Inter Medium"/>
                <a:ea typeface="Inter Medium"/>
                <a:cs typeface="Inter Medium"/>
                <a:sym typeface="Inter Medium"/>
              </a:rPr>
              <a:t>PREVENTA &amp; QA</a:t>
            </a:r>
            <a:endParaRPr/>
          </a:p>
        </p:txBody>
      </p:sp>
      <p:pic>
        <p:nvPicPr>
          <p:cNvPr id="100" name="Google Shape;100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54843" y="1802340"/>
            <a:ext cx="2381250" cy="24160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155903" y="1761164"/>
            <a:ext cx="2381250" cy="24167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322217" y="1761164"/>
            <a:ext cx="2381250" cy="24286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3465069" y="1749199"/>
            <a:ext cx="2404711" cy="2440604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3"/>
          <p:cNvSpPr txBox="1"/>
          <p:nvPr/>
        </p:nvSpPr>
        <p:spPr>
          <a:xfrm>
            <a:off x="3341489" y="4373396"/>
            <a:ext cx="2675334" cy="11079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Axel Zielonka</a:t>
            </a:r>
            <a:endParaRPr b="1" i="0" sz="3600" u="none" cap="none" strike="noStrike">
              <a:solidFill>
                <a:srgbClr val="11111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5" name="Google Shape;105;p3"/>
          <p:cNvSpPr txBox="1"/>
          <p:nvPr/>
        </p:nvSpPr>
        <p:spPr>
          <a:xfrm>
            <a:off x="3488531" y="5560409"/>
            <a:ext cx="2547937" cy="2340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11111"/>
                </a:solidFill>
                <a:latin typeface="Inter Medium"/>
                <a:ea typeface="Inter Medium"/>
                <a:cs typeface="Inter Medium"/>
                <a:sym typeface="Inter Medium"/>
              </a:rPr>
              <a:t>FRONTEND &amp; MARCA</a:t>
            </a:r>
            <a:endParaRPr b="0" i="0" sz="1800" u="none" cap="none" strike="noStrike">
              <a:solidFill>
                <a:srgbClr val="11111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106" name="Google Shape;106;p3"/>
          <p:cNvSpPr txBox="1"/>
          <p:nvPr/>
        </p:nvSpPr>
        <p:spPr>
          <a:xfrm>
            <a:off x="6175177" y="4378993"/>
            <a:ext cx="2675334" cy="11079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Martín Guerrero</a:t>
            </a:r>
            <a:endParaRPr b="1" i="0" sz="3600" u="none" cap="none" strike="noStrike">
              <a:solidFill>
                <a:srgbClr val="11111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7" name="Google Shape;107;p3"/>
          <p:cNvSpPr txBox="1"/>
          <p:nvPr/>
        </p:nvSpPr>
        <p:spPr>
          <a:xfrm>
            <a:off x="6238873" y="5560409"/>
            <a:ext cx="2547937" cy="2340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11111"/>
                </a:solidFill>
                <a:latin typeface="Inter Medium"/>
                <a:ea typeface="Inter Medium"/>
                <a:cs typeface="Inter Medium"/>
                <a:sym typeface="Inter Medium"/>
              </a:rPr>
              <a:t>BACKEND &amp; IA</a:t>
            </a:r>
            <a:endParaRPr b="0" i="0" sz="1800" u="none" cap="none" strike="noStrike">
              <a:solidFill>
                <a:srgbClr val="11111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108" name="Google Shape;108;p3"/>
          <p:cNvSpPr txBox="1"/>
          <p:nvPr/>
        </p:nvSpPr>
        <p:spPr>
          <a:xfrm>
            <a:off x="9114229" y="4394762"/>
            <a:ext cx="2464597" cy="11079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Lautaro Ghosn</a:t>
            </a:r>
            <a:endParaRPr b="1" i="0" sz="3600" u="none" cap="none" strike="noStrike">
              <a:solidFill>
                <a:srgbClr val="11111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9" name="Google Shape;109;p3"/>
          <p:cNvSpPr txBox="1"/>
          <p:nvPr/>
        </p:nvSpPr>
        <p:spPr>
          <a:xfrm>
            <a:off x="9092227" y="5565016"/>
            <a:ext cx="2547937" cy="2340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11111"/>
                </a:solidFill>
                <a:latin typeface="Inter Medium"/>
                <a:ea typeface="Inter Medium"/>
                <a:cs typeface="Inter Medium"/>
                <a:sym typeface="Inter Medium"/>
              </a:rPr>
              <a:t>ARQUITECTURA &amp; DATOS</a:t>
            </a:r>
            <a:endParaRPr b="0" i="0" sz="1800" u="none" cap="none" strike="noStrike">
              <a:solidFill>
                <a:srgbClr val="11111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pic>
        <p:nvPicPr>
          <p:cNvPr descr=", generada por IA" id="110" name="Google Shape;110;p3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1902" y="40888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5" name="Google Shape;115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62762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4"/>
          <p:cNvSpPr txBox="1"/>
          <p:nvPr/>
        </p:nvSpPr>
        <p:spPr>
          <a:xfrm>
            <a:off x="1865999" y="2253424"/>
            <a:ext cx="84600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66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F5F5F5"/>
                </a:solidFill>
                <a:latin typeface="Montserrat"/>
                <a:ea typeface="Montserrat"/>
                <a:cs typeface="Montserrat"/>
                <a:sym typeface="Montserrat"/>
              </a:rPr>
              <a:t>El punto de encuentro</a:t>
            </a:r>
            <a:endParaRPr b="1" i="0" sz="5400" u="none" cap="none" strike="noStrike">
              <a:solidFill>
                <a:srgbClr val="F5F5F5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7" name="Google Shape;117;p4"/>
          <p:cNvSpPr txBox="1"/>
          <p:nvPr/>
        </p:nvSpPr>
        <p:spPr>
          <a:xfrm>
            <a:off x="2285975" y="3365914"/>
            <a:ext cx="7620000" cy="277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3600" u="none" cap="none" strike="noStrike">
                <a:solidFill>
                  <a:srgbClr val="BFBFB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La pasión por el fútbol y la convicción absoluta de que la tecnología es la única vía para sanear y transformar la gestión de los clubes en Argentina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descr="image.png" id="118" name="Google Shape;118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524475" y="596074"/>
            <a:ext cx="1143000" cy="1143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h6614320cb80fea18_0_582"/>
          <p:cNvSpPr txBox="1"/>
          <p:nvPr/>
        </p:nvSpPr>
        <p:spPr>
          <a:xfrm>
            <a:off x="762000" y="428625"/>
            <a:ext cx="10784100" cy="1381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E11D48"/>
                </a:solidFill>
                <a:latin typeface="Montserrat"/>
                <a:ea typeface="Montserrat"/>
                <a:cs typeface="Montserrat"/>
                <a:sym typeface="Montserrat"/>
              </a:rPr>
              <a:t>Diagnóstico de Situación</a:t>
            </a:r>
            <a:endParaRPr b="1" sz="1300">
              <a:solidFill>
                <a:srgbClr val="E11D48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lang="en-US" sz="46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La fuga silenciosa</a:t>
            </a:r>
            <a:endParaRPr b="1" sz="1300">
              <a:solidFill>
                <a:srgbClr val="E11D48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475569"/>
                </a:solidFill>
                <a:latin typeface="Montserrat"/>
                <a:ea typeface="Montserrat"/>
                <a:cs typeface="Montserrat"/>
                <a:sym typeface="Montserrat"/>
              </a:rPr>
              <a:t>Tres focos críticos de pérdida de ingresos y control en la gestión institucional</a:t>
            </a:r>
            <a:endParaRPr b="1" sz="1800">
              <a:solidFill>
                <a:srgbClr val="E11D4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124" name="Google Shape;124;h6614320cb80fea18_0_582"/>
          <p:cNvGrpSpPr/>
          <p:nvPr/>
        </p:nvGrpSpPr>
        <p:grpSpPr>
          <a:xfrm>
            <a:off x="762000" y="2000250"/>
            <a:ext cx="3333900" cy="4191000"/>
            <a:chOff x="0" y="0"/>
            <a:chExt cx="3333900" cy="4191000"/>
          </a:xfrm>
        </p:grpSpPr>
        <p:sp>
          <p:nvSpPr>
            <p:cNvPr id="125" name="Google Shape;125;h6614320cb80fea18_0_582"/>
            <p:cNvSpPr/>
            <p:nvPr/>
          </p:nvSpPr>
          <p:spPr>
            <a:xfrm>
              <a:off x="0" y="0"/>
              <a:ext cx="3333900" cy="4191000"/>
            </a:xfrm>
            <a:prstGeom prst="roundRect">
              <a:avLst>
                <a:gd fmla="val 4570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" name="Google Shape;126;h6614320cb80fea18_0_582"/>
            <p:cNvSpPr/>
            <p:nvPr/>
          </p:nvSpPr>
          <p:spPr>
            <a:xfrm>
              <a:off x="0" y="0"/>
              <a:ext cx="3333900" cy="38100"/>
            </a:xfrm>
            <a:prstGeom prst="roundRect">
              <a:avLst>
                <a:gd fmla="val 50000" name="adj"/>
              </a:avLst>
            </a:prstGeom>
            <a:solidFill>
              <a:srgbClr val="E11D4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" name="Google Shape;127;h6614320cb80fea18_0_582"/>
            <p:cNvSpPr txBox="1"/>
            <p:nvPr/>
          </p:nvSpPr>
          <p:spPr>
            <a:xfrm>
              <a:off x="285750" y="285750"/>
              <a:ext cx="2762400" cy="3619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800">
                  <a:solidFill>
                    <a:srgbClr val="E11D48"/>
                  </a:solidFill>
                  <a:highlight>
                    <a:srgbClr val="FFE4E6"/>
                  </a:highlight>
                  <a:latin typeface="Material Icons"/>
                  <a:ea typeface="Material Icons"/>
                  <a:cs typeface="Material Icons"/>
                  <a:sym typeface="Material Icons"/>
                </a:rPr>
                <a:t>money_off</a:t>
              </a:r>
              <a:r>
                <a:rPr b="0" lang="en-US" sz="2800">
                  <a:solidFill>
                    <a:srgbClr val="E11D48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 </a:t>
              </a:r>
              <a:r>
                <a:rPr b="0" lang="en-US" sz="2200">
                  <a:solidFill>
                    <a:srgbClr val="E11D48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01</a:t>
              </a:r>
              <a:endParaRPr b="0" sz="2800">
                <a:solidFill>
                  <a:srgbClr val="E11D48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600"/>
                </a:spcBef>
                <a:spcAft>
                  <a:spcPts val="0"/>
                </a:spcAft>
                <a:buNone/>
              </a:pPr>
              <a:r>
                <a:rPr b="1" lang="en-US" sz="300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Morosidad no detectada</a:t>
              </a:r>
              <a:endParaRPr b="0" sz="3500">
                <a:solidFill>
                  <a:srgbClr val="E11D48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40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E11D48"/>
                  </a:solidFill>
                  <a:latin typeface="Montserrat"/>
                  <a:ea typeface="Montserrat"/>
                  <a:cs typeface="Montserrat"/>
                  <a:sym typeface="Montserrat"/>
                </a:rPr>
                <a:t>• </a:t>
              </a:r>
              <a:r>
                <a:rPr lang="en-US" sz="2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Sin trazabilidad de cuotas</a:t>
              </a:r>
              <a:endParaRPr sz="2000">
                <a:solidFill>
                  <a:srgbClr val="E11D48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E11D48"/>
                  </a:solidFill>
                  <a:latin typeface="Montserrat"/>
                  <a:ea typeface="Montserrat"/>
                  <a:cs typeface="Montserrat"/>
                  <a:sym typeface="Montserrat"/>
                </a:rPr>
                <a:t>• </a:t>
              </a:r>
              <a:r>
                <a:rPr lang="en-US" sz="2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Acceso </a:t>
              </a:r>
              <a:r>
                <a:rPr lang="en-US" sz="2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permitido</a:t>
              </a:r>
              <a:r>
                <a:rPr lang="en-US" sz="2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a socios morosos</a:t>
              </a:r>
              <a:endParaRPr sz="2000">
                <a:solidFill>
                  <a:srgbClr val="E11D48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E11D48"/>
                  </a:solidFill>
                  <a:latin typeface="Montserrat"/>
                  <a:ea typeface="Montserrat"/>
                  <a:cs typeface="Montserrat"/>
                  <a:sym typeface="Montserrat"/>
                </a:rPr>
                <a:t>• </a:t>
              </a:r>
              <a:r>
                <a:rPr lang="en-US" sz="2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Pérdida continua de flujo de caj</a:t>
              </a:r>
              <a:r>
                <a:rPr lang="en-US" sz="19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 </a:t>
              </a:r>
              <a:endParaRPr sz="1900">
                <a:solidFill>
                  <a:srgbClr val="E11D48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128" name="Google Shape;128;h6614320cb80fea18_0_582"/>
          <p:cNvGrpSpPr/>
          <p:nvPr/>
        </p:nvGrpSpPr>
        <p:grpSpPr>
          <a:xfrm>
            <a:off x="4429125" y="2000250"/>
            <a:ext cx="3333900" cy="4191000"/>
            <a:chOff x="0" y="0"/>
            <a:chExt cx="3333900" cy="4191000"/>
          </a:xfrm>
        </p:grpSpPr>
        <p:sp>
          <p:nvSpPr>
            <p:cNvPr id="129" name="Google Shape;129;h6614320cb80fea18_0_582"/>
            <p:cNvSpPr/>
            <p:nvPr/>
          </p:nvSpPr>
          <p:spPr>
            <a:xfrm>
              <a:off x="0" y="0"/>
              <a:ext cx="3333900" cy="4191000"/>
            </a:xfrm>
            <a:prstGeom prst="roundRect">
              <a:avLst>
                <a:gd fmla="val 4570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" name="Google Shape;130;h6614320cb80fea18_0_582"/>
            <p:cNvSpPr/>
            <p:nvPr/>
          </p:nvSpPr>
          <p:spPr>
            <a:xfrm>
              <a:off x="0" y="0"/>
              <a:ext cx="3333900" cy="38100"/>
            </a:xfrm>
            <a:prstGeom prst="roundRect">
              <a:avLst>
                <a:gd fmla="val 50000" name="adj"/>
              </a:avLst>
            </a:prstGeom>
            <a:solidFill>
              <a:srgbClr val="E11D4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" name="Google Shape;131;h6614320cb80fea18_0_582"/>
            <p:cNvSpPr txBox="1"/>
            <p:nvPr/>
          </p:nvSpPr>
          <p:spPr>
            <a:xfrm>
              <a:off x="285750" y="285750"/>
              <a:ext cx="2762400" cy="3619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800">
                  <a:solidFill>
                    <a:srgbClr val="E11D48"/>
                  </a:solidFill>
                  <a:highlight>
                    <a:srgbClr val="FFE4E6"/>
                  </a:highlight>
                  <a:latin typeface="Material Icons"/>
                  <a:ea typeface="Material Icons"/>
                  <a:cs typeface="Material Icons"/>
                  <a:sym typeface="Material Icons"/>
                </a:rPr>
                <a:t>security</a:t>
              </a:r>
              <a:r>
                <a:rPr b="0" lang="en-US" sz="2800">
                  <a:solidFill>
                    <a:srgbClr val="E11D48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 </a:t>
              </a:r>
              <a:r>
                <a:rPr b="0" lang="en-US" sz="2200">
                  <a:solidFill>
                    <a:srgbClr val="E11D48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02</a:t>
              </a:r>
              <a:endParaRPr b="0" sz="2800">
                <a:solidFill>
                  <a:srgbClr val="E11D48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600"/>
                </a:spcBef>
                <a:spcAft>
                  <a:spcPts val="0"/>
                </a:spcAft>
                <a:buNone/>
              </a:pPr>
              <a:r>
                <a:rPr b="1" lang="en-US" sz="300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Fraude perimetral</a:t>
              </a:r>
              <a:endParaRPr b="0" sz="3500">
                <a:solidFill>
                  <a:srgbClr val="E11D48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40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E11D48"/>
                  </a:solidFill>
                  <a:latin typeface="Montserrat"/>
                  <a:ea typeface="Montserrat"/>
                  <a:cs typeface="Montserrat"/>
                  <a:sym typeface="Montserrat"/>
                </a:rPr>
                <a:t>• </a:t>
              </a:r>
              <a:r>
                <a:rPr lang="en-US" sz="2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Ingresos no autorizados</a:t>
              </a:r>
              <a:endParaRPr sz="2000">
                <a:solidFill>
                  <a:srgbClr val="E11D48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E11D48"/>
                  </a:solidFill>
                  <a:latin typeface="Montserrat"/>
                  <a:ea typeface="Montserrat"/>
                  <a:cs typeface="Montserrat"/>
                  <a:sym typeface="Montserrat"/>
                </a:rPr>
                <a:t>• </a:t>
              </a:r>
              <a:r>
                <a:rPr lang="en-US" sz="2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Uso compartido de credenciales</a:t>
              </a:r>
              <a:endParaRPr sz="2000">
                <a:solidFill>
                  <a:srgbClr val="E11D48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E11D48"/>
                  </a:solidFill>
                  <a:latin typeface="Montserrat"/>
                  <a:ea typeface="Montserrat"/>
                  <a:cs typeface="Montserrat"/>
                  <a:sym typeface="Montserrat"/>
                </a:rPr>
                <a:t>• </a:t>
              </a:r>
              <a:r>
                <a:rPr lang="en-US" sz="2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Vulnerabilidad en el control de eventos</a:t>
              </a:r>
              <a:endParaRPr sz="2000">
                <a:solidFill>
                  <a:srgbClr val="E11D48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132" name="Google Shape;132;h6614320cb80fea18_0_582"/>
          <p:cNvGrpSpPr/>
          <p:nvPr/>
        </p:nvGrpSpPr>
        <p:grpSpPr>
          <a:xfrm>
            <a:off x="8096250" y="2000250"/>
            <a:ext cx="3333900" cy="4191000"/>
            <a:chOff x="0" y="0"/>
            <a:chExt cx="3333900" cy="4191000"/>
          </a:xfrm>
        </p:grpSpPr>
        <p:sp>
          <p:nvSpPr>
            <p:cNvPr id="133" name="Google Shape;133;h6614320cb80fea18_0_582"/>
            <p:cNvSpPr/>
            <p:nvPr/>
          </p:nvSpPr>
          <p:spPr>
            <a:xfrm>
              <a:off x="0" y="0"/>
              <a:ext cx="3333900" cy="4191000"/>
            </a:xfrm>
            <a:prstGeom prst="roundRect">
              <a:avLst>
                <a:gd fmla="val 4570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" name="Google Shape;134;h6614320cb80fea18_0_582"/>
            <p:cNvSpPr/>
            <p:nvPr/>
          </p:nvSpPr>
          <p:spPr>
            <a:xfrm>
              <a:off x="0" y="0"/>
              <a:ext cx="3333900" cy="38100"/>
            </a:xfrm>
            <a:prstGeom prst="roundRect">
              <a:avLst>
                <a:gd fmla="val 50000" name="adj"/>
              </a:avLst>
            </a:prstGeom>
            <a:solidFill>
              <a:srgbClr val="E11D4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" name="Google Shape;135;h6614320cb80fea18_0_582"/>
            <p:cNvSpPr txBox="1"/>
            <p:nvPr/>
          </p:nvSpPr>
          <p:spPr>
            <a:xfrm>
              <a:off x="285750" y="285750"/>
              <a:ext cx="2762400" cy="3619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800">
                  <a:solidFill>
                    <a:srgbClr val="E11D48"/>
                  </a:solidFill>
                  <a:highlight>
                    <a:srgbClr val="FFE4E6"/>
                  </a:highlight>
                  <a:latin typeface="Material Icons"/>
                  <a:ea typeface="Material Icons"/>
                  <a:cs typeface="Material Icons"/>
                  <a:sym typeface="Material Icons"/>
                </a:rPr>
                <a:t>domain_disabled</a:t>
              </a:r>
              <a:r>
                <a:rPr b="0" lang="en-US" sz="2800">
                  <a:solidFill>
                    <a:srgbClr val="E11D48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 </a:t>
              </a:r>
              <a:r>
                <a:rPr b="0" lang="en-US" sz="2200">
                  <a:solidFill>
                    <a:srgbClr val="E11D48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03</a:t>
              </a:r>
              <a:endParaRPr b="0" sz="2800">
                <a:solidFill>
                  <a:srgbClr val="E11D48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600"/>
                </a:spcBef>
                <a:spcAft>
                  <a:spcPts val="0"/>
                </a:spcAft>
                <a:buNone/>
              </a:pPr>
              <a:r>
                <a:rPr b="1" lang="en-US" sz="300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Activos subutilizados</a:t>
              </a:r>
              <a:endParaRPr b="0" sz="3500">
                <a:solidFill>
                  <a:srgbClr val="E11D48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40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E11D48"/>
                  </a:solidFill>
                  <a:latin typeface="Montserrat"/>
                  <a:ea typeface="Montserrat"/>
                  <a:cs typeface="Montserrat"/>
                  <a:sym typeface="Montserrat"/>
                </a:rPr>
                <a:t>• </a:t>
              </a:r>
              <a:r>
                <a:rPr lang="en-US" sz="2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Instalaciones y canchas</a:t>
              </a:r>
              <a:endParaRPr sz="2000">
                <a:solidFill>
                  <a:srgbClr val="E11D48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E11D48"/>
                  </a:solidFill>
                  <a:latin typeface="Montserrat"/>
                  <a:ea typeface="Montserrat"/>
                  <a:cs typeface="Montserrat"/>
                  <a:sym typeface="Montserrat"/>
                </a:rPr>
                <a:t>• </a:t>
              </a:r>
              <a:r>
                <a:rPr lang="en-US" sz="2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Horarios ociosos no monetizados</a:t>
              </a:r>
              <a:endParaRPr sz="2000">
                <a:solidFill>
                  <a:srgbClr val="E11D48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E11D48"/>
                  </a:solidFill>
                  <a:latin typeface="Montserrat"/>
                  <a:ea typeface="Montserrat"/>
                  <a:cs typeface="Montserrat"/>
                  <a:sym typeface="Montserrat"/>
                </a:rPr>
                <a:t>• </a:t>
              </a:r>
              <a:r>
                <a:rPr lang="en-US" sz="2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Gestión manual de reservas </a:t>
              </a:r>
              <a:endParaRPr sz="2000">
                <a:solidFill>
                  <a:srgbClr val="E11D48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40" name="Google Shape;140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51772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6"/>
          <p:cNvSpPr txBox="1"/>
          <p:nvPr/>
        </p:nvSpPr>
        <p:spPr>
          <a:xfrm>
            <a:off x="571500" y="924588"/>
            <a:ext cx="5238900" cy="44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15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4800" u="none" cap="none" strike="noStrike">
                <a:solidFill>
                  <a:srgbClr val="F5F5F5"/>
                </a:solidFill>
                <a:latin typeface="Montserrat"/>
                <a:ea typeface="Montserrat"/>
                <a:cs typeface="Montserrat"/>
                <a:sym typeface="Montserrat"/>
              </a:rPr>
              <a:t> "No te avientes a hacer algo sin validarlo antes, sin saber que hay un mercado para ello." </a:t>
            </a:r>
            <a:endParaRPr/>
          </a:p>
        </p:txBody>
      </p:sp>
      <p:sp>
        <p:nvSpPr>
          <p:cNvPr id="142" name="Google Shape;142;p6"/>
          <p:cNvSpPr txBox="1"/>
          <p:nvPr/>
        </p:nvSpPr>
        <p:spPr>
          <a:xfrm>
            <a:off x="571500" y="5773809"/>
            <a:ext cx="3164758" cy="3159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803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rgbClr val="F5F5F5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— MARCUS DANTUS</a:t>
            </a:r>
            <a:endParaRPr/>
          </a:p>
        </p:txBody>
      </p:sp>
      <p:pic>
        <p:nvPicPr>
          <p:cNvPr id="143" name="Google Shape;143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7716" y="-71949"/>
            <a:ext cx="4980730" cy="70018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h6614320cb80fea18_0_932"/>
          <p:cNvSpPr txBox="1"/>
          <p:nvPr/>
        </p:nvSpPr>
        <p:spPr>
          <a:xfrm>
            <a:off x="762000" y="428625"/>
            <a:ext cx="106680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57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Un universo desatendido</a:t>
            </a:r>
            <a:endParaRPr b="0" sz="3570">
              <a:solidFill>
                <a:srgbClr val="0F172A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530">
                <a:solidFill>
                  <a:srgbClr val="475569"/>
                </a:solidFill>
                <a:latin typeface="Montserrat"/>
                <a:ea typeface="Montserrat"/>
                <a:cs typeface="Montserrat"/>
                <a:sym typeface="Montserrat"/>
              </a:rPr>
              <a:t>Más de 2 millones de socios activos en 153 instituciones deportivas</a:t>
            </a:r>
            <a:endParaRPr sz="2530">
              <a:solidFill>
                <a:srgbClr val="47556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149" name="Google Shape;149;h6614320cb80fea18_0_932"/>
          <p:cNvGrpSpPr/>
          <p:nvPr/>
        </p:nvGrpSpPr>
        <p:grpSpPr>
          <a:xfrm>
            <a:off x="762000" y="1619250"/>
            <a:ext cx="10668000" cy="1428900"/>
            <a:chOff x="0" y="0"/>
            <a:chExt cx="10668000" cy="1428900"/>
          </a:xfrm>
        </p:grpSpPr>
        <p:sp>
          <p:nvSpPr>
            <p:cNvPr id="150" name="Google Shape;150;h6614320cb80fea18_0_932"/>
            <p:cNvSpPr/>
            <p:nvPr/>
          </p:nvSpPr>
          <p:spPr>
            <a:xfrm>
              <a:off x="0" y="0"/>
              <a:ext cx="10668000" cy="1428900"/>
            </a:xfrm>
            <a:prstGeom prst="roundRect">
              <a:avLst>
                <a:gd fmla="val 10666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" name="Google Shape;151;h6614320cb80fea18_0_932"/>
            <p:cNvSpPr/>
            <p:nvPr/>
          </p:nvSpPr>
          <p:spPr>
            <a:xfrm>
              <a:off x="0" y="0"/>
              <a:ext cx="76200" cy="14289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" name="Google Shape;152;h6614320cb80fea18_0_932"/>
            <p:cNvSpPr txBox="1"/>
            <p:nvPr/>
          </p:nvSpPr>
          <p:spPr>
            <a:xfrm>
              <a:off x="285750" y="142875"/>
              <a:ext cx="11253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200"/>
                </a:spcBef>
                <a:spcAft>
                  <a:spcPts val="0"/>
                </a:spcAft>
                <a:buNone/>
              </a:pPr>
              <a:r>
                <a:rPr b="0" lang="en-US" sz="3800">
                  <a:solidFill>
                    <a:srgbClr val="0F172A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87 </a:t>
              </a:r>
              <a:r>
                <a:rPr b="1" lang="en-US" sz="2000">
                  <a:solidFill>
                    <a:srgbClr val="0284C7"/>
                  </a:solidFill>
                  <a:latin typeface="Montserrat"/>
                  <a:ea typeface="Montserrat"/>
                  <a:cs typeface="Montserrat"/>
                  <a:sym typeface="Montserrat"/>
                </a:rPr>
                <a:t>CLUBES</a:t>
              </a:r>
              <a:endParaRPr b="0" sz="42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</p:txBody>
        </p:sp>
        <p:sp>
          <p:nvSpPr>
            <p:cNvPr id="153" name="Google Shape;153;h6614320cb80fea18_0_932"/>
            <p:cNvSpPr txBox="1"/>
            <p:nvPr/>
          </p:nvSpPr>
          <p:spPr>
            <a:xfrm>
              <a:off x="1544400" y="142875"/>
              <a:ext cx="18456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50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Ascenso e Interior</a:t>
              </a:r>
              <a:endParaRPr b="1" sz="25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54" name="Google Shape;154;h6614320cb80fea18_0_932"/>
            <p:cNvSpPr txBox="1"/>
            <p:nvPr/>
          </p:nvSpPr>
          <p:spPr>
            <a:xfrm>
              <a:off x="3762800" y="142875"/>
              <a:ext cx="67920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•</a:t>
              </a:r>
              <a:r>
                <a:rPr lang="en-US" sz="2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El segmento más grande</a:t>
              </a:r>
              <a:endParaRPr sz="20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• </a:t>
              </a:r>
              <a:r>
                <a:rPr lang="en-US" sz="2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Mayor déficit tecnológico y operaciones mayoritariamente manuales.</a:t>
              </a:r>
              <a:endParaRPr sz="20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• Oportunidad clave de masificación </a:t>
              </a:r>
              <a:endParaRPr sz="20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155" name="Google Shape;155;h6614320cb80fea18_0_932"/>
          <p:cNvGrpSpPr/>
          <p:nvPr/>
        </p:nvGrpSpPr>
        <p:grpSpPr>
          <a:xfrm>
            <a:off x="762000" y="3238500"/>
            <a:ext cx="10668000" cy="1428900"/>
            <a:chOff x="0" y="0"/>
            <a:chExt cx="10668000" cy="1428900"/>
          </a:xfrm>
        </p:grpSpPr>
        <p:sp>
          <p:nvSpPr>
            <p:cNvPr id="156" name="Google Shape;156;h6614320cb80fea18_0_932"/>
            <p:cNvSpPr/>
            <p:nvPr/>
          </p:nvSpPr>
          <p:spPr>
            <a:xfrm>
              <a:off x="0" y="0"/>
              <a:ext cx="10668000" cy="1428900"/>
            </a:xfrm>
            <a:prstGeom prst="roundRect">
              <a:avLst>
                <a:gd fmla="val 10666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" name="Google Shape;157;h6614320cb80fea18_0_932"/>
            <p:cNvSpPr/>
            <p:nvPr/>
          </p:nvSpPr>
          <p:spPr>
            <a:xfrm>
              <a:off x="0" y="0"/>
              <a:ext cx="76200" cy="1428900"/>
            </a:xfrm>
            <a:prstGeom prst="roundRect">
              <a:avLst>
                <a:gd fmla="val 50000" name="adj"/>
              </a:avLst>
            </a:prstGeom>
            <a:solidFill>
              <a:srgbClr val="D9770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" name="Google Shape;158;h6614320cb80fea18_0_932"/>
            <p:cNvSpPr txBox="1"/>
            <p:nvPr/>
          </p:nvSpPr>
          <p:spPr>
            <a:xfrm>
              <a:off x="285750" y="142875"/>
              <a:ext cx="11253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200"/>
                </a:spcBef>
                <a:spcAft>
                  <a:spcPts val="0"/>
                </a:spcAft>
                <a:buNone/>
              </a:pPr>
              <a:r>
                <a:rPr b="0" lang="en-US" sz="3800">
                  <a:solidFill>
                    <a:srgbClr val="0F172A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36 </a:t>
              </a:r>
              <a:r>
                <a:rPr b="1" lang="en-US" sz="2000">
                  <a:solidFill>
                    <a:srgbClr val="D97706"/>
                  </a:solidFill>
                  <a:latin typeface="Montserrat"/>
                  <a:ea typeface="Montserrat"/>
                  <a:cs typeface="Montserrat"/>
                  <a:sym typeface="Montserrat"/>
                </a:rPr>
                <a:t>CLUBES</a:t>
              </a:r>
              <a:endParaRPr b="0" sz="42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</p:txBody>
        </p:sp>
        <p:sp>
          <p:nvSpPr>
            <p:cNvPr id="159" name="Google Shape;159;h6614320cb80fea18_0_932"/>
            <p:cNvSpPr txBox="1"/>
            <p:nvPr/>
          </p:nvSpPr>
          <p:spPr>
            <a:xfrm>
              <a:off x="1544400" y="142950"/>
              <a:ext cx="14853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50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Primera Nacional</a:t>
              </a:r>
              <a:endParaRPr b="1" sz="25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60" name="Google Shape;160;h6614320cb80fea18_0_932"/>
            <p:cNvSpPr txBox="1"/>
            <p:nvPr/>
          </p:nvSpPr>
          <p:spPr>
            <a:xfrm>
              <a:off x="3769600" y="142875"/>
              <a:ext cx="64413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• Flujo constante de socios. Alta exigencia</a:t>
              </a:r>
              <a:endParaRPr sz="20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• Trazabilidad y cobro eficiente urgente</a:t>
              </a:r>
              <a:endParaRPr sz="20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• Puente estratégico hacia la máxima categoría</a:t>
              </a:r>
              <a:endParaRPr sz="20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161" name="Google Shape;161;h6614320cb80fea18_0_932"/>
          <p:cNvGrpSpPr/>
          <p:nvPr/>
        </p:nvGrpSpPr>
        <p:grpSpPr>
          <a:xfrm>
            <a:off x="762000" y="4857750"/>
            <a:ext cx="10668000" cy="1428900"/>
            <a:chOff x="0" y="0"/>
            <a:chExt cx="10668000" cy="1428900"/>
          </a:xfrm>
        </p:grpSpPr>
        <p:sp>
          <p:nvSpPr>
            <p:cNvPr id="162" name="Google Shape;162;h6614320cb80fea18_0_932"/>
            <p:cNvSpPr/>
            <p:nvPr/>
          </p:nvSpPr>
          <p:spPr>
            <a:xfrm>
              <a:off x="0" y="0"/>
              <a:ext cx="10668000" cy="1428900"/>
            </a:xfrm>
            <a:prstGeom prst="roundRect">
              <a:avLst>
                <a:gd fmla="val 10666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" name="Google Shape;163;h6614320cb80fea18_0_932"/>
            <p:cNvSpPr/>
            <p:nvPr/>
          </p:nvSpPr>
          <p:spPr>
            <a:xfrm>
              <a:off x="0" y="0"/>
              <a:ext cx="76200" cy="1428900"/>
            </a:xfrm>
            <a:prstGeom prst="roundRect">
              <a:avLst>
                <a:gd fmla="val 50000" name="adj"/>
              </a:avLst>
            </a:prstGeom>
            <a:solidFill>
              <a:srgbClr val="05966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" name="Google Shape;164;h6614320cb80fea18_0_932"/>
            <p:cNvSpPr txBox="1"/>
            <p:nvPr/>
          </p:nvSpPr>
          <p:spPr>
            <a:xfrm>
              <a:off x="1551675" y="142950"/>
              <a:ext cx="20211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50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Liga Profesional</a:t>
              </a:r>
              <a:endParaRPr b="1" sz="25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65" name="Google Shape;165;h6614320cb80fea18_0_932"/>
            <p:cNvSpPr txBox="1"/>
            <p:nvPr/>
          </p:nvSpPr>
          <p:spPr>
            <a:xfrm>
              <a:off x="3762925" y="142875"/>
              <a:ext cx="65241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• Instituciones de élite con gran masa social</a:t>
              </a:r>
              <a:endParaRPr sz="20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• Requerimientos avanzados de control de acceso</a:t>
              </a:r>
              <a:endParaRPr sz="20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• Validación de marca y máxima visibilidad</a:t>
              </a:r>
              <a:endParaRPr sz="20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166" name="Google Shape;166;h6614320cb80fea18_0_932"/>
          <p:cNvSpPr txBox="1"/>
          <p:nvPr/>
        </p:nvSpPr>
        <p:spPr>
          <a:xfrm>
            <a:off x="998225" y="5000700"/>
            <a:ext cx="11253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lang="en-US" sz="38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3</a:t>
            </a:r>
            <a:r>
              <a:rPr lang="en-US" sz="38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</a:t>
            </a:r>
            <a:r>
              <a:rPr b="0" lang="en-US" sz="38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 </a:t>
            </a:r>
            <a:r>
              <a:rPr b="1" lang="en-US" sz="2000">
                <a:solidFill>
                  <a:srgbClr val="059669"/>
                </a:solidFill>
                <a:latin typeface="Montserrat"/>
                <a:ea typeface="Montserrat"/>
                <a:cs typeface="Montserrat"/>
                <a:sym typeface="Montserrat"/>
              </a:rPr>
              <a:t>CLUBES</a:t>
            </a:r>
            <a:endParaRPr b="0" sz="4200">
              <a:solidFill>
                <a:srgbClr val="059669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71" name="Google Shape;171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8"/>
          <p:cNvSpPr txBox="1"/>
          <p:nvPr/>
        </p:nvSpPr>
        <p:spPr>
          <a:xfrm>
            <a:off x="571500" y="571500"/>
            <a:ext cx="11601450" cy="5847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800" u="none" cap="none" strike="noStrike">
                <a:solidFill>
                  <a:srgbClr val="F5F5F5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La brecha tecnológica</a:t>
            </a:r>
            <a:endParaRPr b="0" i="0" sz="4800" u="none" cap="none" strike="noStrike">
              <a:solidFill>
                <a:srgbClr val="F5F5F5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173" name="Google Shape;173;p8"/>
          <p:cNvSpPr txBox="1"/>
          <p:nvPr/>
        </p:nvSpPr>
        <p:spPr>
          <a:xfrm>
            <a:off x="571425" y="2325690"/>
            <a:ext cx="5238900" cy="16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0" u="none" cap="none" strike="noStrike">
                <a:solidFill>
                  <a:srgbClr val="F5F5F5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120+</a:t>
            </a:r>
            <a:endParaRPr/>
          </a:p>
        </p:txBody>
      </p:sp>
      <p:sp>
        <p:nvSpPr>
          <p:cNvPr id="174" name="Google Shape;174;p8"/>
          <p:cNvSpPr txBox="1"/>
          <p:nvPr/>
        </p:nvSpPr>
        <p:spPr>
          <a:xfrm>
            <a:off x="571500" y="4408140"/>
            <a:ext cx="5238900" cy="12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4000" u="none" cap="none" strike="noStrike">
                <a:solidFill>
                  <a:srgbClr val="F5F5F5"/>
                </a:solidFill>
                <a:latin typeface="Montserrat"/>
                <a:ea typeface="Montserrat"/>
                <a:cs typeface="Montserrat"/>
                <a:sym typeface="Montserrat"/>
              </a:rPr>
              <a:t>Clubes ignorados que operan a ciegas</a:t>
            </a:r>
            <a:endParaRPr i="0" sz="4000" u="none" cap="none" strike="noStrike">
              <a:solidFill>
                <a:srgbClr val="F5F5F5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75" name="Google Shape;175;p8"/>
          <p:cNvSpPr txBox="1"/>
          <p:nvPr/>
        </p:nvSpPr>
        <p:spPr>
          <a:xfrm>
            <a:off x="6381675" y="3792540"/>
            <a:ext cx="5238900" cy="246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4000" u="none" cap="none" strike="noStrike">
                <a:solidFill>
                  <a:srgbClr val="F5F5F5"/>
                </a:solidFill>
                <a:latin typeface="Montserrat"/>
                <a:ea typeface="Montserrat"/>
                <a:cs typeface="Montserrat"/>
                <a:sym typeface="Montserrat"/>
              </a:rPr>
              <a:t>El competidor principal solo abarca a ~25 instituciones de la élite.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descr="image.png" id="176" name="Google Shape;176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81675" y="1887540"/>
            <a:ext cx="5238750" cy="1714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h6614320cb80fea18_0_98"/>
          <p:cNvSpPr/>
          <p:nvPr/>
        </p:nvSpPr>
        <p:spPr>
          <a:xfrm>
            <a:off x="6096000" y="4286250"/>
            <a:ext cx="5334000" cy="1572900"/>
          </a:xfrm>
          <a:prstGeom prst="roundRect">
            <a:avLst>
              <a:gd fmla="val 10256" name="adj"/>
            </a:avLst>
          </a:prstGeom>
          <a:solidFill>
            <a:srgbClr val="F0F9FF"/>
          </a:solidFill>
          <a:ln cap="flat" cmpd="sng" w="14300">
            <a:solidFill>
              <a:srgbClr val="C7EA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h6614320cb80fea18_0_98"/>
          <p:cNvSpPr txBox="1"/>
          <p:nvPr/>
        </p:nvSpPr>
        <p:spPr>
          <a:xfrm>
            <a:off x="762000" y="428625"/>
            <a:ext cx="10668000" cy="10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0284C7"/>
                </a:solidFill>
                <a:latin typeface="Montserrat"/>
                <a:ea typeface="Montserrat"/>
                <a:cs typeface="Montserrat"/>
                <a:sym typeface="Montserrat"/>
              </a:rPr>
              <a:t>Directo en el territorio</a:t>
            </a:r>
            <a:endParaRPr b="1" sz="2200">
              <a:solidFill>
                <a:srgbClr val="0284C7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42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Validación empírica</a:t>
            </a:r>
            <a:endParaRPr b="0" sz="4200">
              <a:solidFill>
                <a:srgbClr val="0F172A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183" name="Google Shape;183;h6614320cb80fea18_0_98"/>
          <p:cNvGrpSpPr/>
          <p:nvPr/>
        </p:nvGrpSpPr>
        <p:grpSpPr>
          <a:xfrm>
            <a:off x="762000" y="1666875"/>
            <a:ext cx="4953000" cy="4572000"/>
            <a:chOff x="0" y="0"/>
            <a:chExt cx="4953000" cy="4572000"/>
          </a:xfrm>
        </p:grpSpPr>
        <p:sp>
          <p:nvSpPr>
            <p:cNvPr id="184" name="Google Shape;184;h6614320cb80fea18_0_98"/>
            <p:cNvSpPr/>
            <p:nvPr/>
          </p:nvSpPr>
          <p:spPr>
            <a:xfrm>
              <a:off x="0" y="0"/>
              <a:ext cx="4953000" cy="4572000"/>
            </a:xfrm>
            <a:prstGeom prst="roundRect">
              <a:avLst>
                <a:gd fmla="val 5000" name="adj"/>
              </a:avLst>
            </a:prstGeom>
            <a:solidFill>
              <a:srgbClr val="F8FAFC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85" name="Google Shape;185;h6614320cb80fea18_0_98"/>
            <p:cNvGrpSpPr/>
            <p:nvPr/>
          </p:nvGrpSpPr>
          <p:grpSpPr>
            <a:xfrm>
              <a:off x="1285875" y="333375"/>
              <a:ext cx="2381400" cy="2381400"/>
              <a:chOff x="-47625" y="-47625"/>
              <a:chExt cx="2381400" cy="2381400"/>
            </a:xfrm>
          </p:grpSpPr>
          <p:pic>
            <p:nvPicPr>
              <p:cNvPr id="186" name="Google Shape;186;h6614320cb80fea18_0_98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-47625" y="-47625"/>
                <a:ext cx="2381400" cy="23814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87" name="Google Shape;187;h6614320cb80fea18_0_98"/>
              <p:cNvPicPr preferRelativeResize="0"/>
              <p:nvPr/>
            </p:nvPicPr>
            <p:blipFill rotWithShape="1">
              <a:blip r:embed="rId5">
                <a:alphaModFix/>
              </a:blip>
              <a:srcRect b="150" l="0" r="0" t="140"/>
              <a:stretch/>
            </p:blipFill>
            <p:spPr>
              <a:xfrm>
                <a:off x="0" y="0"/>
                <a:ext cx="2286000" cy="2286000"/>
              </a:xfrm>
              <a:prstGeom prst="ellipse">
                <a:avLst/>
              </a:prstGeom>
              <a:noFill/>
              <a:ln>
                <a:noFill/>
              </a:ln>
            </p:spPr>
          </p:pic>
        </p:grpSp>
        <p:sp>
          <p:nvSpPr>
            <p:cNvPr id="188" name="Google Shape;188;h6614320cb80fea18_0_98"/>
            <p:cNvSpPr txBox="1"/>
            <p:nvPr/>
          </p:nvSpPr>
          <p:spPr>
            <a:xfrm>
              <a:off x="381000" y="3048000"/>
              <a:ext cx="41910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200">
                  <a:solidFill>
                    <a:srgbClr val="1E293B"/>
                  </a:solidFill>
                  <a:latin typeface="Montserrat SemiBold"/>
                  <a:ea typeface="Montserrat SemiBold"/>
                  <a:cs typeface="Montserrat SemiBold"/>
                  <a:sym typeface="Montserrat SemiBold"/>
                </a:rPr>
                <a:t>Llevamos el MVP al terreno y realizamos sesiones de feedback</a:t>
              </a:r>
              <a:endParaRPr b="0" sz="2200">
                <a:solidFill>
                  <a:srgbClr val="1E293B"/>
                </a:solidFill>
                <a:latin typeface="Montserrat SemiBold"/>
                <a:ea typeface="Montserrat SemiBold"/>
                <a:cs typeface="Montserrat SemiBold"/>
                <a:sym typeface="Montserrat SemiBold"/>
              </a:endParaRPr>
            </a:p>
          </p:txBody>
        </p:sp>
      </p:grpSp>
      <p:sp>
        <p:nvSpPr>
          <p:cNvPr id="189" name="Google Shape;189;h6614320cb80fea18_0_98"/>
          <p:cNvSpPr/>
          <p:nvPr/>
        </p:nvSpPr>
        <p:spPr>
          <a:xfrm>
            <a:off x="6096000" y="2190750"/>
            <a:ext cx="5334000" cy="1572900"/>
          </a:xfrm>
          <a:prstGeom prst="roundRect">
            <a:avLst>
              <a:gd fmla="val 10256" name="adj"/>
            </a:avLst>
          </a:prstGeom>
          <a:solidFill>
            <a:srgbClr val="FEF2F2"/>
          </a:solidFill>
          <a:ln cap="flat" cmpd="sng" w="14300">
            <a:solidFill>
              <a:srgbClr val="FECA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h6614320cb80fea18_0_98"/>
          <p:cNvSpPr txBox="1"/>
          <p:nvPr/>
        </p:nvSpPr>
        <p:spPr>
          <a:xfrm>
            <a:off x="6096000" y="1666875"/>
            <a:ext cx="53340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6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Resultado:</a:t>
            </a:r>
            <a:endParaRPr b="0" sz="2600">
              <a:solidFill>
                <a:srgbClr val="0F172A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191" name="Google Shape;191;h6614320cb80fea18_0_98"/>
          <p:cNvSpPr/>
          <p:nvPr/>
        </p:nvSpPr>
        <p:spPr>
          <a:xfrm>
            <a:off x="6096000" y="2190750"/>
            <a:ext cx="95400" cy="1572900"/>
          </a:xfrm>
          <a:prstGeom prst="roundRect">
            <a:avLst>
              <a:gd fmla="val 50000" name="adj"/>
            </a:avLst>
          </a:prstGeom>
          <a:solidFill>
            <a:srgbClr val="EF444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h6614320cb80fea18_0_98"/>
          <p:cNvSpPr/>
          <p:nvPr/>
        </p:nvSpPr>
        <p:spPr>
          <a:xfrm>
            <a:off x="6502450" y="2587650"/>
            <a:ext cx="815700" cy="779100"/>
          </a:xfrm>
          <a:prstGeom prst="ellipse">
            <a:avLst/>
          </a:prstGeom>
          <a:solidFill>
            <a:srgbClr val="EF4444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h6614320cb80fea18_0_98"/>
          <p:cNvSpPr txBox="1"/>
          <p:nvPr/>
        </p:nvSpPr>
        <p:spPr>
          <a:xfrm>
            <a:off x="6486525" y="2581275"/>
            <a:ext cx="2667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DC2626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check_circle</a:t>
            </a:r>
            <a:endParaRPr/>
          </a:p>
        </p:txBody>
      </p:sp>
      <p:sp>
        <p:nvSpPr>
          <p:cNvPr id="194" name="Google Shape;194;h6614320cb80fea18_0_98"/>
          <p:cNvSpPr txBox="1"/>
          <p:nvPr/>
        </p:nvSpPr>
        <p:spPr>
          <a:xfrm>
            <a:off x="7408538" y="2477100"/>
            <a:ext cx="3615000" cy="10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991B1B"/>
                </a:solidFill>
                <a:latin typeface="Montserrat"/>
                <a:ea typeface="Montserrat"/>
                <a:cs typeface="Montserrat"/>
                <a:sym typeface="Montserrat"/>
              </a:rPr>
              <a:t>Confirmación de los P</a:t>
            </a:r>
            <a:r>
              <a:rPr b="1" lang="en-US" sz="2400">
                <a:solidFill>
                  <a:srgbClr val="991B1B"/>
                </a:solidFill>
                <a:latin typeface="Montserrat"/>
                <a:ea typeface="Montserrat"/>
                <a:cs typeface="Montserrat"/>
                <a:sym typeface="Montserrat"/>
              </a:rPr>
              <a:t>untos de Dolor Institucionales</a:t>
            </a:r>
            <a:endParaRPr sz="2000">
              <a:solidFill>
                <a:srgbClr val="47556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95" name="Google Shape;195;h6614320cb80fea18_0_98"/>
          <p:cNvSpPr/>
          <p:nvPr/>
        </p:nvSpPr>
        <p:spPr>
          <a:xfrm>
            <a:off x="6096000" y="4286250"/>
            <a:ext cx="136800" cy="1572900"/>
          </a:xfrm>
          <a:prstGeom prst="roundRect">
            <a:avLst>
              <a:gd fmla="val 50000" name="adj"/>
            </a:avLst>
          </a:prstGeom>
          <a:solidFill>
            <a:srgbClr val="0284C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h6614320cb80fea18_0_98"/>
          <p:cNvSpPr txBox="1"/>
          <p:nvPr/>
        </p:nvSpPr>
        <p:spPr>
          <a:xfrm>
            <a:off x="6486525" y="4676775"/>
            <a:ext cx="2667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284C7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ouch_app</a:t>
            </a:r>
            <a:endParaRPr/>
          </a:p>
        </p:txBody>
      </p:sp>
      <p:sp>
        <p:nvSpPr>
          <p:cNvPr id="197" name="Google Shape;197;h6614320cb80fea18_0_98"/>
          <p:cNvSpPr txBox="1"/>
          <p:nvPr/>
        </p:nvSpPr>
        <p:spPr>
          <a:xfrm>
            <a:off x="7408550" y="4429800"/>
            <a:ext cx="4095900" cy="12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075985"/>
                </a:solidFill>
                <a:latin typeface="Montserrat"/>
                <a:ea typeface="Montserrat"/>
                <a:cs typeface="Montserrat"/>
                <a:sym typeface="Montserrat"/>
              </a:rPr>
              <a:t>Refinamiento de </a:t>
            </a:r>
            <a:r>
              <a:rPr b="1" lang="en-US" sz="2400">
                <a:solidFill>
                  <a:srgbClr val="075985"/>
                </a:solidFill>
                <a:latin typeface="Montserrat"/>
                <a:ea typeface="Montserrat"/>
                <a:cs typeface="Montserrat"/>
                <a:sym typeface="Montserrat"/>
              </a:rPr>
              <a:t>UX / UI para minimizar la curva de aprendizaje</a:t>
            </a:r>
            <a:endParaRPr sz="2400">
              <a:solidFill>
                <a:srgbClr val="47556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98" name="Google Shape;198;h6614320cb80fea18_0_98"/>
          <p:cNvSpPr/>
          <p:nvPr/>
        </p:nvSpPr>
        <p:spPr>
          <a:xfrm>
            <a:off x="6502450" y="4683150"/>
            <a:ext cx="815700" cy="779100"/>
          </a:xfrm>
          <a:prstGeom prst="ellipse">
            <a:avLst/>
          </a:prstGeom>
          <a:solidFill>
            <a:srgbClr val="C7EAF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h31d256953cabf977_1_1"/>
          <p:cNvSpPr/>
          <p:nvPr/>
        </p:nvSpPr>
        <p:spPr>
          <a:xfrm>
            <a:off x="6026150" y="0"/>
            <a:ext cx="6165900" cy="6858000"/>
          </a:xfrm>
          <a:prstGeom prst="rect">
            <a:avLst/>
          </a:prstGeom>
          <a:solidFill>
            <a:srgbClr val="F5F5F5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4" name="Google Shape;204;h31d256953cabf977_1_1" title="Macbook-Air-web.sociounido.co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8025" y="2392200"/>
            <a:ext cx="5600159" cy="3221197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h31d256953cabf977_1_1" title="Macbook-Air-web.sociounido.com (1)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373794" y="2392200"/>
            <a:ext cx="5600159" cy="3221197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h31d256953cabf977_1_1"/>
          <p:cNvSpPr txBox="1"/>
          <p:nvPr/>
        </p:nvSpPr>
        <p:spPr>
          <a:xfrm>
            <a:off x="571500" y="571500"/>
            <a:ext cx="11601600" cy="6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>
                <a:solidFill>
                  <a:srgbClr val="F5F5F5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4 INTERFACES 				</a:t>
            </a:r>
            <a:r>
              <a:rPr lang="en-US" sz="48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INTEGRADAS</a:t>
            </a:r>
            <a:endParaRPr b="0" i="0" sz="4800" u="none" cap="none" strike="noStrike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207" name="Google Shape;207;h31d256953cabf977_1_1"/>
          <p:cNvSpPr txBox="1"/>
          <p:nvPr/>
        </p:nvSpPr>
        <p:spPr>
          <a:xfrm>
            <a:off x="132400" y="5973550"/>
            <a:ext cx="57714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>
                <a:solidFill>
                  <a:srgbClr val="F5F5F5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WEB ADMIN - MODO CLARO</a:t>
            </a:r>
            <a:endParaRPr b="0" i="0" sz="2500" u="none" cap="none" strike="noStrike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208" name="Google Shape;208;h31d256953cabf977_1_1"/>
          <p:cNvSpPr txBox="1"/>
          <p:nvPr/>
        </p:nvSpPr>
        <p:spPr>
          <a:xfrm>
            <a:off x="6288175" y="5973550"/>
            <a:ext cx="57714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WEB ADMIN - MODO OSCURO</a:t>
            </a:r>
            <a:endParaRPr b="0" i="0" sz="2500" u="none" cap="none" strike="noStrike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h105005292c05e9d_1_20"/>
          <p:cNvSpPr/>
          <p:nvPr/>
        </p:nvSpPr>
        <p:spPr>
          <a:xfrm>
            <a:off x="0" y="0"/>
            <a:ext cx="4065300" cy="68580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h105005292c05e9d_1_20"/>
          <p:cNvSpPr/>
          <p:nvPr/>
        </p:nvSpPr>
        <p:spPr>
          <a:xfrm>
            <a:off x="8130700" y="0"/>
            <a:ext cx="4065300" cy="6858000"/>
          </a:xfrm>
          <a:prstGeom prst="rect">
            <a:avLst/>
          </a:prstGeom>
          <a:solidFill>
            <a:srgbClr val="F5F5F5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h105005292c05e9d_1_20"/>
          <p:cNvSpPr/>
          <p:nvPr/>
        </p:nvSpPr>
        <p:spPr>
          <a:xfrm>
            <a:off x="4065400" y="0"/>
            <a:ext cx="4089000" cy="68580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6" name="Google Shape;216;h105005292c05e9d_1_20" title="iPhone-14-PRO-app.sociounido.co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85940" y="1457725"/>
            <a:ext cx="2155476" cy="439255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h105005292c05e9d_1_20" title="Google-Pixel-6-PRO-control.sociounido.co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89750" y="2288369"/>
            <a:ext cx="2020312" cy="43925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h105005292c05e9d_1_20" title="Google-Pixel-6-PRO-control.sociounido.co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123971" y="2237793"/>
            <a:ext cx="2085412" cy="453408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h105005292c05e9d_1_20" title="Google-Pixel-6-PRO-control.sociounido.com.png"/>
          <p:cNvPicPr preferRelativeResize="0"/>
          <p:nvPr/>
        </p:nvPicPr>
        <p:blipFill rotWithShape="1">
          <a:blip r:embed="rId4">
            <a:alphaModFix/>
          </a:blip>
          <a:srcRect b="97704" l="95661" r="0" t="0"/>
          <a:stretch/>
        </p:blipFill>
        <p:spPr>
          <a:xfrm>
            <a:off x="11118905" y="2237794"/>
            <a:ext cx="90478" cy="104089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h105005292c05e9d_1_20" title="Google-Pixel-6-PRO-control.sociounido.com.png"/>
          <p:cNvPicPr preferRelativeResize="0"/>
          <p:nvPr/>
        </p:nvPicPr>
        <p:blipFill rotWithShape="1">
          <a:blip r:embed="rId4">
            <a:alphaModFix/>
          </a:blip>
          <a:srcRect b="98016" l="0" r="0" t="0"/>
          <a:stretch/>
        </p:blipFill>
        <p:spPr>
          <a:xfrm>
            <a:off x="9123970" y="2244860"/>
            <a:ext cx="2085413" cy="89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h105005292c05e9d_1_20" title="Google-Pixel-6-PRO-control.sociounido.com.png"/>
          <p:cNvPicPr preferRelativeResize="0"/>
          <p:nvPr/>
        </p:nvPicPr>
        <p:blipFill rotWithShape="1">
          <a:blip r:embed="rId4">
            <a:alphaModFix/>
          </a:blip>
          <a:srcRect b="0" l="0" r="97495" t="2229"/>
          <a:stretch/>
        </p:blipFill>
        <p:spPr>
          <a:xfrm rot="10800000">
            <a:off x="11109999" y="2197424"/>
            <a:ext cx="88851" cy="4461776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h105005292c05e9d_1_20"/>
          <p:cNvSpPr txBox="1"/>
          <p:nvPr/>
        </p:nvSpPr>
        <p:spPr>
          <a:xfrm>
            <a:off x="1673225" y="551975"/>
            <a:ext cx="838200" cy="6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4</a:t>
            </a:r>
            <a:r>
              <a:rPr lang="en-US" sz="45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 </a:t>
            </a:r>
            <a:endParaRPr b="0" i="0" sz="4500" u="none" cap="none" strike="noStrike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223" name="Google Shape;223;h105005292c05e9d_1_20"/>
          <p:cNvSpPr txBox="1"/>
          <p:nvPr/>
        </p:nvSpPr>
        <p:spPr>
          <a:xfrm>
            <a:off x="4063350" y="586625"/>
            <a:ext cx="4065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rgbClr val="F2F2F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INTERFACES</a:t>
            </a:r>
            <a:endParaRPr b="0" i="0" sz="4000" u="none" cap="none" strike="noStrike">
              <a:solidFill>
                <a:srgbClr val="F2F2F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224" name="Google Shape;224;h105005292c05e9d_1_20"/>
          <p:cNvSpPr txBox="1"/>
          <p:nvPr/>
        </p:nvSpPr>
        <p:spPr>
          <a:xfrm>
            <a:off x="8130700" y="586625"/>
            <a:ext cx="4065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INTEGRADAS</a:t>
            </a:r>
            <a:endParaRPr b="0" i="0" sz="4000" u="none" cap="none" strike="noStrike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225" name="Google Shape;225;h105005292c05e9d_1_20"/>
          <p:cNvSpPr txBox="1"/>
          <p:nvPr/>
        </p:nvSpPr>
        <p:spPr>
          <a:xfrm>
            <a:off x="95525" y="1726350"/>
            <a:ext cx="39936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CONTROL DE ACCESO</a:t>
            </a:r>
            <a:endParaRPr b="0" i="0" sz="2500" u="none" cap="none" strike="noStrike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226" name="Google Shape;226;h105005292c05e9d_1_20"/>
          <p:cNvSpPr txBox="1"/>
          <p:nvPr/>
        </p:nvSpPr>
        <p:spPr>
          <a:xfrm>
            <a:off x="4019938" y="6167275"/>
            <a:ext cx="41799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F2F2F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APLICACIÓN DE SOCIOS</a:t>
            </a:r>
            <a:endParaRPr b="0" i="0" sz="2200" u="none" cap="none" strike="noStrike">
              <a:solidFill>
                <a:srgbClr val="F2F2F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227" name="Google Shape;227;h105005292c05e9d_1_20"/>
          <p:cNvSpPr txBox="1"/>
          <p:nvPr/>
        </p:nvSpPr>
        <p:spPr>
          <a:xfrm>
            <a:off x="8169875" y="1726350"/>
            <a:ext cx="39936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BOTIN (TELEGRAM)</a:t>
            </a:r>
            <a:endParaRPr b="0" i="0" sz="2500" u="none" cap="none" strike="noStrike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228" name="Google Shape;228;h105005292c05e9d_1_20" title="Screenshot_20260924-220234.png"/>
          <p:cNvPicPr preferRelativeResize="0"/>
          <p:nvPr/>
        </p:nvPicPr>
        <p:blipFill rotWithShape="1">
          <a:blip r:embed="rId5">
            <a:alphaModFix/>
          </a:blip>
          <a:srcRect b="1784" l="0" r="0" t="6742"/>
          <a:stretch/>
        </p:blipFill>
        <p:spPr>
          <a:xfrm>
            <a:off x="9162825" y="2335075"/>
            <a:ext cx="1966650" cy="4270828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h105005292c05e9d_1_20" title="Google-Pixel-6-PRO-control.sociounido.com.png"/>
          <p:cNvPicPr preferRelativeResize="0"/>
          <p:nvPr/>
        </p:nvPicPr>
        <p:blipFill rotWithShape="1">
          <a:blip r:embed="rId4">
            <a:alphaModFix/>
          </a:blip>
          <a:srcRect b="0" l="0" r="97495" t="0"/>
          <a:stretch/>
        </p:blipFill>
        <p:spPr>
          <a:xfrm>
            <a:off x="9124450" y="2237800"/>
            <a:ext cx="79524" cy="45138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34" name="Google Shape;234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456096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11"/>
          <p:cNvSpPr txBox="1"/>
          <p:nvPr/>
        </p:nvSpPr>
        <p:spPr>
          <a:xfrm>
            <a:off x="501450" y="427949"/>
            <a:ext cx="5238900" cy="525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812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4200" u="none" cap="none" strike="noStrik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 "A team is a business at the end of the day, and the organizations must continue evolving digitally to remain competitive, both on the field and off." </a:t>
            </a:r>
            <a:endParaRPr sz="800"/>
          </a:p>
        </p:txBody>
      </p:sp>
      <p:sp>
        <p:nvSpPr>
          <p:cNvPr id="236" name="Google Shape;236;p11"/>
          <p:cNvSpPr txBox="1"/>
          <p:nvPr/>
        </p:nvSpPr>
        <p:spPr>
          <a:xfrm>
            <a:off x="571500" y="6299350"/>
            <a:ext cx="61722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803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rgbClr val="11111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— DREW CRISP (LIVERPOOL FC)</a:t>
            </a:r>
            <a:endParaRPr/>
          </a:p>
        </p:txBody>
      </p:sp>
      <p:pic>
        <p:nvPicPr>
          <p:cNvPr id="237" name="Google Shape;237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63476" y="-131438"/>
            <a:ext cx="5528350" cy="6208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2" name="Google Shape;242;p12"/>
          <p:cNvGrpSpPr/>
          <p:nvPr/>
        </p:nvGrpSpPr>
        <p:grpSpPr>
          <a:xfrm>
            <a:off x="571500" y="1524000"/>
            <a:ext cx="11049000" cy="4476750"/>
            <a:chOff x="571500" y="1524000"/>
            <a:chExt cx="11049000" cy="4476750"/>
          </a:xfrm>
        </p:grpSpPr>
        <p:grpSp>
          <p:nvGrpSpPr>
            <p:cNvPr id="243" name="Google Shape;243;p12"/>
            <p:cNvGrpSpPr/>
            <p:nvPr/>
          </p:nvGrpSpPr>
          <p:grpSpPr>
            <a:xfrm>
              <a:off x="571500" y="1524000"/>
              <a:ext cx="5334000" cy="2095500"/>
              <a:chOff x="0" y="0"/>
              <a:chExt cx="5334000" cy="2095500"/>
            </a:xfrm>
          </p:grpSpPr>
          <p:sp>
            <p:nvSpPr>
              <p:cNvPr id="244" name="Google Shape;244;p12"/>
              <p:cNvSpPr/>
              <p:nvPr/>
            </p:nvSpPr>
            <p:spPr>
              <a:xfrm>
                <a:off x="0" y="0"/>
                <a:ext cx="5334000" cy="2095500"/>
              </a:xfrm>
              <a:prstGeom prst="roundRect">
                <a:avLst>
                  <a:gd fmla="val 7272" name="adj"/>
                </a:avLst>
              </a:prstGeom>
              <a:solidFill>
                <a:srgbClr val="181A20"/>
              </a:solidFill>
              <a:ln cap="flat" cmpd="sng" w="19050">
                <a:solidFill>
                  <a:srgbClr val="38BDF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5" name="Google Shape;245;p12"/>
              <p:cNvSpPr/>
              <p:nvPr/>
            </p:nvSpPr>
            <p:spPr>
              <a:xfrm>
                <a:off x="304800" y="304800"/>
                <a:ext cx="571500" cy="571500"/>
              </a:xfrm>
              <a:prstGeom prst="roundRect">
                <a:avLst>
                  <a:gd fmla="val 20000" name="adj"/>
                </a:avLst>
              </a:prstGeom>
              <a:solidFill>
                <a:srgbClr val="0F2B4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" name="Google Shape;246;p12"/>
              <p:cNvSpPr txBox="1"/>
              <p:nvPr/>
            </p:nvSpPr>
            <p:spPr>
              <a:xfrm>
                <a:off x="304800" y="351536"/>
                <a:ext cx="5715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3200">
                    <a:solidFill>
                      <a:srgbClr val="38BDF8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trending_up</a:t>
                </a:r>
                <a:endParaRPr sz="3200">
                  <a:solidFill>
                    <a:srgbClr val="38BDF8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  <p:sp>
            <p:nvSpPr>
              <p:cNvPr id="247" name="Google Shape;247;p12"/>
              <p:cNvSpPr txBox="1"/>
              <p:nvPr/>
            </p:nvSpPr>
            <p:spPr>
              <a:xfrm>
                <a:off x="4286250" y="266700"/>
                <a:ext cx="762000" cy="3810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-US" sz="2380">
                    <a:solidFill>
                      <a:srgbClr val="38BDF8"/>
                    </a:solidFill>
                    <a:latin typeface="Montserrat ExtraBold"/>
                    <a:ea typeface="Montserrat ExtraBold"/>
                    <a:cs typeface="Montserrat ExtraBold"/>
                    <a:sym typeface="Montserrat ExtraBold"/>
                  </a:rPr>
                  <a:t>01</a:t>
                </a:r>
                <a:endParaRPr b="0" i="0" sz="2380">
                  <a:solidFill>
                    <a:srgbClr val="38BDF8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endParaRPr>
              </a:p>
            </p:txBody>
          </p:sp>
          <p:sp>
            <p:nvSpPr>
              <p:cNvPr id="248" name="Google Shape;248;p12"/>
              <p:cNvSpPr txBox="1"/>
              <p:nvPr/>
            </p:nvSpPr>
            <p:spPr>
              <a:xfrm>
                <a:off x="304800" y="1066800"/>
                <a:ext cx="47244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2800">
                    <a:solidFill>
                      <a:srgbClr val="FFFFFF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Motor predictivo de morosidad</a:t>
                </a:r>
                <a:endParaRPr b="1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249" name="Google Shape;249;p12"/>
            <p:cNvGrpSpPr/>
            <p:nvPr/>
          </p:nvGrpSpPr>
          <p:grpSpPr>
            <a:xfrm>
              <a:off x="6286500" y="1524000"/>
              <a:ext cx="5334000" cy="2095500"/>
              <a:chOff x="0" y="0"/>
              <a:chExt cx="5334000" cy="2095500"/>
            </a:xfrm>
          </p:grpSpPr>
          <p:sp>
            <p:nvSpPr>
              <p:cNvPr id="250" name="Google Shape;250;p12"/>
              <p:cNvSpPr/>
              <p:nvPr/>
            </p:nvSpPr>
            <p:spPr>
              <a:xfrm>
                <a:off x="0" y="0"/>
                <a:ext cx="5334000" cy="2095500"/>
              </a:xfrm>
              <a:prstGeom prst="roundRect">
                <a:avLst>
                  <a:gd fmla="val 7272" name="adj"/>
                </a:avLst>
              </a:prstGeom>
              <a:solidFill>
                <a:srgbClr val="181A20"/>
              </a:solidFill>
              <a:ln cap="flat" cmpd="sng" w="19050">
                <a:solidFill>
                  <a:srgbClr val="818CF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" name="Google Shape;251;p12"/>
              <p:cNvSpPr/>
              <p:nvPr/>
            </p:nvSpPr>
            <p:spPr>
              <a:xfrm>
                <a:off x="304800" y="304800"/>
                <a:ext cx="571500" cy="571500"/>
              </a:xfrm>
              <a:prstGeom prst="roundRect">
                <a:avLst>
                  <a:gd fmla="val 20000" name="adj"/>
                </a:avLst>
              </a:prstGeom>
              <a:solidFill>
                <a:srgbClr val="20245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2" name="Google Shape;252;p12"/>
              <p:cNvSpPr txBox="1"/>
              <p:nvPr/>
            </p:nvSpPr>
            <p:spPr>
              <a:xfrm>
                <a:off x="304800" y="351536"/>
                <a:ext cx="5715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3200">
                    <a:solidFill>
                      <a:srgbClr val="818CF8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account_balance</a:t>
                </a:r>
                <a:endParaRPr sz="3200">
                  <a:solidFill>
                    <a:srgbClr val="818CF8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  <p:sp>
            <p:nvSpPr>
              <p:cNvPr id="253" name="Google Shape;253;p12"/>
              <p:cNvSpPr txBox="1"/>
              <p:nvPr/>
            </p:nvSpPr>
            <p:spPr>
              <a:xfrm>
                <a:off x="4286250" y="266700"/>
                <a:ext cx="762000" cy="3810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-US" sz="2380">
                    <a:solidFill>
                      <a:srgbClr val="818CF8"/>
                    </a:solidFill>
                    <a:latin typeface="Montserrat ExtraBold"/>
                    <a:ea typeface="Montserrat ExtraBold"/>
                    <a:cs typeface="Montserrat ExtraBold"/>
                    <a:sym typeface="Montserrat ExtraBold"/>
                  </a:rPr>
                  <a:t>02</a:t>
                </a:r>
                <a:endParaRPr b="0" i="0" sz="2380">
                  <a:solidFill>
                    <a:srgbClr val="818CF8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endParaRPr>
              </a:p>
            </p:txBody>
          </p:sp>
          <p:sp>
            <p:nvSpPr>
              <p:cNvPr id="254" name="Google Shape;254;p12"/>
              <p:cNvSpPr txBox="1"/>
              <p:nvPr/>
            </p:nvSpPr>
            <p:spPr>
              <a:xfrm>
                <a:off x="304800" y="1066800"/>
                <a:ext cx="47244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2800">
                    <a:solidFill>
                      <a:srgbClr val="FFFFFF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Optimización de activos institucionales</a:t>
                </a:r>
                <a:endParaRPr b="1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255" name="Google Shape;255;p12"/>
            <p:cNvGrpSpPr/>
            <p:nvPr/>
          </p:nvGrpSpPr>
          <p:grpSpPr>
            <a:xfrm>
              <a:off x="571500" y="3905250"/>
              <a:ext cx="5334000" cy="2095500"/>
              <a:chOff x="0" y="0"/>
              <a:chExt cx="5334000" cy="2095500"/>
            </a:xfrm>
          </p:grpSpPr>
          <p:sp>
            <p:nvSpPr>
              <p:cNvPr id="256" name="Google Shape;256;p12"/>
              <p:cNvSpPr/>
              <p:nvPr/>
            </p:nvSpPr>
            <p:spPr>
              <a:xfrm>
                <a:off x="0" y="0"/>
                <a:ext cx="5334000" cy="2095500"/>
              </a:xfrm>
              <a:prstGeom prst="roundRect">
                <a:avLst>
                  <a:gd fmla="val 7272" name="adj"/>
                </a:avLst>
              </a:prstGeom>
              <a:solidFill>
                <a:srgbClr val="181A20"/>
              </a:solidFill>
              <a:ln cap="flat" cmpd="sng" w="19050">
                <a:solidFill>
                  <a:srgbClr val="F43F5E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7" name="Google Shape;257;p12"/>
              <p:cNvSpPr/>
              <p:nvPr/>
            </p:nvSpPr>
            <p:spPr>
              <a:xfrm>
                <a:off x="304800" y="304800"/>
                <a:ext cx="571500" cy="571500"/>
              </a:xfrm>
              <a:prstGeom prst="roundRect">
                <a:avLst>
                  <a:gd fmla="val 20000" name="adj"/>
                </a:avLst>
              </a:prstGeom>
              <a:solidFill>
                <a:srgbClr val="3D172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8" name="Google Shape;258;p12"/>
              <p:cNvSpPr txBox="1"/>
              <p:nvPr/>
            </p:nvSpPr>
            <p:spPr>
              <a:xfrm>
                <a:off x="304800" y="351536"/>
                <a:ext cx="5715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3200">
                    <a:solidFill>
                      <a:srgbClr val="F43F5E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psychology</a:t>
                </a:r>
                <a:endParaRPr sz="3200">
                  <a:solidFill>
                    <a:srgbClr val="F43F5E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  <p:sp>
            <p:nvSpPr>
              <p:cNvPr id="259" name="Google Shape;259;p12"/>
              <p:cNvSpPr txBox="1"/>
              <p:nvPr/>
            </p:nvSpPr>
            <p:spPr>
              <a:xfrm>
                <a:off x="4286250" y="266700"/>
                <a:ext cx="762000" cy="3810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-US" sz="2380">
                    <a:solidFill>
                      <a:srgbClr val="F43F5E"/>
                    </a:solidFill>
                    <a:latin typeface="Montserrat ExtraBold"/>
                    <a:ea typeface="Montserrat ExtraBold"/>
                    <a:cs typeface="Montserrat ExtraBold"/>
                    <a:sym typeface="Montserrat ExtraBold"/>
                  </a:rPr>
                  <a:t>03</a:t>
                </a:r>
                <a:endParaRPr b="0" i="0" sz="2380">
                  <a:solidFill>
                    <a:srgbClr val="F43F5E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endParaRPr>
              </a:p>
            </p:txBody>
          </p:sp>
          <p:sp>
            <p:nvSpPr>
              <p:cNvPr id="260" name="Google Shape;260;p12"/>
              <p:cNvSpPr txBox="1"/>
              <p:nvPr/>
            </p:nvSpPr>
            <p:spPr>
              <a:xfrm>
                <a:off x="304800" y="1066800"/>
                <a:ext cx="47244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2800">
                    <a:solidFill>
                      <a:srgbClr val="FFFFFF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Interacción cognitiva sin fricción</a:t>
                </a:r>
                <a:endParaRPr b="1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261" name="Google Shape;261;p12"/>
            <p:cNvGrpSpPr/>
            <p:nvPr/>
          </p:nvGrpSpPr>
          <p:grpSpPr>
            <a:xfrm>
              <a:off x="6286500" y="3905250"/>
              <a:ext cx="5334000" cy="2095500"/>
              <a:chOff x="0" y="0"/>
              <a:chExt cx="5334000" cy="2095500"/>
            </a:xfrm>
          </p:grpSpPr>
          <p:sp>
            <p:nvSpPr>
              <p:cNvPr id="262" name="Google Shape;262;p12"/>
              <p:cNvSpPr/>
              <p:nvPr/>
            </p:nvSpPr>
            <p:spPr>
              <a:xfrm>
                <a:off x="0" y="0"/>
                <a:ext cx="5334000" cy="2095500"/>
              </a:xfrm>
              <a:prstGeom prst="roundRect">
                <a:avLst>
                  <a:gd fmla="val 7272" name="adj"/>
                </a:avLst>
              </a:prstGeom>
              <a:solidFill>
                <a:srgbClr val="181A20"/>
              </a:solidFill>
              <a:ln cap="flat" cmpd="sng" w="19050">
                <a:solidFill>
                  <a:srgbClr val="34D399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3" name="Google Shape;263;p12"/>
              <p:cNvSpPr/>
              <p:nvPr/>
            </p:nvSpPr>
            <p:spPr>
              <a:xfrm>
                <a:off x="304800" y="304800"/>
                <a:ext cx="571500" cy="571500"/>
              </a:xfrm>
              <a:prstGeom prst="roundRect">
                <a:avLst>
                  <a:gd fmla="val 20000" name="adj"/>
                </a:avLst>
              </a:prstGeom>
              <a:solidFill>
                <a:srgbClr val="11332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4" name="Google Shape;264;p12"/>
              <p:cNvSpPr txBox="1"/>
              <p:nvPr/>
            </p:nvSpPr>
            <p:spPr>
              <a:xfrm>
                <a:off x="304800" y="351536"/>
                <a:ext cx="5715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3200">
                    <a:solidFill>
                      <a:srgbClr val="34D399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phonelink_lock</a:t>
                </a:r>
                <a:endParaRPr sz="3200">
                  <a:solidFill>
                    <a:srgbClr val="34D399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  <p:sp>
            <p:nvSpPr>
              <p:cNvPr id="265" name="Google Shape;265;p12"/>
              <p:cNvSpPr txBox="1"/>
              <p:nvPr/>
            </p:nvSpPr>
            <p:spPr>
              <a:xfrm>
                <a:off x="4286250" y="266700"/>
                <a:ext cx="762000" cy="3810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-US" sz="2380">
                    <a:solidFill>
                      <a:srgbClr val="34D399"/>
                    </a:solidFill>
                    <a:latin typeface="Montserrat ExtraBold"/>
                    <a:ea typeface="Montserrat ExtraBold"/>
                    <a:cs typeface="Montserrat ExtraBold"/>
                    <a:sym typeface="Montserrat ExtraBold"/>
                  </a:rPr>
                  <a:t>04</a:t>
                </a:r>
                <a:endParaRPr b="0" i="0" sz="2380">
                  <a:solidFill>
                    <a:srgbClr val="34D399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endParaRPr>
              </a:p>
            </p:txBody>
          </p:sp>
          <p:sp>
            <p:nvSpPr>
              <p:cNvPr id="266" name="Google Shape;266;p12"/>
              <p:cNvSpPr txBox="1"/>
              <p:nvPr/>
            </p:nvSpPr>
            <p:spPr>
              <a:xfrm>
                <a:off x="304800" y="1066800"/>
                <a:ext cx="47244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2800">
                    <a:solidFill>
                      <a:srgbClr val="FFFFFF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Acceso inteligente TOTP 100% offline</a:t>
                </a:r>
                <a:endParaRPr b="1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</p:grpSp>
      <p:sp>
        <p:nvSpPr>
          <p:cNvPr id="267" name="Google Shape;267;p12"/>
          <p:cNvSpPr txBox="1"/>
          <p:nvPr/>
        </p:nvSpPr>
        <p:spPr>
          <a:xfrm>
            <a:off x="571500" y="476250"/>
            <a:ext cx="11049000" cy="646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42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Ejes de innovación y disrupción</a:t>
            </a:r>
            <a:endParaRPr b="0" sz="420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72" name="Google Shape;272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05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13"/>
          <p:cNvSpPr txBox="1"/>
          <p:nvPr/>
        </p:nvSpPr>
        <p:spPr>
          <a:xfrm>
            <a:off x="492842" y="571499"/>
            <a:ext cx="11601450" cy="5656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800" u="none" cap="none" strike="noStrike">
                <a:solidFill>
                  <a:srgbClr val="11111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Arquitectura de microservicios</a:t>
            </a:r>
            <a:endParaRPr b="0" i="0" sz="4800" u="none" cap="none" strike="noStrike">
              <a:solidFill>
                <a:srgbClr val="11111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274" name="Google Shape;274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98427" y="1491240"/>
            <a:ext cx="11795146" cy="47298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14"/>
          <p:cNvSpPr txBox="1"/>
          <p:nvPr/>
        </p:nvSpPr>
        <p:spPr>
          <a:xfrm>
            <a:off x="571500" y="476250"/>
            <a:ext cx="11049000" cy="646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2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Atributos de calidad y resiliencia</a:t>
            </a:r>
            <a:endParaRPr b="0" i="0" sz="420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280" name="Google Shape;280;p14"/>
          <p:cNvGrpSpPr/>
          <p:nvPr/>
        </p:nvGrpSpPr>
        <p:grpSpPr>
          <a:xfrm>
            <a:off x="571500" y="1524000"/>
            <a:ext cx="5334000" cy="2095500"/>
            <a:chOff x="0" y="0"/>
            <a:chExt cx="5334000" cy="2095500"/>
          </a:xfrm>
        </p:grpSpPr>
        <p:sp>
          <p:nvSpPr>
            <p:cNvPr id="281" name="Google Shape;281;p14"/>
            <p:cNvSpPr/>
            <p:nvPr/>
          </p:nvSpPr>
          <p:spPr>
            <a:xfrm>
              <a:off x="0" y="0"/>
              <a:ext cx="5334000" cy="2095500"/>
            </a:xfrm>
            <a:prstGeom prst="roundRect">
              <a:avLst>
                <a:gd fmla="val 7272" name="adj"/>
              </a:avLst>
            </a:prstGeom>
            <a:solidFill>
              <a:srgbClr val="181A20"/>
            </a:solidFill>
            <a:ln cap="flat" cmpd="sng" w="19050">
              <a:solidFill>
                <a:srgbClr val="F59E0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" name="Google Shape;282;p14"/>
            <p:cNvSpPr/>
            <p:nvPr/>
          </p:nvSpPr>
          <p:spPr>
            <a:xfrm>
              <a:off x="304800" y="304800"/>
              <a:ext cx="571500" cy="571500"/>
            </a:xfrm>
            <a:prstGeom prst="roundRect">
              <a:avLst>
                <a:gd fmla="val 20000" name="adj"/>
              </a:avLst>
            </a:prstGeom>
            <a:solidFill>
              <a:srgbClr val="311F05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" name="Google Shape;283;p14"/>
            <p:cNvSpPr txBox="1"/>
            <p:nvPr/>
          </p:nvSpPr>
          <p:spPr>
            <a:xfrm>
              <a:off x="304800" y="398272"/>
              <a:ext cx="5715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 u="none" strike="noStrike">
                  <a:solidFill>
                    <a:srgbClr val="F59E0B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security</a:t>
              </a:r>
              <a:endParaRPr b="0" i="0" sz="3200" u="none" strike="noStrike">
                <a:solidFill>
                  <a:srgbClr val="F59E0B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284" name="Google Shape;284;p14"/>
            <p:cNvSpPr txBox="1"/>
            <p:nvPr/>
          </p:nvSpPr>
          <p:spPr>
            <a:xfrm>
              <a:off x="304800" y="1066800"/>
              <a:ext cx="4724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Seguridad (Zero-Trust)</a:t>
              </a:r>
              <a:endParaRPr b="1" sz="28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285" name="Google Shape;285;p14"/>
          <p:cNvGrpSpPr/>
          <p:nvPr/>
        </p:nvGrpSpPr>
        <p:grpSpPr>
          <a:xfrm>
            <a:off x="6286500" y="1524000"/>
            <a:ext cx="5334000" cy="2095500"/>
            <a:chOff x="0" y="0"/>
            <a:chExt cx="5334000" cy="2095500"/>
          </a:xfrm>
        </p:grpSpPr>
        <p:sp>
          <p:nvSpPr>
            <p:cNvPr id="286" name="Google Shape;286;p14"/>
            <p:cNvSpPr/>
            <p:nvPr/>
          </p:nvSpPr>
          <p:spPr>
            <a:xfrm>
              <a:off x="0" y="0"/>
              <a:ext cx="5334000" cy="2095500"/>
            </a:xfrm>
            <a:prstGeom prst="roundRect">
              <a:avLst>
                <a:gd fmla="val 7272" name="adj"/>
              </a:avLst>
            </a:prstGeom>
            <a:solidFill>
              <a:srgbClr val="181A20"/>
            </a:solidFill>
            <a:ln cap="flat" cmpd="sng" w="19050">
              <a:solidFill>
                <a:srgbClr val="06B6D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" name="Google Shape;287;p14"/>
            <p:cNvSpPr/>
            <p:nvPr/>
          </p:nvSpPr>
          <p:spPr>
            <a:xfrm>
              <a:off x="304800" y="304800"/>
              <a:ext cx="571500" cy="571500"/>
            </a:xfrm>
            <a:prstGeom prst="roundRect">
              <a:avLst>
                <a:gd fmla="val 20000" name="adj"/>
              </a:avLst>
            </a:prstGeom>
            <a:solidFill>
              <a:srgbClr val="08334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" name="Google Shape;288;p14"/>
            <p:cNvSpPr txBox="1"/>
            <p:nvPr/>
          </p:nvSpPr>
          <p:spPr>
            <a:xfrm>
              <a:off x="304800" y="398272"/>
              <a:ext cx="5715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 u="none" strike="noStrike">
                  <a:solidFill>
                    <a:srgbClr val="06B6D4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dns</a:t>
              </a:r>
              <a:endParaRPr b="0" i="0" sz="3200" u="none" strike="noStrike">
                <a:solidFill>
                  <a:srgbClr val="06B6D4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289" name="Google Shape;289;p14"/>
            <p:cNvSpPr txBox="1"/>
            <p:nvPr/>
          </p:nvSpPr>
          <p:spPr>
            <a:xfrm>
              <a:off x="304800" y="1066800"/>
              <a:ext cx="4724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Escalabilidad</a:t>
              </a:r>
              <a:endParaRPr b="1" sz="28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290" name="Google Shape;290;p14"/>
          <p:cNvGrpSpPr/>
          <p:nvPr/>
        </p:nvGrpSpPr>
        <p:grpSpPr>
          <a:xfrm>
            <a:off x="571500" y="3905250"/>
            <a:ext cx="5334000" cy="2095500"/>
            <a:chOff x="0" y="0"/>
            <a:chExt cx="5334000" cy="2095500"/>
          </a:xfrm>
        </p:grpSpPr>
        <p:sp>
          <p:nvSpPr>
            <p:cNvPr id="291" name="Google Shape;291;p14"/>
            <p:cNvSpPr/>
            <p:nvPr/>
          </p:nvSpPr>
          <p:spPr>
            <a:xfrm>
              <a:off x="0" y="0"/>
              <a:ext cx="5334000" cy="2095500"/>
            </a:xfrm>
            <a:prstGeom prst="roundRect">
              <a:avLst>
                <a:gd fmla="val 7272" name="adj"/>
              </a:avLst>
            </a:prstGeom>
            <a:solidFill>
              <a:srgbClr val="181A20"/>
            </a:solidFill>
            <a:ln cap="flat" cmpd="sng" w="19050">
              <a:solidFill>
                <a:srgbClr val="A855F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2" name="Google Shape;292;p14"/>
            <p:cNvSpPr/>
            <p:nvPr/>
          </p:nvSpPr>
          <p:spPr>
            <a:xfrm>
              <a:off x="304800" y="304800"/>
              <a:ext cx="571500" cy="571500"/>
            </a:xfrm>
            <a:prstGeom prst="roundRect">
              <a:avLst>
                <a:gd fmla="val 20000" name="adj"/>
              </a:avLst>
            </a:prstGeom>
            <a:solidFill>
              <a:srgbClr val="3B076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3" name="Google Shape;293;p14"/>
            <p:cNvSpPr txBox="1"/>
            <p:nvPr/>
          </p:nvSpPr>
          <p:spPr>
            <a:xfrm>
              <a:off x="304800" y="398272"/>
              <a:ext cx="5715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 u="none" strike="noStrike">
                  <a:solidFill>
                    <a:srgbClr val="A855F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speed</a:t>
              </a:r>
              <a:endParaRPr b="0" i="0" sz="3200" u="none" strike="noStrike">
                <a:solidFill>
                  <a:srgbClr val="A855F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294" name="Google Shape;294;p14"/>
            <p:cNvSpPr txBox="1"/>
            <p:nvPr/>
          </p:nvSpPr>
          <p:spPr>
            <a:xfrm>
              <a:off x="304800" y="1066800"/>
              <a:ext cx="4724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Rendimiento &amp; UX</a:t>
              </a:r>
              <a:endParaRPr b="1" sz="28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295" name="Google Shape;295;p14"/>
          <p:cNvGrpSpPr/>
          <p:nvPr/>
        </p:nvGrpSpPr>
        <p:grpSpPr>
          <a:xfrm>
            <a:off x="6286500" y="3905250"/>
            <a:ext cx="5334000" cy="2095500"/>
            <a:chOff x="0" y="0"/>
            <a:chExt cx="5334000" cy="2095500"/>
          </a:xfrm>
        </p:grpSpPr>
        <p:sp>
          <p:nvSpPr>
            <p:cNvPr id="296" name="Google Shape;296;p14"/>
            <p:cNvSpPr/>
            <p:nvPr/>
          </p:nvSpPr>
          <p:spPr>
            <a:xfrm>
              <a:off x="0" y="0"/>
              <a:ext cx="5334000" cy="2095500"/>
            </a:xfrm>
            <a:prstGeom prst="roundRect">
              <a:avLst>
                <a:gd fmla="val 7272" name="adj"/>
              </a:avLst>
            </a:prstGeom>
            <a:solidFill>
              <a:srgbClr val="181A20"/>
            </a:solidFill>
            <a:ln cap="flat" cmpd="sng" w="19050">
              <a:solidFill>
                <a:srgbClr val="F9731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7" name="Google Shape;297;p14"/>
            <p:cNvSpPr/>
            <p:nvPr/>
          </p:nvSpPr>
          <p:spPr>
            <a:xfrm>
              <a:off x="304800" y="304800"/>
              <a:ext cx="571500" cy="571500"/>
            </a:xfrm>
            <a:prstGeom prst="roundRect">
              <a:avLst>
                <a:gd fmla="val 20000" name="adj"/>
              </a:avLst>
            </a:prstGeom>
            <a:solidFill>
              <a:srgbClr val="43140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8" name="Google Shape;298;p14"/>
            <p:cNvSpPr txBox="1"/>
            <p:nvPr/>
          </p:nvSpPr>
          <p:spPr>
            <a:xfrm>
              <a:off x="304800" y="398272"/>
              <a:ext cx="5715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 u="none" strike="noStrike">
                  <a:solidFill>
                    <a:srgbClr val="F97316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hub</a:t>
              </a:r>
              <a:endParaRPr b="0" i="0" sz="3200" u="none" strike="noStrike">
                <a:solidFill>
                  <a:srgbClr val="F97316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299" name="Google Shape;299;p14"/>
            <p:cNvSpPr txBox="1"/>
            <p:nvPr/>
          </p:nvSpPr>
          <p:spPr>
            <a:xfrm>
              <a:off x="304800" y="1066800"/>
              <a:ext cx="4724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Interoperabilidad</a:t>
              </a:r>
              <a:endParaRPr b="1" sz="28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h6614320cb80fea18_0_2092"/>
          <p:cNvSpPr txBox="1"/>
          <p:nvPr/>
        </p:nvSpPr>
        <p:spPr>
          <a:xfrm>
            <a:off x="571500" y="476250"/>
            <a:ext cx="11049000" cy="1143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200">
                <a:solidFill>
                  <a:srgbClr val="11111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El lienzo Instituciona</a:t>
            </a:r>
            <a:r>
              <a:rPr lang="en-US" sz="4200">
                <a:solidFill>
                  <a:srgbClr val="11111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l</a:t>
            </a:r>
            <a:endParaRPr i="0" sz="1800">
              <a:solidFill>
                <a:srgbClr val="11111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305" name="Google Shape;305;h6614320cb80fea18_0_2092"/>
          <p:cNvGrpSpPr/>
          <p:nvPr/>
        </p:nvGrpSpPr>
        <p:grpSpPr>
          <a:xfrm>
            <a:off x="571500" y="1669894"/>
            <a:ext cx="3429000" cy="4649915"/>
            <a:chOff x="571500" y="2000250"/>
            <a:chExt cx="3429000" cy="4191000"/>
          </a:xfrm>
        </p:grpSpPr>
        <p:sp>
          <p:nvSpPr>
            <p:cNvPr id="306" name="Google Shape;306;h6614320cb80fea18_0_2092"/>
            <p:cNvSpPr/>
            <p:nvPr/>
          </p:nvSpPr>
          <p:spPr>
            <a:xfrm>
              <a:off x="571500" y="2000250"/>
              <a:ext cx="3429000" cy="4191000"/>
            </a:xfrm>
            <a:prstGeom prst="roundRect">
              <a:avLst>
                <a:gd fmla="val 4444" name="adj"/>
              </a:avLst>
            </a:prstGeom>
            <a:solidFill>
              <a:srgbClr val="F4F4F5"/>
            </a:solidFill>
            <a:ln cap="flat" cmpd="sng" w="19050">
              <a:solidFill>
                <a:srgbClr val="E4E4E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7" name="Google Shape;307;h6614320cb80fea18_0_2092"/>
            <p:cNvSpPr/>
            <p:nvPr/>
          </p:nvSpPr>
          <p:spPr>
            <a:xfrm>
              <a:off x="876300" y="2305050"/>
              <a:ext cx="609600" cy="609600"/>
            </a:xfrm>
            <a:prstGeom prst="roundRect">
              <a:avLst>
                <a:gd fmla="val 18750" name="adj"/>
              </a:avLst>
            </a:prstGeom>
            <a:solidFill>
              <a:srgbClr val="E4E4E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8" name="Google Shape;308;h6614320cb80fea18_0_2092"/>
            <p:cNvSpPr txBox="1"/>
            <p:nvPr/>
          </p:nvSpPr>
          <p:spPr>
            <a:xfrm>
              <a:off x="876300" y="2398522"/>
              <a:ext cx="609600" cy="609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>
                  <a:solidFill>
                    <a:srgbClr val="18181B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auto_awesome</a:t>
              </a:r>
              <a:endParaRPr b="0" i="0" sz="3200">
                <a:solidFill>
                  <a:srgbClr val="18181B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09" name="Google Shape;309;h6614320cb80fea18_0_2092"/>
            <p:cNvSpPr txBox="1"/>
            <p:nvPr/>
          </p:nvSpPr>
          <p:spPr>
            <a:xfrm>
              <a:off x="876300" y="3219450"/>
              <a:ext cx="2819400" cy="2667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3000">
                  <a:solidFill>
                    <a:srgbClr val="11111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Teoría de la Gestalt</a:t>
              </a:r>
              <a:endParaRPr b="1" i="0" sz="3000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-US" sz="2200">
                  <a:solidFill>
                    <a:srgbClr val="52525B"/>
                  </a:solidFill>
                  <a:latin typeface="Montserrat"/>
                  <a:ea typeface="Montserrat"/>
                  <a:cs typeface="Montserrat"/>
                  <a:sym typeface="Montserrat"/>
                </a:rPr>
                <a:t>E</a:t>
              </a:r>
              <a:r>
                <a:rPr i="0" lang="en-US" sz="2200">
                  <a:solidFill>
                    <a:srgbClr val="52525B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structura ordenada, intuitiva y jerarquizada.</a:t>
              </a:r>
              <a:endParaRPr b="1" i="0" sz="2200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310" name="Google Shape;310;h6614320cb80fea18_0_2092"/>
          <p:cNvGrpSpPr/>
          <p:nvPr/>
        </p:nvGrpSpPr>
        <p:grpSpPr>
          <a:xfrm>
            <a:off x="4381500" y="1669894"/>
            <a:ext cx="3429000" cy="4649915"/>
            <a:chOff x="4381500" y="2000250"/>
            <a:chExt cx="3429000" cy="4191000"/>
          </a:xfrm>
        </p:grpSpPr>
        <p:sp>
          <p:nvSpPr>
            <p:cNvPr id="311" name="Google Shape;311;h6614320cb80fea18_0_2092"/>
            <p:cNvSpPr/>
            <p:nvPr/>
          </p:nvSpPr>
          <p:spPr>
            <a:xfrm>
              <a:off x="4381500" y="2000250"/>
              <a:ext cx="3429000" cy="4191000"/>
            </a:xfrm>
            <a:prstGeom prst="roundRect">
              <a:avLst>
                <a:gd fmla="val 4444" name="adj"/>
              </a:avLst>
            </a:prstGeom>
            <a:solidFill>
              <a:srgbClr val="F4F4F5"/>
            </a:solidFill>
            <a:ln cap="flat" cmpd="sng" w="19050">
              <a:solidFill>
                <a:srgbClr val="E4E4E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2" name="Google Shape;312;h6614320cb80fea18_0_2092"/>
            <p:cNvSpPr/>
            <p:nvPr/>
          </p:nvSpPr>
          <p:spPr>
            <a:xfrm>
              <a:off x="4686300" y="2305050"/>
              <a:ext cx="609600" cy="609600"/>
            </a:xfrm>
            <a:prstGeom prst="roundRect">
              <a:avLst>
                <a:gd fmla="val 18750" name="adj"/>
              </a:avLst>
            </a:prstGeom>
            <a:solidFill>
              <a:srgbClr val="E4E4E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3" name="Google Shape;313;h6614320cb80fea18_0_2092"/>
            <p:cNvSpPr txBox="1"/>
            <p:nvPr/>
          </p:nvSpPr>
          <p:spPr>
            <a:xfrm>
              <a:off x="4686300" y="2398522"/>
              <a:ext cx="609600" cy="609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>
                  <a:solidFill>
                    <a:srgbClr val="18181B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palette</a:t>
              </a:r>
              <a:endParaRPr b="0" i="0" sz="3200">
                <a:solidFill>
                  <a:srgbClr val="18181B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14" name="Google Shape;314;h6614320cb80fea18_0_2092"/>
            <p:cNvSpPr txBox="1"/>
            <p:nvPr/>
          </p:nvSpPr>
          <p:spPr>
            <a:xfrm>
              <a:off x="4572000" y="3219450"/>
              <a:ext cx="3069900" cy="2667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3000">
                  <a:solidFill>
                    <a:srgbClr val="11111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Base Acromática</a:t>
              </a:r>
              <a:endParaRPr b="1" i="0" sz="3000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-US" sz="2200">
                  <a:solidFill>
                    <a:srgbClr val="52525B"/>
                  </a:solidFill>
                  <a:latin typeface="Montserrat"/>
                  <a:ea typeface="Montserrat"/>
                  <a:cs typeface="Montserrat"/>
                  <a:sym typeface="Montserrat"/>
                </a:rPr>
                <a:t>E</a:t>
              </a:r>
              <a:r>
                <a:rPr i="0" lang="en-US" sz="2200">
                  <a:solidFill>
                    <a:srgbClr val="52525B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squema neutro </a:t>
              </a:r>
              <a:r>
                <a:rPr lang="en-US" sz="2200">
                  <a:solidFill>
                    <a:srgbClr val="52525B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sin </a:t>
              </a:r>
              <a:r>
                <a:rPr i="0" lang="en-US" sz="2200">
                  <a:solidFill>
                    <a:srgbClr val="52525B"/>
                  </a:solidFill>
                  <a:latin typeface="Montserrat"/>
                  <a:ea typeface="Montserrat"/>
                  <a:cs typeface="Montserrat"/>
                  <a:sym typeface="Montserrat"/>
                </a:rPr>
                <a:t>distracciones</a:t>
              </a:r>
              <a:r>
                <a:rPr lang="en-US" sz="2200">
                  <a:solidFill>
                    <a:srgbClr val="52525B"/>
                  </a:solidFill>
                  <a:latin typeface="Montserrat"/>
                  <a:ea typeface="Montserrat"/>
                  <a:cs typeface="Montserrat"/>
                  <a:sym typeface="Montserrat"/>
                </a:rPr>
                <a:t>, </a:t>
              </a:r>
              <a:r>
                <a:rPr lang="en-US" sz="2200">
                  <a:solidFill>
                    <a:srgbClr val="52525B"/>
                  </a:solidFill>
                  <a:latin typeface="Montserrat"/>
                  <a:ea typeface="Montserrat"/>
                  <a:cs typeface="Montserrat"/>
                  <a:sym typeface="Montserrat"/>
                </a:rPr>
                <a:t>enfocado </a:t>
              </a:r>
              <a:r>
                <a:rPr lang="en-US" sz="2200">
                  <a:solidFill>
                    <a:srgbClr val="52525B"/>
                  </a:solidFill>
                  <a:latin typeface="Montserrat"/>
                  <a:ea typeface="Montserrat"/>
                  <a:cs typeface="Montserrat"/>
                  <a:sym typeface="Montserrat"/>
                </a:rPr>
                <a:t>en </a:t>
              </a:r>
              <a:r>
                <a:rPr i="0" lang="en-US" sz="2200">
                  <a:solidFill>
                    <a:srgbClr val="52525B"/>
                  </a:solidFill>
                  <a:latin typeface="Montserrat"/>
                  <a:ea typeface="Montserrat"/>
                  <a:cs typeface="Montserrat"/>
                  <a:sym typeface="Montserrat"/>
                </a:rPr>
                <a:t>los datos fundamentales.</a:t>
              </a:r>
              <a:endParaRPr b="1" i="0" sz="2200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315" name="Google Shape;315;h6614320cb80fea18_0_2092"/>
          <p:cNvGrpSpPr/>
          <p:nvPr/>
        </p:nvGrpSpPr>
        <p:grpSpPr>
          <a:xfrm>
            <a:off x="8191500" y="1669894"/>
            <a:ext cx="3429000" cy="4649915"/>
            <a:chOff x="8191500" y="2000250"/>
            <a:chExt cx="3429000" cy="4191000"/>
          </a:xfrm>
        </p:grpSpPr>
        <p:sp>
          <p:nvSpPr>
            <p:cNvPr id="316" name="Google Shape;316;h6614320cb80fea18_0_2092"/>
            <p:cNvSpPr/>
            <p:nvPr/>
          </p:nvSpPr>
          <p:spPr>
            <a:xfrm>
              <a:off x="8191500" y="2000250"/>
              <a:ext cx="3429000" cy="4191000"/>
            </a:xfrm>
            <a:prstGeom prst="roundRect">
              <a:avLst>
                <a:gd fmla="val 4444" name="adj"/>
              </a:avLst>
            </a:prstGeom>
            <a:solidFill>
              <a:srgbClr val="F4F4F5"/>
            </a:solidFill>
            <a:ln cap="flat" cmpd="sng" w="19050">
              <a:solidFill>
                <a:srgbClr val="E4E4E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7" name="Google Shape;317;h6614320cb80fea18_0_2092"/>
            <p:cNvSpPr/>
            <p:nvPr/>
          </p:nvSpPr>
          <p:spPr>
            <a:xfrm>
              <a:off x="8496300" y="2305050"/>
              <a:ext cx="609600" cy="609600"/>
            </a:xfrm>
            <a:prstGeom prst="roundRect">
              <a:avLst>
                <a:gd fmla="val 18750" name="adj"/>
              </a:avLst>
            </a:prstGeom>
            <a:solidFill>
              <a:srgbClr val="E4E4E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8" name="Google Shape;318;h6614320cb80fea18_0_2092"/>
            <p:cNvSpPr txBox="1"/>
            <p:nvPr/>
          </p:nvSpPr>
          <p:spPr>
            <a:xfrm>
              <a:off x="8496300" y="2398522"/>
              <a:ext cx="609600" cy="609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>
                  <a:solidFill>
                    <a:srgbClr val="18181B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verified_user</a:t>
              </a:r>
              <a:endParaRPr b="0" i="0" sz="3200">
                <a:solidFill>
                  <a:srgbClr val="18181B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19" name="Google Shape;319;h6614320cb80fea18_0_2092"/>
            <p:cNvSpPr txBox="1"/>
            <p:nvPr/>
          </p:nvSpPr>
          <p:spPr>
            <a:xfrm>
              <a:off x="8496300" y="3143250"/>
              <a:ext cx="2819400" cy="2667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3000">
                  <a:solidFill>
                    <a:srgbClr val="11111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Transparencia Financiera</a:t>
              </a:r>
              <a:endParaRPr b="1" i="0" sz="3000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-US" sz="2200">
                  <a:solidFill>
                    <a:srgbClr val="52525B"/>
                  </a:solidFill>
                  <a:latin typeface="Montserrat"/>
                  <a:ea typeface="Montserrat"/>
                  <a:cs typeface="Montserrat"/>
                  <a:sym typeface="Montserrat"/>
                </a:rPr>
                <a:t>Diseño sobrio que proyect</a:t>
              </a:r>
              <a:r>
                <a:rPr lang="en-US" sz="2200">
                  <a:solidFill>
                    <a:srgbClr val="52525B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 </a:t>
              </a:r>
              <a:r>
                <a:rPr lang="en-US" sz="2200">
                  <a:solidFill>
                    <a:srgbClr val="52525B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solidez, claridad institucional e integridad ante el usuario</a:t>
              </a:r>
              <a:endParaRPr sz="2200">
                <a:solidFill>
                  <a:srgbClr val="52525B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4" name="Google Shape;324;h6614320cb80fea18_0_245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34475" y="3067050"/>
            <a:ext cx="960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325" name="Google Shape;325;h6614320cb80fea18_0_2451"/>
          <p:cNvSpPr txBox="1"/>
          <p:nvPr/>
        </p:nvSpPr>
        <p:spPr>
          <a:xfrm>
            <a:off x="587925" y="213500"/>
            <a:ext cx="4360800" cy="220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4000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Estrategia </a:t>
            </a:r>
            <a:endParaRPr b="0" sz="4000">
              <a:solidFill>
                <a:srgbClr val="38BDF8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4000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de penetración</a:t>
            </a:r>
            <a:r>
              <a:rPr b="0" lang="en-US" sz="40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 </a:t>
            </a:r>
            <a:endParaRPr b="0" sz="400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600">
                <a:solidFill>
                  <a:srgbClr val="A1A1A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(Go-To-Market)</a:t>
            </a:r>
            <a:endParaRPr b="0" sz="400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cxnSp>
        <p:nvCxnSpPr>
          <p:cNvPr id="326" name="Google Shape;326;h6614320cb80fea18_0_2451"/>
          <p:cNvCxnSpPr/>
          <p:nvPr/>
        </p:nvCxnSpPr>
        <p:spPr>
          <a:xfrm>
            <a:off x="762000" y="3524250"/>
            <a:ext cx="10668000" cy="0"/>
          </a:xfrm>
          <a:prstGeom prst="straightConnector1">
            <a:avLst/>
          </a:prstGeom>
          <a:solidFill>
            <a:srgbClr val="FFFFFF"/>
          </a:solidFill>
          <a:ln cap="flat" cmpd="sng" w="38100">
            <a:solidFill>
              <a:srgbClr val="27272A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27" name="Google Shape;327;h6614320cb80fea18_0_2451"/>
          <p:cNvCxnSpPr/>
          <p:nvPr/>
        </p:nvCxnSpPr>
        <p:spPr>
          <a:xfrm>
            <a:off x="762000" y="3524250"/>
            <a:ext cx="10668000" cy="0"/>
          </a:xfrm>
          <a:prstGeom prst="straightConnector1">
            <a:avLst/>
          </a:prstGeom>
          <a:solidFill>
            <a:srgbClr val="FFFFFF"/>
          </a:solidFill>
          <a:ln cap="rnd" cmpd="sng" w="3810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328" name="Google Shape;328;h6614320cb80fea18_0_245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038475" y="3524250"/>
            <a:ext cx="19200" cy="47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9" name="Google Shape;329;h6614320cb80fea18_0_245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647950" y="3124200"/>
            <a:ext cx="795300" cy="795300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h6614320cb80fea18_0_2451"/>
          <p:cNvSpPr/>
          <p:nvPr/>
        </p:nvSpPr>
        <p:spPr>
          <a:xfrm>
            <a:off x="2952750" y="3429000"/>
            <a:ext cx="190500" cy="190500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h6614320cb80fea18_0_2451"/>
          <p:cNvSpPr txBox="1"/>
          <p:nvPr/>
        </p:nvSpPr>
        <p:spPr>
          <a:xfrm>
            <a:off x="666825" y="4000500"/>
            <a:ext cx="4762500" cy="263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60A5FA"/>
                </a:solidFill>
                <a:latin typeface="Montserrat"/>
                <a:ea typeface="Montserrat"/>
                <a:cs typeface="Montserrat"/>
                <a:sym typeface="Montserrat"/>
              </a:rPr>
              <a:t>FASE 1</a:t>
            </a:r>
            <a:endParaRPr sz="20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Nicho Estratégico</a:t>
            </a:r>
            <a:endParaRPr b="1" sz="30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4D4D8"/>
                </a:solidFill>
                <a:latin typeface="Montserrat"/>
                <a:ea typeface="Montserrat"/>
                <a:cs typeface="Montserrat"/>
                <a:sym typeface="Montserrat"/>
              </a:rPr>
              <a:t>Foco quirúrgico en </a:t>
            </a:r>
            <a:r>
              <a:rPr b="1" lang="en-US" sz="2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87 clubes</a:t>
            </a:r>
            <a:endParaRPr sz="2000">
              <a:solidFill>
                <a:srgbClr val="D4D4D8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Cobertura Objetivo:</a:t>
            </a:r>
            <a:endParaRPr sz="1800">
              <a:solidFill>
                <a:schemeClr val="lt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-349250" lvl="0" marL="457200" rtl="0" algn="l">
              <a:spcBef>
                <a:spcPts val="450"/>
              </a:spcBef>
              <a:spcAft>
                <a:spcPts val="0"/>
              </a:spcAft>
              <a:buClr>
                <a:srgbClr val="E4E4E7"/>
              </a:buClr>
              <a:buSzPts val="1900"/>
              <a:buFont typeface="Montserrat"/>
              <a:buChar char="●"/>
            </a:pPr>
            <a:r>
              <a:rPr lang="en-US" sz="1900">
                <a:solidFill>
                  <a:srgbClr val="E4E4E7"/>
                </a:solidFill>
                <a:latin typeface="Montserrat"/>
                <a:ea typeface="Montserrat"/>
                <a:cs typeface="Montserrat"/>
                <a:sym typeface="Montserrat"/>
              </a:rPr>
              <a:t>Primera B Metropolitana</a:t>
            </a:r>
            <a:endParaRPr sz="1900">
              <a:solidFill>
                <a:srgbClr val="E4E4E7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49250" lvl="0" marL="457200" rtl="0" algn="l">
              <a:spcBef>
                <a:spcPts val="300"/>
              </a:spcBef>
              <a:spcAft>
                <a:spcPts val="0"/>
              </a:spcAft>
              <a:buClr>
                <a:srgbClr val="E4E4E7"/>
              </a:buClr>
              <a:buSzPts val="1900"/>
              <a:buFont typeface="Montserrat"/>
              <a:buChar char="●"/>
            </a:pPr>
            <a:r>
              <a:rPr lang="en-US" sz="1900">
                <a:solidFill>
                  <a:srgbClr val="E4E4E7"/>
                </a:solidFill>
                <a:latin typeface="Montserrat"/>
                <a:ea typeface="Montserrat"/>
                <a:cs typeface="Montserrat"/>
                <a:sym typeface="Montserrat"/>
              </a:rPr>
              <a:t>Primera C</a:t>
            </a:r>
            <a:endParaRPr sz="1900">
              <a:solidFill>
                <a:srgbClr val="E4E4E7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49250" lvl="0" marL="457200" rtl="0" algn="l">
              <a:spcBef>
                <a:spcPts val="300"/>
              </a:spcBef>
              <a:spcAft>
                <a:spcPts val="0"/>
              </a:spcAft>
              <a:buClr>
                <a:srgbClr val="E4E4E7"/>
              </a:buClr>
              <a:buSzPts val="1900"/>
              <a:buFont typeface="Montserrat"/>
              <a:buChar char="●"/>
            </a:pPr>
            <a:r>
              <a:rPr lang="en-US" sz="1900">
                <a:solidFill>
                  <a:srgbClr val="E4E4E7"/>
                </a:solidFill>
                <a:latin typeface="Montserrat"/>
                <a:ea typeface="Montserrat"/>
                <a:cs typeface="Montserrat"/>
                <a:sym typeface="Montserrat"/>
              </a:rPr>
              <a:t>Federal A</a:t>
            </a:r>
            <a:endParaRPr sz="1900">
              <a:solidFill>
                <a:srgbClr val="E4E4E7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32" name="Google Shape;332;h6614320cb80fea18_0_2451"/>
          <p:cNvSpPr txBox="1"/>
          <p:nvPr/>
        </p:nvSpPr>
        <p:spPr>
          <a:xfrm>
            <a:off x="6758025" y="477900"/>
            <a:ext cx="4762500" cy="2518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Escalamiento</a:t>
            </a:r>
            <a:endParaRPr b="1" sz="30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4D4D8"/>
                </a:solidFill>
                <a:latin typeface="Montserrat"/>
                <a:ea typeface="Montserrat"/>
                <a:cs typeface="Montserrat"/>
                <a:sym typeface="Montserrat"/>
              </a:rPr>
              <a:t>Capitalización de casos de éxito para penetrar orgánicamente.</a:t>
            </a:r>
            <a:endParaRPr sz="2000">
              <a:solidFill>
                <a:srgbClr val="D4D4D8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9CA3A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Ligas de Expansión:</a:t>
            </a:r>
            <a:endParaRPr sz="1800">
              <a:solidFill>
                <a:srgbClr val="9CA3A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-349250" lvl="0" marL="457200" rtl="0" algn="l">
              <a:spcBef>
                <a:spcPts val="450"/>
              </a:spcBef>
              <a:spcAft>
                <a:spcPts val="0"/>
              </a:spcAft>
              <a:buClr>
                <a:srgbClr val="34D399"/>
              </a:buClr>
              <a:buSzPts val="1900"/>
              <a:buFont typeface="Montserrat"/>
              <a:buChar char="●"/>
            </a:pPr>
            <a:r>
              <a:rPr lang="en-US" sz="1900">
                <a:solidFill>
                  <a:srgbClr val="34D399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Primera Nacional</a:t>
            </a:r>
            <a:endParaRPr sz="1900">
              <a:solidFill>
                <a:srgbClr val="34D399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-349250" lvl="0" marL="457200" rtl="0" algn="l">
              <a:spcBef>
                <a:spcPts val="300"/>
              </a:spcBef>
              <a:spcAft>
                <a:spcPts val="0"/>
              </a:spcAft>
              <a:buClr>
                <a:srgbClr val="34D399"/>
              </a:buClr>
              <a:buSzPts val="1900"/>
              <a:buFont typeface="Montserrat"/>
              <a:buChar char="●"/>
            </a:pPr>
            <a:r>
              <a:rPr lang="en-US" sz="1900">
                <a:solidFill>
                  <a:srgbClr val="34D399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Liga Profesional</a:t>
            </a:r>
            <a:endParaRPr sz="1900">
              <a:solidFill>
                <a:srgbClr val="34D399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rgbClr val="34D399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rtl="0" algn="ctr">
              <a:spcBef>
                <a:spcPts val="0"/>
              </a:spcBef>
              <a:spcAft>
                <a:spcPts val="600"/>
              </a:spcAft>
              <a:buNone/>
            </a:pPr>
            <a:r>
              <a:rPr b="1" lang="en-US" sz="1700">
                <a:solidFill>
                  <a:srgbClr val="34D399"/>
                </a:solidFill>
                <a:latin typeface="Montserrat"/>
                <a:ea typeface="Montserrat"/>
                <a:cs typeface="Montserrat"/>
                <a:sym typeface="Montserrat"/>
              </a:rPr>
              <a:t>FASE 2</a:t>
            </a:r>
            <a:endParaRPr sz="1900">
              <a:solidFill>
                <a:srgbClr val="34D399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grpSp>
        <p:nvGrpSpPr>
          <p:cNvPr id="333" name="Google Shape;333;h6614320cb80fea18_0_2451"/>
          <p:cNvGrpSpPr/>
          <p:nvPr/>
        </p:nvGrpSpPr>
        <p:grpSpPr>
          <a:xfrm>
            <a:off x="8743950" y="3124200"/>
            <a:ext cx="790725" cy="797700"/>
            <a:chOff x="8743950" y="3124200"/>
            <a:chExt cx="790725" cy="797700"/>
          </a:xfrm>
        </p:grpSpPr>
        <p:pic>
          <p:nvPicPr>
            <p:cNvPr id="334" name="Google Shape;334;h6614320cb80fea18_0_2451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8743950" y="3124200"/>
              <a:ext cx="400200" cy="7953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5" name="Google Shape;335;h6614320cb80fea18_0_2451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 rot="10800000">
              <a:off x="9134475" y="3126600"/>
              <a:ext cx="400200" cy="7953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36" name="Google Shape;336;h6614320cb80fea18_0_2451"/>
            <p:cNvSpPr/>
            <p:nvPr/>
          </p:nvSpPr>
          <p:spPr>
            <a:xfrm>
              <a:off x="9044025" y="3428850"/>
              <a:ext cx="190500" cy="190500"/>
            </a:xfrm>
            <a:prstGeom prst="ellipse">
              <a:avLst/>
            </a:prstGeom>
            <a:solidFill>
              <a:srgbClr val="34D39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7"/>
          <p:cNvSpPr/>
          <p:nvPr/>
        </p:nvSpPr>
        <p:spPr>
          <a:xfrm>
            <a:off x="571500" y="1619250"/>
            <a:ext cx="3429000" cy="4572000"/>
          </a:xfrm>
          <a:prstGeom prst="roundRect">
            <a:avLst>
              <a:gd fmla="val 4444" name="adj"/>
            </a:avLst>
          </a:prstGeom>
          <a:solidFill>
            <a:srgbClr val="F8FAFC"/>
          </a:solidFill>
          <a:ln cap="flat" cmpd="sng" w="190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17"/>
          <p:cNvSpPr txBox="1"/>
          <p:nvPr/>
        </p:nvSpPr>
        <p:spPr>
          <a:xfrm>
            <a:off x="571500" y="476250"/>
            <a:ext cx="110490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40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Pricing basado en el valor</a:t>
            </a:r>
            <a:endParaRPr b="0" sz="4000">
              <a:solidFill>
                <a:srgbClr val="0F172A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343" name="Google Shape;343;p17"/>
          <p:cNvGrpSpPr/>
          <p:nvPr/>
        </p:nvGrpSpPr>
        <p:grpSpPr>
          <a:xfrm>
            <a:off x="4381500" y="1619250"/>
            <a:ext cx="3429000" cy="4572000"/>
            <a:chOff x="0" y="0"/>
            <a:chExt cx="3429000" cy="4572000"/>
          </a:xfrm>
        </p:grpSpPr>
        <p:sp>
          <p:nvSpPr>
            <p:cNvPr id="344" name="Google Shape;344;p17"/>
            <p:cNvSpPr/>
            <p:nvPr/>
          </p:nvSpPr>
          <p:spPr>
            <a:xfrm>
              <a:off x="0" y="0"/>
              <a:ext cx="3429000" cy="4572000"/>
            </a:xfrm>
            <a:prstGeom prst="roundRect">
              <a:avLst>
                <a:gd fmla="val 4444" name="adj"/>
              </a:avLst>
            </a:prstGeom>
            <a:solidFill>
              <a:srgbClr val="F8FAFC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5" name="Google Shape;345;p17"/>
            <p:cNvSpPr/>
            <p:nvPr/>
          </p:nvSpPr>
          <p:spPr>
            <a:xfrm>
              <a:off x="304800" y="304800"/>
              <a:ext cx="609600" cy="609600"/>
            </a:xfrm>
            <a:prstGeom prst="roundRect">
              <a:avLst>
                <a:gd fmla="val 21875" name="adj"/>
              </a:avLst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6" name="Google Shape;346;p17"/>
            <p:cNvSpPr txBox="1"/>
            <p:nvPr/>
          </p:nvSpPr>
          <p:spPr>
            <a:xfrm>
              <a:off x="304800" y="348615"/>
              <a:ext cx="609600" cy="60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0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published_with_changes</a:t>
              </a:r>
              <a:endParaRPr sz="300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47" name="Google Shape;347;p17"/>
            <p:cNvSpPr txBox="1"/>
            <p:nvPr/>
          </p:nvSpPr>
          <p:spPr>
            <a:xfrm>
              <a:off x="304800" y="1123950"/>
              <a:ext cx="28824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44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Suscripción Híbrida</a:t>
              </a:r>
              <a:endParaRPr b="1" sz="244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cxnSp>
          <p:nvCxnSpPr>
            <p:cNvPr id="348" name="Google Shape;348;p17"/>
            <p:cNvCxnSpPr/>
            <p:nvPr/>
          </p:nvCxnSpPr>
          <p:spPr>
            <a:xfrm>
              <a:off x="304800" y="1733550"/>
              <a:ext cx="2819400" cy="0"/>
            </a:xfrm>
            <a:prstGeom prst="straightConnector1">
              <a:avLst/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349" name="Google Shape;349;p17"/>
            <p:cNvSpPr txBox="1"/>
            <p:nvPr/>
          </p:nvSpPr>
          <p:spPr>
            <a:xfrm>
              <a:off x="304800" y="1924050"/>
              <a:ext cx="2819400" cy="2343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>
                  <a:solidFill>
                    <a:srgbClr val="475569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Abono mensual fijo + tarifas variables por cantidad de transacciones realizadas por la aplicación</a:t>
              </a:r>
              <a:endParaRPr sz="2300">
                <a:solidFill>
                  <a:srgbClr val="0F172A"/>
                </a:solidFill>
                <a:latin typeface="Montserrat SemiBold"/>
                <a:ea typeface="Montserrat SemiBold"/>
                <a:cs typeface="Montserrat SemiBold"/>
                <a:sym typeface="Montserrat SemiBold"/>
              </a:endParaRPr>
            </a:p>
          </p:txBody>
        </p:sp>
      </p:grpSp>
      <p:grpSp>
        <p:nvGrpSpPr>
          <p:cNvPr id="350" name="Google Shape;350;p17"/>
          <p:cNvGrpSpPr/>
          <p:nvPr/>
        </p:nvGrpSpPr>
        <p:grpSpPr>
          <a:xfrm>
            <a:off x="8191500" y="1619250"/>
            <a:ext cx="3429000" cy="4572000"/>
            <a:chOff x="0" y="0"/>
            <a:chExt cx="3429000" cy="4572000"/>
          </a:xfrm>
        </p:grpSpPr>
        <p:sp>
          <p:nvSpPr>
            <p:cNvPr id="351" name="Google Shape;351;p17"/>
            <p:cNvSpPr/>
            <p:nvPr/>
          </p:nvSpPr>
          <p:spPr>
            <a:xfrm>
              <a:off x="0" y="0"/>
              <a:ext cx="3429000" cy="4572000"/>
            </a:xfrm>
            <a:prstGeom prst="roundRect">
              <a:avLst>
                <a:gd fmla="val 4444" name="adj"/>
              </a:avLst>
            </a:prstGeom>
            <a:solidFill>
              <a:srgbClr val="F8FAFC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2" name="Google Shape;352;p17"/>
            <p:cNvSpPr/>
            <p:nvPr/>
          </p:nvSpPr>
          <p:spPr>
            <a:xfrm>
              <a:off x="304800" y="304800"/>
              <a:ext cx="609600" cy="609600"/>
            </a:xfrm>
            <a:prstGeom prst="roundRect">
              <a:avLst>
                <a:gd fmla="val 21875" name="adj"/>
              </a:avLst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3" name="Google Shape;353;p17"/>
            <p:cNvSpPr txBox="1"/>
            <p:nvPr/>
          </p:nvSpPr>
          <p:spPr>
            <a:xfrm>
              <a:off x="304800" y="348615"/>
              <a:ext cx="609600" cy="60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0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campaign</a:t>
              </a:r>
              <a:endParaRPr sz="300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54" name="Google Shape;354;p17"/>
            <p:cNvSpPr txBox="1"/>
            <p:nvPr/>
          </p:nvSpPr>
          <p:spPr>
            <a:xfrm>
              <a:off x="304800" y="1123950"/>
              <a:ext cx="28194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40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Marketplace CPA</a:t>
              </a:r>
              <a:endParaRPr b="1" sz="24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cxnSp>
          <p:nvCxnSpPr>
            <p:cNvPr id="355" name="Google Shape;355;p17"/>
            <p:cNvCxnSpPr/>
            <p:nvPr/>
          </p:nvCxnSpPr>
          <p:spPr>
            <a:xfrm>
              <a:off x="304800" y="1733550"/>
              <a:ext cx="2819400" cy="0"/>
            </a:xfrm>
            <a:prstGeom prst="straightConnector1">
              <a:avLst/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356" name="Google Shape;356;p17"/>
            <p:cNvSpPr txBox="1"/>
            <p:nvPr/>
          </p:nvSpPr>
          <p:spPr>
            <a:xfrm>
              <a:off x="304800" y="1924050"/>
              <a:ext cx="2819400" cy="2343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>
                  <a:solidFill>
                    <a:srgbClr val="475569"/>
                  </a:solidFill>
                  <a:latin typeface="Montserrat"/>
                  <a:ea typeface="Montserrat"/>
                  <a:cs typeface="Montserrat"/>
                  <a:sym typeface="Montserrat"/>
                </a:rPr>
                <a:t>Monetización publicitaria en la aplicación móvil</a:t>
              </a:r>
              <a:endParaRPr sz="2300">
                <a:solidFill>
                  <a:srgbClr val="475569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t/>
              </a:r>
              <a:endParaRPr sz="2300">
                <a:solidFill>
                  <a:srgbClr val="0F172A"/>
                </a:solidFill>
                <a:highlight>
                  <a:srgbClr val="FFFFFF"/>
                </a:highlight>
                <a:latin typeface="Montserrat SemiBold"/>
                <a:ea typeface="Montserrat SemiBold"/>
                <a:cs typeface="Montserrat SemiBold"/>
                <a:sym typeface="Montserrat SemiBold"/>
              </a:endParaRPr>
            </a:p>
          </p:txBody>
        </p:sp>
      </p:grpSp>
      <p:sp>
        <p:nvSpPr>
          <p:cNvPr id="357" name="Google Shape;357;p17"/>
          <p:cNvSpPr/>
          <p:nvPr/>
        </p:nvSpPr>
        <p:spPr>
          <a:xfrm>
            <a:off x="876300" y="1924050"/>
            <a:ext cx="609600" cy="609600"/>
          </a:xfrm>
          <a:prstGeom prst="roundRect">
            <a:avLst>
              <a:gd fmla="val 21875" name="adj"/>
            </a:avLst>
          </a:prstGeom>
          <a:solidFill>
            <a:srgbClr val="0F172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17"/>
          <p:cNvSpPr txBox="1"/>
          <p:nvPr/>
        </p:nvSpPr>
        <p:spPr>
          <a:xfrm>
            <a:off x="876300" y="1967865"/>
            <a:ext cx="6096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handshake</a:t>
            </a:r>
            <a:endParaRPr sz="3000">
              <a:solidFill>
                <a:srgbClr val="FFFFFF"/>
              </a:solidFill>
              <a:latin typeface="Material Icons"/>
              <a:ea typeface="Material Icons"/>
              <a:cs typeface="Material Icons"/>
              <a:sym typeface="Material Icons"/>
            </a:endParaRPr>
          </a:p>
        </p:txBody>
      </p:sp>
      <p:sp>
        <p:nvSpPr>
          <p:cNvPr id="359" name="Google Shape;359;p17"/>
          <p:cNvSpPr txBox="1"/>
          <p:nvPr/>
        </p:nvSpPr>
        <p:spPr>
          <a:xfrm>
            <a:off x="876300" y="2743200"/>
            <a:ext cx="28194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Setup Fee</a:t>
            </a:r>
            <a:endParaRPr b="1" sz="24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60" name="Google Shape;360;p17"/>
          <p:cNvSpPr txBox="1"/>
          <p:nvPr/>
        </p:nvSpPr>
        <p:spPr>
          <a:xfrm>
            <a:off x="876300" y="3543300"/>
            <a:ext cx="2819400" cy="9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2300">
                <a:solidFill>
                  <a:srgbClr val="475569"/>
                </a:solidFill>
                <a:latin typeface="Montserrat"/>
                <a:ea typeface="Montserrat"/>
                <a:cs typeface="Montserrat"/>
                <a:sym typeface="Montserrat"/>
              </a:rPr>
              <a:t>Costo de configuración inicial</a:t>
            </a:r>
            <a:r>
              <a:rPr lang="en-US" sz="2300">
                <a:solidFill>
                  <a:srgbClr val="475569"/>
                </a:solidFill>
                <a:latin typeface="Montserrat"/>
                <a:ea typeface="Montserrat"/>
                <a:cs typeface="Montserrat"/>
                <a:sym typeface="Montserrat"/>
              </a:rPr>
              <a:t> de la plataforma</a:t>
            </a:r>
            <a:endParaRPr sz="2100">
              <a:solidFill>
                <a:srgbClr val="166534"/>
              </a:solidFill>
              <a:highlight>
                <a:srgbClr val="FFFFFF"/>
              </a:highlight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cxnSp>
        <p:nvCxnSpPr>
          <p:cNvPr id="361" name="Google Shape;361;p17"/>
          <p:cNvCxnSpPr/>
          <p:nvPr/>
        </p:nvCxnSpPr>
        <p:spPr>
          <a:xfrm>
            <a:off x="876300" y="3352800"/>
            <a:ext cx="2819400" cy="0"/>
          </a:xfrm>
          <a:prstGeom prst="straightConnector1">
            <a:avLst/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362" name="Google Shape;362;p17"/>
          <p:cNvGrpSpPr/>
          <p:nvPr/>
        </p:nvGrpSpPr>
        <p:grpSpPr>
          <a:xfrm>
            <a:off x="856239" y="5106872"/>
            <a:ext cx="2819470" cy="991318"/>
            <a:chOff x="856200" y="4344675"/>
            <a:chExt cx="1549500" cy="544800"/>
          </a:xfrm>
        </p:grpSpPr>
        <p:sp>
          <p:nvSpPr>
            <p:cNvPr id="363" name="Google Shape;363;p17"/>
            <p:cNvSpPr/>
            <p:nvPr/>
          </p:nvSpPr>
          <p:spPr>
            <a:xfrm>
              <a:off x="876300" y="4378875"/>
              <a:ext cx="1509300" cy="476400"/>
            </a:xfrm>
            <a:prstGeom prst="roundRect">
              <a:avLst>
                <a:gd fmla="val 50000" name="adj"/>
              </a:avLst>
            </a:prstGeom>
            <a:solidFill>
              <a:srgbClr val="DCFCE7"/>
            </a:solidFill>
            <a:ln cap="flat" cmpd="sng" w="17325">
              <a:solidFill>
                <a:srgbClr val="86EFA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547"/>
            </a:p>
          </p:txBody>
        </p:sp>
        <p:sp>
          <p:nvSpPr>
            <p:cNvPr id="364" name="Google Shape;364;p17"/>
            <p:cNvSpPr txBox="1"/>
            <p:nvPr/>
          </p:nvSpPr>
          <p:spPr>
            <a:xfrm>
              <a:off x="856200" y="4344675"/>
              <a:ext cx="1549500" cy="54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47">
                  <a:solidFill>
                    <a:srgbClr val="16653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100% BONIFICADO PARA PRIMEROS CLIENTES</a:t>
              </a:r>
              <a:endParaRPr b="1" sz="1547">
                <a:solidFill>
                  <a:srgbClr val="166534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h6614320cb80fea18_0_3040"/>
          <p:cNvSpPr txBox="1"/>
          <p:nvPr/>
        </p:nvSpPr>
        <p:spPr>
          <a:xfrm>
            <a:off x="762000" y="571500"/>
            <a:ext cx="10668000" cy="615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4000">
                <a:solidFill>
                  <a:srgbClr val="F7F9F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Proyección financiera base</a:t>
            </a:r>
            <a:endParaRPr b="0" sz="4000">
              <a:solidFill>
                <a:srgbClr val="F7F9FC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70" name="Google Shape;370;h6614320cb80fea18_0_3040"/>
          <p:cNvSpPr/>
          <p:nvPr/>
        </p:nvSpPr>
        <p:spPr>
          <a:xfrm>
            <a:off x="762038" y="1524000"/>
            <a:ext cx="10667700" cy="4572000"/>
          </a:xfrm>
          <a:prstGeom prst="roundRect">
            <a:avLst>
              <a:gd fmla="val 4166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1" name="Google Shape;371;h6614320cb80fea18_0_3040"/>
          <p:cNvSpPr/>
          <p:nvPr/>
        </p:nvSpPr>
        <p:spPr>
          <a:xfrm>
            <a:off x="1261200" y="1919400"/>
            <a:ext cx="9669600" cy="6834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h6614320cb80fea18_0_3040"/>
          <p:cNvSpPr txBox="1"/>
          <p:nvPr/>
        </p:nvSpPr>
        <p:spPr>
          <a:xfrm>
            <a:off x="955200" y="2022900"/>
            <a:ext cx="104745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F8FAFC"/>
                </a:solidFill>
                <a:latin typeface="Montserrat"/>
                <a:ea typeface="Montserrat"/>
                <a:cs typeface="Montserrat"/>
                <a:sym typeface="Montserrat"/>
              </a:rPr>
              <a:t>12% Penetración conservadora (10 Clubes)</a:t>
            </a:r>
            <a:endParaRPr b="1" sz="3400">
              <a:solidFill>
                <a:srgbClr val="F8FAF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73" name="Google Shape;373;h6614320cb80fea18_0_3040"/>
          <p:cNvSpPr txBox="1"/>
          <p:nvPr/>
        </p:nvSpPr>
        <p:spPr>
          <a:xfrm>
            <a:off x="1567095" y="3106950"/>
            <a:ext cx="40476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600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$48k</a:t>
            </a:r>
            <a:r>
              <a:rPr b="0" lang="en-US" sz="76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 </a:t>
            </a:r>
            <a:r>
              <a:rPr b="0" lang="en-US" sz="3600">
                <a:solidFill>
                  <a:srgbClr val="0284C7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USD</a:t>
            </a:r>
            <a:endParaRPr b="0" sz="7600">
              <a:solidFill>
                <a:srgbClr val="0F172A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374" name="Google Shape;374;h6614320cb80fea18_0_3040"/>
          <p:cNvGrpSpPr/>
          <p:nvPr/>
        </p:nvGrpSpPr>
        <p:grpSpPr>
          <a:xfrm>
            <a:off x="5957559" y="2848598"/>
            <a:ext cx="4667241" cy="1922811"/>
            <a:chOff x="5924559" y="2848598"/>
            <a:chExt cx="4667241" cy="1922811"/>
          </a:xfrm>
        </p:grpSpPr>
        <p:grpSp>
          <p:nvGrpSpPr>
            <p:cNvPr id="375" name="Google Shape;375;h6614320cb80fea18_0_3040"/>
            <p:cNvGrpSpPr/>
            <p:nvPr/>
          </p:nvGrpSpPr>
          <p:grpSpPr>
            <a:xfrm>
              <a:off x="5924559" y="2848598"/>
              <a:ext cx="1798701" cy="1922811"/>
              <a:chOff x="6953250" y="2857500"/>
              <a:chExt cx="762000" cy="814578"/>
            </a:xfrm>
          </p:grpSpPr>
          <p:sp>
            <p:nvSpPr>
              <p:cNvPr id="376" name="Google Shape;376;h6614320cb80fea18_0_3040"/>
              <p:cNvSpPr/>
              <p:nvPr/>
            </p:nvSpPr>
            <p:spPr>
              <a:xfrm>
                <a:off x="6953250" y="2857500"/>
                <a:ext cx="762000" cy="762000"/>
              </a:xfrm>
              <a:prstGeom prst="ellipse">
                <a:avLst/>
              </a:prstGeom>
              <a:solidFill>
                <a:srgbClr val="1E293B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7" name="Google Shape;377;h6614320cb80fea18_0_3040"/>
              <p:cNvSpPr txBox="1"/>
              <p:nvPr/>
            </p:nvSpPr>
            <p:spPr>
              <a:xfrm>
                <a:off x="6953250" y="2910078"/>
                <a:ext cx="7620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8498">
                    <a:solidFill>
                      <a:srgbClr val="34D399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trending_up</a:t>
                </a:r>
                <a:endParaRPr b="0" sz="8498">
                  <a:solidFill>
                    <a:srgbClr val="34D399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</p:grpSp>
        <p:sp>
          <p:nvSpPr>
            <p:cNvPr id="378" name="Google Shape;378;h6614320cb80fea18_0_3040"/>
            <p:cNvSpPr txBox="1"/>
            <p:nvPr/>
          </p:nvSpPr>
          <p:spPr>
            <a:xfrm>
              <a:off x="7899900" y="3128100"/>
              <a:ext cx="2691900" cy="1363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730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+ Ingresos variables exponenciales</a:t>
              </a:r>
              <a:endParaRPr b="1" sz="273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379" name="Google Shape;379;h6614320cb80fea18_0_3040"/>
          <p:cNvSpPr txBox="1"/>
          <p:nvPr/>
        </p:nvSpPr>
        <p:spPr>
          <a:xfrm>
            <a:off x="3307650" y="5120700"/>
            <a:ext cx="55767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INGRESOS ANUALES</a:t>
            </a:r>
            <a:endParaRPr b="1" sz="33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19"/>
          <p:cNvSpPr txBox="1"/>
          <p:nvPr/>
        </p:nvSpPr>
        <p:spPr>
          <a:xfrm>
            <a:off x="3714750" y="952500"/>
            <a:ext cx="4762500" cy="1539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DEMO</a:t>
            </a:r>
            <a:endParaRPr b="0" sz="10000">
              <a:solidFill>
                <a:srgbClr val="0F172A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85" name="Google Shape;385;p19"/>
          <p:cNvSpPr/>
          <p:nvPr/>
        </p:nvSpPr>
        <p:spPr>
          <a:xfrm>
            <a:off x="1597500" y="3025450"/>
            <a:ext cx="8997000" cy="2382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19"/>
          <p:cNvSpPr txBox="1"/>
          <p:nvPr/>
        </p:nvSpPr>
        <p:spPr>
          <a:xfrm>
            <a:off x="4450500" y="4937700"/>
            <a:ext cx="3291000" cy="646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200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EN ACCIÓN</a:t>
            </a:r>
            <a:endParaRPr b="1" sz="4200">
              <a:solidFill>
                <a:srgbClr val="11111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87" name="Google Shape;387;p19" title="texto.png"/>
          <p:cNvPicPr preferRelativeResize="0"/>
          <p:nvPr/>
        </p:nvPicPr>
        <p:blipFill rotWithShape="1">
          <a:blip r:embed="rId3">
            <a:alphaModFix/>
          </a:blip>
          <a:srcRect b="23437" l="0" r="0" t="25288"/>
          <a:stretch/>
        </p:blipFill>
        <p:spPr>
          <a:xfrm>
            <a:off x="2099425" y="3574625"/>
            <a:ext cx="7993150" cy="1363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h6594a2e70c4c9f3_22_113"/>
          <p:cNvSpPr txBox="1"/>
          <p:nvPr/>
        </p:nvSpPr>
        <p:spPr>
          <a:xfrm>
            <a:off x="666750" y="476250"/>
            <a:ext cx="108585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6015">
                <a:solidFill>
                  <a:srgbClr val="F8FAF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Próximos pasos</a:t>
            </a:r>
            <a:endParaRPr b="0" sz="3795">
              <a:solidFill>
                <a:srgbClr val="94A3B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93" name="Google Shape;393;h6594a2e70c4c9f3_22_113"/>
          <p:cNvSpPr/>
          <p:nvPr/>
        </p:nvSpPr>
        <p:spPr>
          <a:xfrm>
            <a:off x="169050" y="2433025"/>
            <a:ext cx="2207400" cy="2604900"/>
          </a:xfrm>
          <a:prstGeom prst="roundRect">
            <a:avLst>
              <a:gd fmla="val 7407" name="adj"/>
            </a:avLst>
          </a:prstGeom>
          <a:solidFill>
            <a:srgbClr val="18181B"/>
          </a:solidFill>
          <a:ln cap="flat" cmpd="sng" w="15325">
            <a:solidFill>
              <a:srgbClr val="BFBF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2"/>
          </a:p>
        </p:txBody>
      </p:sp>
      <p:sp>
        <p:nvSpPr>
          <p:cNvPr id="394" name="Google Shape;394;h6594a2e70c4c9f3_22_113"/>
          <p:cNvSpPr/>
          <p:nvPr/>
        </p:nvSpPr>
        <p:spPr>
          <a:xfrm>
            <a:off x="373425" y="2678274"/>
            <a:ext cx="408600" cy="286200"/>
          </a:xfrm>
          <a:prstGeom prst="roundRect">
            <a:avLst>
              <a:gd fmla="val 21428" name="adj"/>
            </a:avLst>
          </a:prstGeom>
          <a:solidFill>
            <a:srgbClr val="0284C7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5" name="Google Shape;395;h6594a2e70c4c9f3_22_113"/>
          <p:cNvSpPr txBox="1"/>
          <p:nvPr/>
        </p:nvSpPr>
        <p:spPr>
          <a:xfrm>
            <a:off x="373425" y="2678274"/>
            <a:ext cx="408600" cy="28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87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01</a:t>
            </a:r>
            <a:endParaRPr b="0" sz="1287">
              <a:solidFill>
                <a:srgbClr val="38BDF8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396" name="Google Shape;396;h6594a2e70c4c9f3_22_113"/>
          <p:cNvPicPr preferRelativeResize="0"/>
          <p:nvPr/>
        </p:nvPicPr>
        <p:blipFill rotWithShape="1">
          <a:blip r:embed="rId3">
            <a:alphaModFix/>
          </a:blip>
          <a:srcRect b="1719" l="0" r="0" t="1728"/>
          <a:stretch/>
        </p:blipFill>
        <p:spPr>
          <a:xfrm>
            <a:off x="373425" y="3209647"/>
            <a:ext cx="490500" cy="4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397" name="Google Shape;397;h6594a2e70c4c9f3_22_113"/>
          <p:cNvSpPr txBox="1"/>
          <p:nvPr/>
        </p:nvSpPr>
        <p:spPr>
          <a:xfrm>
            <a:off x="373425" y="3945395"/>
            <a:ext cx="1798500" cy="9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31">
                <a:solidFill>
                  <a:srgbClr val="F8FAFC"/>
                </a:solidFill>
                <a:latin typeface="Montserrat"/>
                <a:ea typeface="Montserrat"/>
                <a:cs typeface="Montserrat"/>
                <a:sym typeface="Montserrat"/>
              </a:rPr>
              <a:t>Protección Intelectual</a:t>
            </a:r>
            <a:endParaRPr b="1" sz="1931">
              <a:solidFill>
                <a:srgbClr val="F8FAFC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966"/>
              </a:spcBef>
              <a:spcAft>
                <a:spcPts val="0"/>
              </a:spcAft>
              <a:buNone/>
            </a:pPr>
            <a:r>
              <a:t/>
            </a:r>
            <a:endParaRPr b="0" sz="1180">
              <a:solidFill>
                <a:srgbClr val="A1A1A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98" name="Google Shape;398;h6594a2e70c4c9f3_22_113"/>
          <p:cNvSpPr/>
          <p:nvPr/>
        </p:nvSpPr>
        <p:spPr>
          <a:xfrm>
            <a:off x="2580674" y="2433025"/>
            <a:ext cx="2207400" cy="2604900"/>
          </a:xfrm>
          <a:prstGeom prst="roundRect">
            <a:avLst>
              <a:gd fmla="val 7407" name="adj"/>
            </a:avLst>
          </a:prstGeom>
          <a:solidFill>
            <a:srgbClr val="18181B"/>
          </a:solidFill>
          <a:ln cap="flat" cmpd="sng" w="15325">
            <a:solidFill>
              <a:srgbClr val="BFBF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h6594a2e70c4c9f3_22_113"/>
          <p:cNvSpPr/>
          <p:nvPr/>
        </p:nvSpPr>
        <p:spPr>
          <a:xfrm>
            <a:off x="2785049" y="2678274"/>
            <a:ext cx="408600" cy="286200"/>
          </a:xfrm>
          <a:prstGeom prst="roundRect">
            <a:avLst>
              <a:gd fmla="val 21428" name="adj"/>
            </a:avLst>
          </a:prstGeom>
          <a:solidFill>
            <a:srgbClr val="0284C7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h6594a2e70c4c9f3_22_113"/>
          <p:cNvSpPr txBox="1"/>
          <p:nvPr/>
        </p:nvSpPr>
        <p:spPr>
          <a:xfrm>
            <a:off x="2785049" y="2678274"/>
            <a:ext cx="408600" cy="28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87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02</a:t>
            </a:r>
            <a:endParaRPr b="0" sz="1287">
              <a:solidFill>
                <a:srgbClr val="38BDF8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401" name="Google Shape;401;h6594a2e70c4c9f3_22_113"/>
          <p:cNvPicPr preferRelativeResize="0"/>
          <p:nvPr/>
        </p:nvPicPr>
        <p:blipFill rotWithShape="1">
          <a:blip r:embed="rId4">
            <a:alphaModFix/>
          </a:blip>
          <a:srcRect b="0" l="8567" r="8576" t="0"/>
          <a:stretch/>
        </p:blipFill>
        <p:spPr>
          <a:xfrm>
            <a:off x="2785049" y="3209647"/>
            <a:ext cx="490500" cy="4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2" name="Google Shape;402;h6594a2e70c4c9f3_22_113"/>
          <p:cNvSpPr txBox="1"/>
          <p:nvPr/>
        </p:nvSpPr>
        <p:spPr>
          <a:xfrm>
            <a:off x="2785049" y="3945395"/>
            <a:ext cx="1798500" cy="100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31">
                <a:solidFill>
                  <a:srgbClr val="F8FAFC"/>
                </a:solidFill>
                <a:latin typeface="Montserrat"/>
                <a:ea typeface="Montserrat"/>
                <a:cs typeface="Montserrat"/>
                <a:sym typeface="Montserrat"/>
              </a:rPr>
              <a:t>Gestión de Grupo Familiar</a:t>
            </a:r>
            <a:endParaRPr b="1" sz="1931">
              <a:solidFill>
                <a:srgbClr val="F8FAFC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966"/>
              </a:spcBef>
              <a:spcAft>
                <a:spcPts val="0"/>
              </a:spcAft>
              <a:buNone/>
            </a:pPr>
            <a:r>
              <a:t/>
            </a:r>
            <a:endParaRPr b="0" sz="1180">
              <a:solidFill>
                <a:srgbClr val="A1A1A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3" name="Google Shape;403;h6594a2e70c4c9f3_22_113"/>
          <p:cNvSpPr/>
          <p:nvPr/>
        </p:nvSpPr>
        <p:spPr>
          <a:xfrm>
            <a:off x="4992298" y="2433025"/>
            <a:ext cx="2207400" cy="2604900"/>
          </a:xfrm>
          <a:prstGeom prst="roundRect">
            <a:avLst>
              <a:gd fmla="val 7407" name="adj"/>
            </a:avLst>
          </a:prstGeom>
          <a:solidFill>
            <a:srgbClr val="18181B"/>
          </a:solidFill>
          <a:ln cap="flat" cmpd="sng" w="15325">
            <a:solidFill>
              <a:srgbClr val="BFBF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h6594a2e70c4c9f3_22_113"/>
          <p:cNvSpPr/>
          <p:nvPr/>
        </p:nvSpPr>
        <p:spPr>
          <a:xfrm>
            <a:off x="5196673" y="2678274"/>
            <a:ext cx="408600" cy="286200"/>
          </a:xfrm>
          <a:prstGeom prst="roundRect">
            <a:avLst>
              <a:gd fmla="val 21428" name="adj"/>
            </a:avLst>
          </a:prstGeom>
          <a:solidFill>
            <a:srgbClr val="0284C7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5" name="Google Shape;405;h6594a2e70c4c9f3_22_113"/>
          <p:cNvSpPr txBox="1"/>
          <p:nvPr/>
        </p:nvSpPr>
        <p:spPr>
          <a:xfrm>
            <a:off x="5196673" y="2678274"/>
            <a:ext cx="408600" cy="28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87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03</a:t>
            </a:r>
            <a:endParaRPr b="0" sz="1287">
              <a:solidFill>
                <a:srgbClr val="38BDF8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406" name="Google Shape;406;h6594a2e70c4c9f3_22_113"/>
          <p:cNvSpPr txBox="1"/>
          <p:nvPr/>
        </p:nvSpPr>
        <p:spPr>
          <a:xfrm>
            <a:off x="5196673" y="3945395"/>
            <a:ext cx="1798500" cy="9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966"/>
              </a:spcAft>
              <a:buNone/>
            </a:pPr>
            <a:r>
              <a:rPr b="1" lang="en-US" sz="1931">
                <a:solidFill>
                  <a:srgbClr val="F8FAFC"/>
                </a:solidFill>
                <a:latin typeface="Montserrat"/>
                <a:ea typeface="Montserrat"/>
                <a:cs typeface="Montserrat"/>
                <a:sym typeface="Montserrat"/>
              </a:rPr>
              <a:t>Molinetes Físicos</a:t>
            </a:r>
            <a:endParaRPr b="0" sz="1180">
              <a:solidFill>
                <a:srgbClr val="A1A1A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7" name="Google Shape;407;h6594a2e70c4c9f3_22_113"/>
          <p:cNvSpPr/>
          <p:nvPr/>
        </p:nvSpPr>
        <p:spPr>
          <a:xfrm>
            <a:off x="7403922" y="2433025"/>
            <a:ext cx="2207400" cy="2604900"/>
          </a:xfrm>
          <a:prstGeom prst="roundRect">
            <a:avLst>
              <a:gd fmla="val 7407" name="adj"/>
            </a:avLst>
          </a:prstGeom>
          <a:solidFill>
            <a:srgbClr val="18181B"/>
          </a:solidFill>
          <a:ln cap="flat" cmpd="sng" w="15325">
            <a:solidFill>
              <a:srgbClr val="BFBF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h6594a2e70c4c9f3_22_113"/>
          <p:cNvSpPr/>
          <p:nvPr/>
        </p:nvSpPr>
        <p:spPr>
          <a:xfrm>
            <a:off x="7608297" y="2678274"/>
            <a:ext cx="408600" cy="286200"/>
          </a:xfrm>
          <a:prstGeom prst="roundRect">
            <a:avLst>
              <a:gd fmla="val 21428" name="adj"/>
            </a:avLst>
          </a:prstGeom>
          <a:solidFill>
            <a:srgbClr val="0284C7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9" name="Google Shape;409;h6594a2e70c4c9f3_22_113"/>
          <p:cNvSpPr txBox="1"/>
          <p:nvPr/>
        </p:nvSpPr>
        <p:spPr>
          <a:xfrm>
            <a:off x="7608297" y="2678274"/>
            <a:ext cx="408600" cy="28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87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04</a:t>
            </a:r>
            <a:endParaRPr b="0" sz="1287">
              <a:solidFill>
                <a:srgbClr val="38BDF8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410" name="Google Shape;410;h6594a2e70c4c9f3_22_113"/>
          <p:cNvPicPr preferRelativeResize="0"/>
          <p:nvPr/>
        </p:nvPicPr>
        <p:blipFill rotWithShape="1">
          <a:blip r:embed="rId5">
            <a:alphaModFix/>
          </a:blip>
          <a:srcRect b="1719" l="0" r="0" t="1728"/>
          <a:stretch/>
        </p:blipFill>
        <p:spPr>
          <a:xfrm>
            <a:off x="7608297" y="3209647"/>
            <a:ext cx="490500" cy="4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411" name="Google Shape;411;h6594a2e70c4c9f3_22_113"/>
          <p:cNvSpPr txBox="1"/>
          <p:nvPr/>
        </p:nvSpPr>
        <p:spPr>
          <a:xfrm>
            <a:off x="7608297" y="3945395"/>
            <a:ext cx="1798500" cy="9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966"/>
              </a:spcAft>
              <a:buNone/>
            </a:pPr>
            <a:r>
              <a:rPr b="1" lang="en-US" sz="1931">
                <a:solidFill>
                  <a:srgbClr val="F8FAFC"/>
                </a:solidFill>
                <a:latin typeface="Montserrat"/>
                <a:ea typeface="Montserrat"/>
                <a:cs typeface="Montserrat"/>
                <a:sym typeface="Montserrat"/>
              </a:rPr>
              <a:t>Enrutamiento Financiero</a:t>
            </a:r>
            <a:endParaRPr b="0" sz="1180">
              <a:solidFill>
                <a:srgbClr val="A1A1A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12" name="Google Shape;412;h6594a2e70c4c9f3_22_113"/>
          <p:cNvSpPr/>
          <p:nvPr/>
        </p:nvSpPr>
        <p:spPr>
          <a:xfrm>
            <a:off x="9815546" y="2433025"/>
            <a:ext cx="2207400" cy="2604900"/>
          </a:xfrm>
          <a:prstGeom prst="roundRect">
            <a:avLst>
              <a:gd fmla="val 7407" name="adj"/>
            </a:avLst>
          </a:prstGeom>
          <a:solidFill>
            <a:srgbClr val="18181B"/>
          </a:solidFill>
          <a:ln cap="flat" cmpd="sng" w="15325">
            <a:solidFill>
              <a:srgbClr val="BFBF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2"/>
          </a:p>
        </p:txBody>
      </p:sp>
      <p:sp>
        <p:nvSpPr>
          <p:cNvPr id="413" name="Google Shape;413;h6594a2e70c4c9f3_22_113"/>
          <p:cNvSpPr/>
          <p:nvPr/>
        </p:nvSpPr>
        <p:spPr>
          <a:xfrm>
            <a:off x="10019921" y="2678274"/>
            <a:ext cx="408600" cy="286200"/>
          </a:xfrm>
          <a:prstGeom prst="roundRect">
            <a:avLst>
              <a:gd fmla="val 21428" name="adj"/>
            </a:avLst>
          </a:prstGeom>
          <a:solidFill>
            <a:srgbClr val="0284C7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h6594a2e70c4c9f3_22_113"/>
          <p:cNvSpPr txBox="1"/>
          <p:nvPr/>
        </p:nvSpPr>
        <p:spPr>
          <a:xfrm>
            <a:off x="10019921" y="2678274"/>
            <a:ext cx="408600" cy="28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87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05</a:t>
            </a:r>
            <a:endParaRPr b="0" sz="1287">
              <a:solidFill>
                <a:srgbClr val="38BDF8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415" name="Google Shape;415;h6594a2e70c4c9f3_22_113"/>
          <p:cNvPicPr preferRelativeResize="0"/>
          <p:nvPr/>
        </p:nvPicPr>
        <p:blipFill rotWithShape="1">
          <a:blip r:embed="rId6">
            <a:alphaModFix/>
          </a:blip>
          <a:srcRect b="6897" l="0" r="0" t="6897"/>
          <a:stretch/>
        </p:blipFill>
        <p:spPr>
          <a:xfrm>
            <a:off x="10019921" y="3209647"/>
            <a:ext cx="490500" cy="4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416" name="Google Shape;416;h6594a2e70c4c9f3_22_113"/>
          <p:cNvSpPr txBox="1"/>
          <p:nvPr/>
        </p:nvSpPr>
        <p:spPr>
          <a:xfrm>
            <a:off x="10019921" y="3945395"/>
            <a:ext cx="1798500" cy="9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966"/>
              </a:spcAft>
              <a:buNone/>
            </a:pPr>
            <a:r>
              <a:rPr b="1" lang="en-US" sz="1931">
                <a:solidFill>
                  <a:srgbClr val="F8FAFC"/>
                </a:solidFill>
                <a:latin typeface="Montserrat"/>
                <a:ea typeface="Montserrat"/>
                <a:cs typeface="Montserrat"/>
                <a:sym typeface="Montserrat"/>
              </a:rPr>
              <a:t>Despliegue Nativo</a:t>
            </a:r>
            <a:endParaRPr b="0" sz="1180">
              <a:solidFill>
                <a:srgbClr val="A1A1A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417" name="Google Shape;417;h6594a2e70c4c9f3_22_11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165912" y="3188939"/>
            <a:ext cx="347664" cy="48010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22" name="Google Shape;42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23" name="Google Shape;423;p21"/>
          <p:cNvSpPr txBox="1"/>
          <p:nvPr/>
        </p:nvSpPr>
        <p:spPr>
          <a:xfrm>
            <a:off x="-1383548" y="2056029"/>
            <a:ext cx="14959103" cy="27889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236" u="non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Entonces</a:t>
            </a:r>
            <a:r>
              <a:rPr b="1" i="0" lang="en-US" sz="8236" u="non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, ¿</a:t>
            </a:r>
            <a:r>
              <a:rPr b="1" i="0" lang="en-US" sz="8236" u="non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Por qu</a:t>
            </a:r>
            <a:r>
              <a:rPr b="1" lang="en-US" sz="8236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é</a:t>
            </a:r>
            <a:endParaRPr b="1" sz="8236">
              <a:solidFill>
                <a:srgbClr val="11111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7736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                         </a:t>
            </a:r>
            <a:r>
              <a:rPr b="1" i="0" lang="en-US" sz="8236" u="non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?</a:t>
            </a:r>
            <a:endParaRPr sz="2305"/>
          </a:p>
        </p:txBody>
      </p:sp>
      <p:pic>
        <p:nvPicPr>
          <p:cNvPr id="424" name="Google Shape;424;p21" title="texto.png"/>
          <p:cNvPicPr preferRelativeResize="0"/>
          <p:nvPr/>
        </p:nvPicPr>
        <p:blipFill rotWithShape="1">
          <a:blip r:embed="rId4">
            <a:alphaModFix/>
          </a:blip>
          <a:srcRect b="23437" l="0" r="0" t="25288"/>
          <a:stretch/>
        </p:blipFill>
        <p:spPr>
          <a:xfrm>
            <a:off x="1496250" y="3603275"/>
            <a:ext cx="7728325" cy="1317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22"/>
          <p:cNvSpPr txBox="1"/>
          <p:nvPr/>
        </p:nvSpPr>
        <p:spPr>
          <a:xfrm>
            <a:off x="295275" y="2857500"/>
            <a:ext cx="1160145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0" u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Porque…</a:t>
            </a:r>
            <a:endParaRPr b="1" i="0" sz="7500" u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4" name="Google Shape;434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