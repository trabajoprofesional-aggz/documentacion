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6858000" cx="12192000"/>
  <p:notesSz cx="6858000" cy="9144000"/>
  <p:embeddedFontLst>
    <p:embeddedFont>
      <p:font typeface="Montserrat SemiBold"/>
      <p:regular r:id="rId31"/>
      <p:bold r:id="rId32"/>
      <p:italic r:id="rId33"/>
      <p:boldItalic r:id="rId34"/>
    </p:embeddedFont>
    <p:embeddedFont>
      <p:font typeface="Inter SemiBold"/>
      <p:regular r:id="rId35"/>
      <p:bold r:id="rId36"/>
      <p:italic r:id="rId37"/>
      <p:boldItalic r:id="rId38"/>
    </p:embeddedFont>
    <p:embeddedFont>
      <p:font typeface="Montserrat"/>
      <p:regular r:id="rId39"/>
      <p:bold r:id="rId40"/>
      <p:italic r:id="rId41"/>
      <p:boldItalic r:id="rId42"/>
    </p:embeddedFont>
    <p:embeddedFont>
      <p:font typeface="Inter"/>
      <p:regular r:id="rId43"/>
      <p:bold r:id="rId44"/>
      <p:italic r:id="rId45"/>
      <p:boldItalic r:id="rId46"/>
    </p:embeddedFont>
    <p:embeddedFont>
      <p:font typeface="Montserrat Medium"/>
      <p:regular r:id="rId47"/>
      <p:bold r:id="rId48"/>
      <p:italic r:id="rId49"/>
      <p:boldItalic r:id="rId50"/>
    </p:embeddedFont>
    <p:embeddedFont>
      <p:font typeface="Montserrat ExtraBold"/>
      <p:bold r:id="rId51"/>
      <p:boldItalic r:id="rId52"/>
    </p:embeddedFont>
    <p:embeddedFont>
      <p:font typeface="Inter Medium"/>
      <p:regular r:id="rId53"/>
      <p:bold r:id="rId54"/>
      <p:italic r:id="rId55"/>
      <p:boldItalic r:id="rId5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561">
          <p15:clr>
            <a:srgbClr val="A4A3A4"/>
          </p15:clr>
        </p15:guide>
        <p15:guide id="3" pos="5120">
          <p15:clr>
            <a:srgbClr val="747775"/>
          </p15:clr>
        </p15:guide>
        <p15:guide id="4" pos="7680">
          <p15:clr>
            <a:srgbClr val="747775"/>
          </p15:clr>
        </p15:guide>
        <p15:guide id="5">
          <p15:clr>
            <a:srgbClr val="747775"/>
          </p15:clr>
        </p15:guide>
      </p15:sldGuideLst>
    </p:ext>
    <p:ext uri="GoogleSlidesCustomDataVersion2">
      <go:slidesCustomData xmlns:go="http://customooxmlschemas.google.com/" r:id="rId57" roundtripDataSignature="AMtx7mh8qnb3FJvF9UAI1hI87lxrzISE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561"/>
        <p:guide pos="5120"/>
        <p:guide pos="7680"/>
        <p:guide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ontserrat-bold.fntdata"/><Relationship Id="rId42" Type="http://schemas.openxmlformats.org/officeDocument/2006/relationships/font" Target="fonts/Montserrat-boldItalic.fntdata"/><Relationship Id="rId41" Type="http://schemas.openxmlformats.org/officeDocument/2006/relationships/font" Target="fonts/Montserrat-italic.fntdata"/><Relationship Id="rId44" Type="http://schemas.openxmlformats.org/officeDocument/2006/relationships/font" Target="fonts/Inter-bold.fntdata"/><Relationship Id="rId43" Type="http://schemas.openxmlformats.org/officeDocument/2006/relationships/font" Target="fonts/Inter-regular.fntdata"/><Relationship Id="rId46" Type="http://schemas.openxmlformats.org/officeDocument/2006/relationships/font" Target="fonts/Inter-boldItalic.fntdata"/><Relationship Id="rId45" Type="http://schemas.openxmlformats.org/officeDocument/2006/relationships/font" Target="fonts/Inter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MontserratMedium-bold.fntdata"/><Relationship Id="rId47" Type="http://schemas.openxmlformats.org/officeDocument/2006/relationships/font" Target="fonts/MontserratMedium-regular.fntdata"/><Relationship Id="rId49" Type="http://schemas.openxmlformats.org/officeDocument/2006/relationships/font" Target="fonts/Montserrat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SemiBold-regular.fntdata"/><Relationship Id="rId30" Type="http://schemas.openxmlformats.org/officeDocument/2006/relationships/slide" Target="slides/slide25.xml"/><Relationship Id="rId33" Type="http://schemas.openxmlformats.org/officeDocument/2006/relationships/font" Target="fonts/MontserratSemiBold-italic.fntdata"/><Relationship Id="rId32" Type="http://schemas.openxmlformats.org/officeDocument/2006/relationships/font" Target="fonts/MontserratSemiBold-bold.fntdata"/><Relationship Id="rId35" Type="http://schemas.openxmlformats.org/officeDocument/2006/relationships/font" Target="fonts/InterSemiBold-regular.fntdata"/><Relationship Id="rId34" Type="http://schemas.openxmlformats.org/officeDocument/2006/relationships/font" Target="fonts/MontserratSemiBold-boldItalic.fntdata"/><Relationship Id="rId37" Type="http://schemas.openxmlformats.org/officeDocument/2006/relationships/font" Target="fonts/InterSemiBold-italic.fntdata"/><Relationship Id="rId36" Type="http://schemas.openxmlformats.org/officeDocument/2006/relationships/font" Target="fonts/InterSemiBold-bold.fntdata"/><Relationship Id="rId39" Type="http://schemas.openxmlformats.org/officeDocument/2006/relationships/font" Target="fonts/Montserrat-regular.fntdata"/><Relationship Id="rId38" Type="http://schemas.openxmlformats.org/officeDocument/2006/relationships/font" Target="fonts/InterSemiBold-boldItalic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MontserratExtraBold-bold.fntdata"/><Relationship Id="rId50" Type="http://schemas.openxmlformats.org/officeDocument/2006/relationships/font" Target="fonts/MontserratMedium-boldItalic.fntdata"/><Relationship Id="rId53" Type="http://schemas.openxmlformats.org/officeDocument/2006/relationships/font" Target="fonts/InterMedium-regular.fntdata"/><Relationship Id="rId52" Type="http://schemas.openxmlformats.org/officeDocument/2006/relationships/font" Target="fonts/MontserratExtraBold-boldItalic.fntdata"/><Relationship Id="rId11" Type="http://schemas.openxmlformats.org/officeDocument/2006/relationships/slide" Target="slides/slide6.xml"/><Relationship Id="rId55" Type="http://schemas.openxmlformats.org/officeDocument/2006/relationships/font" Target="fonts/InterMedium-italic.fntdata"/><Relationship Id="rId10" Type="http://schemas.openxmlformats.org/officeDocument/2006/relationships/slide" Target="slides/slide5.xml"/><Relationship Id="rId54" Type="http://schemas.openxmlformats.org/officeDocument/2006/relationships/font" Target="fonts/InterMedium-bold.fntdata"/><Relationship Id="rId13" Type="http://schemas.openxmlformats.org/officeDocument/2006/relationships/slide" Target="slides/slide8.xml"/><Relationship Id="rId57" Type="http://customschemas.google.com/relationships/presentationmetadata" Target="metadata"/><Relationship Id="rId12" Type="http://schemas.openxmlformats.org/officeDocument/2006/relationships/slide" Target="slides/slide7.xml"/><Relationship Id="rId56" Type="http://schemas.openxmlformats.org/officeDocument/2006/relationships/font" Target="fonts/InterMedium-boldItalic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4c478f6c840f279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h4c478f6c840f2799_0_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h6614320cb80fea18_0_5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h6614320cb80fea18_0_5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h6614320cb80fea18_0_9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h6614320cb80fea18_0_9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h5dcf4a5e61b7b943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h5dcf4a5e61b7b943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h6614320cb80fea18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h6614320cb80fea18_0_9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h31d256953cabf977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h31d256953cabf977_1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h105005292c05e9d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h105005292c05e9d_1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h6614320cb80fea18_0_2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h6614320cb80fea18_0_20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h6614320cb80fea18_0_24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h6614320cb80fea18_0_24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h6614320cb80fea18_0_3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h6614320cb80fea18_0_304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h6594a2e70c4c9f3_22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h6594a2e70c4c9f3_22_1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" name="Google Shape;14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9.png"/><Relationship Id="rId10" Type="http://schemas.openxmlformats.org/officeDocument/2006/relationships/image" Target="../media/image23.png"/><Relationship Id="rId9" Type="http://schemas.openxmlformats.org/officeDocument/2006/relationships/image" Target="../media/image20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11.png"/><Relationship Id="rId8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image" Target="../media/image7.png"/><Relationship Id="rId6" Type="http://schemas.openxmlformats.org/officeDocument/2006/relationships/image" Target="../media/image4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16.png"/><Relationship Id="rId5" Type="http://schemas.openxmlformats.org/officeDocument/2006/relationships/image" Target="../media/image3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9.png"/><Relationship Id="rId5" Type="http://schemas.openxmlformats.org/officeDocument/2006/relationships/image" Target="../media/image2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png"/><Relationship Id="rId4" Type="http://schemas.openxmlformats.org/officeDocument/2006/relationships/image" Target="../media/image2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5.png"/><Relationship Id="rId4" Type="http://schemas.openxmlformats.org/officeDocument/2006/relationships/image" Target="../media/image21.png"/><Relationship Id="rId5" Type="http://schemas.openxmlformats.org/officeDocument/2006/relationships/image" Target="../media/image3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3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29.png"/><Relationship Id="rId6" Type="http://schemas.openxmlformats.org/officeDocument/2006/relationships/image" Target="../media/image3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1.png"/><Relationship Id="rId4" Type="http://schemas.openxmlformats.org/officeDocument/2006/relationships/image" Target="../media/image39.png"/><Relationship Id="rId5" Type="http://schemas.openxmlformats.org/officeDocument/2006/relationships/image" Target="../media/image34.png"/><Relationship Id="rId6" Type="http://schemas.openxmlformats.org/officeDocument/2006/relationships/image" Target="../media/image42.png"/><Relationship Id="rId7" Type="http://schemas.openxmlformats.org/officeDocument/2006/relationships/image" Target="../media/image4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3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h4c478f6c840f2799_0_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99" cy="6786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/>
        </p:nvSpPr>
        <p:spPr>
          <a:xfrm>
            <a:off x="138900" y="2857500"/>
            <a:ext cx="117579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¿</a:t>
            </a:r>
            <a:r>
              <a:rPr b="1" lang="en-US" sz="6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 QUÉ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</a:t>
            </a:r>
            <a:r>
              <a:rPr b="1" lang="en-US" sz="75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en-US" sz="75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/>
          </a:p>
        </p:txBody>
      </p:sp>
      <p:pic>
        <p:nvPicPr>
          <p:cNvPr id="90" name="Google Shape;90;p2" title="Gemini_Generated_Image_ys9g3ys9g3ys9g3y-removebg-preview.png"/>
          <p:cNvPicPr preferRelativeResize="0"/>
          <p:nvPr/>
        </p:nvPicPr>
        <p:blipFill rotWithShape="1">
          <a:blip r:embed="rId3">
            <a:alphaModFix/>
          </a:blip>
          <a:srcRect b="28660" l="0" r="0" t="26565"/>
          <a:stretch/>
        </p:blipFill>
        <p:spPr>
          <a:xfrm>
            <a:off x="5197650" y="3053461"/>
            <a:ext cx="5709299" cy="8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3025" y="136700"/>
            <a:ext cx="11705955" cy="65846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3"/>
          <p:cNvSpPr txBox="1"/>
          <p:nvPr/>
        </p:nvSpPr>
        <p:spPr>
          <a:xfrm>
            <a:off x="295275" y="571500"/>
            <a:ext cx="11601600" cy="6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equipo</a:t>
            </a:r>
            <a:endParaRPr b="0" i="0" sz="4800" u="none" cap="none" strike="noStrike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97" name="Google Shape;97;p3"/>
          <p:cNvSpPr txBox="1"/>
          <p:nvPr/>
        </p:nvSpPr>
        <p:spPr>
          <a:xfrm>
            <a:off x="295200" y="4013554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Felipe Ascencio</a:t>
            </a:r>
            <a:endParaRPr sz="1371"/>
          </a:p>
        </p:txBody>
      </p:sp>
      <p:sp>
        <p:nvSpPr>
          <p:cNvPr id="98" name="Google Shape;98;p3"/>
          <p:cNvSpPr txBox="1"/>
          <p:nvPr/>
        </p:nvSpPr>
        <p:spPr>
          <a:xfrm>
            <a:off x="357582" y="5170608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VENTA &amp; QA</a:t>
            </a:r>
            <a:endParaRPr sz="1371"/>
          </a:p>
        </p:txBody>
      </p:sp>
      <p:pic>
        <p:nvPicPr>
          <p:cNvPr id="99" name="Google Shape;99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9203" y="1495646"/>
            <a:ext cx="2332200" cy="23664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0" name="Google Shape;10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464059" y="1455321"/>
            <a:ext cx="2332200" cy="2367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1" name="Google Shape;101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55774" y="1455321"/>
            <a:ext cx="2332200" cy="23781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2" name="Google Shape;102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24512" y="1443603"/>
            <a:ext cx="2355300" cy="2390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3" name="Google Shape;103;p3"/>
          <p:cNvSpPr txBox="1"/>
          <p:nvPr/>
        </p:nvSpPr>
        <p:spPr>
          <a:xfrm>
            <a:off x="3303487" y="4013554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Axel Zielonka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4" name="Google Shape;104;p3"/>
          <p:cNvSpPr txBox="1"/>
          <p:nvPr/>
        </p:nvSpPr>
        <p:spPr>
          <a:xfrm>
            <a:off x="3447489" y="5176030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FRONTEND &amp; MARCA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6311773" y="4019035"/>
            <a:ext cx="26199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Martín Guerrero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6" name="Google Shape;106;p3"/>
          <p:cNvSpPr txBox="1"/>
          <p:nvPr/>
        </p:nvSpPr>
        <p:spPr>
          <a:xfrm>
            <a:off x="6374153" y="5176030"/>
            <a:ext cx="2495100" cy="27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BACKEND &amp; IA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07" name="Google Shape;107;p3"/>
          <p:cNvSpPr txBox="1"/>
          <p:nvPr/>
        </p:nvSpPr>
        <p:spPr>
          <a:xfrm>
            <a:off x="9423246" y="4034478"/>
            <a:ext cx="2413500" cy="10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26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Lautaro Ghosn</a:t>
            </a:r>
            <a:endParaRPr b="1" i="0" sz="3526" u="none" cap="none" strike="noStrike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9401699" y="5180541"/>
            <a:ext cx="2495100" cy="5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63" u="none" cap="none" strike="noStrike">
                <a:solidFill>
                  <a:srgbClr val="111111"/>
                </a:solidFill>
                <a:latin typeface="Inter Medium"/>
                <a:ea typeface="Inter Medium"/>
                <a:cs typeface="Inter Medium"/>
                <a:sym typeface="Inter Medium"/>
              </a:rPr>
              <a:t>ARQUITECTURA &amp; DATOS</a:t>
            </a:r>
            <a:endParaRPr b="0" i="0" sz="1763" u="none" cap="none" strike="noStrike">
              <a:solidFill>
                <a:srgbClr val="11111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109" name="Google Shape;109;p3" title="logo.png"/>
          <p:cNvPicPr preferRelativeResize="0"/>
          <p:nvPr/>
        </p:nvPicPr>
        <p:blipFill rotWithShape="1">
          <a:blip r:embed="rId8">
            <a:alphaModFix/>
          </a:blip>
          <a:srcRect b="0" l="4771" r="0" t="0"/>
          <a:stretch/>
        </p:blipFill>
        <p:spPr>
          <a:xfrm>
            <a:off x="9177876" y="5723250"/>
            <a:ext cx="3057325" cy="1168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0" name="Google Shape;110;p3"/>
          <p:cNvCxnSpPr/>
          <p:nvPr/>
        </p:nvCxnSpPr>
        <p:spPr>
          <a:xfrm>
            <a:off x="795175" y="6378600"/>
            <a:ext cx="8294400" cy="1140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11" name="Google Shape;111;p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" y="0"/>
            <a:ext cx="1213058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3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" y="0"/>
            <a:ext cx="12130588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7" name="Google Shape;11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6276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4"/>
          <p:cNvSpPr txBox="1"/>
          <p:nvPr/>
        </p:nvSpPr>
        <p:spPr>
          <a:xfrm>
            <a:off x="982325" y="2919850"/>
            <a:ext cx="102273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66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8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punto de encuentro</a:t>
            </a:r>
            <a:endParaRPr b="1" i="0" sz="58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9" name="Google Shape;119;p4"/>
          <p:cNvSpPr txBox="1"/>
          <p:nvPr/>
        </p:nvSpPr>
        <p:spPr>
          <a:xfrm>
            <a:off x="2286000" y="4489964"/>
            <a:ext cx="76200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400" u="none" cap="none" strike="noStrike">
                <a:solidFill>
                  <a:srgbClr val="BFBFB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La pasión por el </a:t>
            </a:r>
            <a:r>
              <a:rPr lang="en-US" sz="4400">
                <a:solidFill>
                  <a:srgbClr val="BFBFB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deporte</a:t>
            </a:r>
            <a:endParaRPr sz="22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20" name="Google Shape;120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24500" y="1099524"/>
            <a:ext cx="1143000" cy="114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h6614320cb80fea18_0_582"/>
          <p:cNvSpPr txBox="1"/>
          <p:nvPr/>
        </p:nvSpPr>
        <p:spPr>
          <a:xfrm>
            <a:off x="762000" y="428625"/>
            <a:ext cx="10784100" cy="1381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Los clubes pierden plata en</a:t>
            </a:r>
            <a:endParaRPr b="1" sz="1800">
              <a:solidFill>
                <a:srgbClr val="E11D4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26" name="Google Shape;126;h6614320cb80fea18_0_582"/>
          <p:cNvGrpSpPr/>
          <p:nvPr/>
        </p:nvGrpSpPr>
        <p:grpSpPr>
          <a:xfrm>
            <a:off x="762000" y="1371700"/>
            <a:ext cx="3333900" cy="4819650"/>
            <a:chOff x="0" y="0"/>
            <a:chExt cx="3333900" cy="4191000"/>
          </a:xfrm>
        </p:grpSpPr>
        <p:sp>
          <p:nvSpPr>
            <p:cNvPr id="127" name="Google Shape;127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money_off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01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Morosidad no detectada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t/>
              </a:r>
              <a:endParaRPr sz="19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30" name="Google Shape;130;h6614320cb80fea18_0_582"/>
          <p:cNvGrpSpPr/>
          <p:nvPr/>
        </p:nvGrpSpPr>
        <p:grpSpPr>
          <a:xfrm>
            <a:off x="4429125" y="1371600"/>
            <a:ext cx="3333900" cy="4819650"/>
            <a:chOff x="0" y="0"/>
            <a:chExt cx="3333900" cy="4191000"/>
          </a:xfrm>
        </p:grpSpPr>
        <p:sp>
          <p:nvSpPr>
            <p:cNvPr id="131" name="Google Shape;131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02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Fraude perimetral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1000"/>
                </a:spcAft>
                <a:buNone/>
              </a:pPr>
              <a:r>
                <a:t/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134" name="Google Shape;134;h6614320cb80fea18_0_582"/>
          <p:cNvGrpSpPr/>
          <p:nvPr/>
        </p:nvGrpSpPr>
        <p:grpSpPr>
          <a:xfrm>
            <a:off x="8096250" y="1371700"/>
            <a:ext cx="3333900" cy="4819650"/>
            <a:chOff x="0" y="0"/>
            <a:chExt cx="3333900" cy="4191000"/>
          </a:xfrm>
        </p:grpSpPr>
        <p:sp>
          <p:nvSpPr>
            <p:cNvPr id="135" name="Google Shape;135;h6614320cb80fea18_0_582"/>
            <p:cNvSpPr/>
            <p:nvPr/>
          </p:nvSpPr>
          <p:spPr>
            <a:xfrm>
              <a:off x="0" y="0"/>
              <a:ext cx="3333900" cy="4191000"/>
            </a:xfrm>
            <a:prstGeom prst="roundRect">
              <a:avLst>
                <a:gd fmla="val 4570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h6614320cb80fea18_0_582"/>
            <p:cNvSpPr/>
            <p:nvPr/>
          </p:nvSpPr>
          <p:spPr>
            <a:xfrm>
              <a:off x="0" y="0"/>
              <a:ext cx="3333900" cy="38100"/>
            </a:xfrm>
            <a:prstGeom prst="roundRect">
              <a:avLst>
                <a:gd fmla="val 50000" name="adj"/>
              </a:avLst>
            </a:prstGeom>
            <a:solidFill>
              <a:srgbClr val="E11D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h6614320cb80fea18_0_582"/>
            <p:cNvSpPr txBox="1"/>
            <p:nvPr/>
          </p:nvSpPr>
          <p:spPr>
            <a:xfrm>
              <a:off x="285750" y="285750"/>
              <a:ext cx="2762400" cy="3619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800">
                  <a:solidFill>
                    <a:srgbClr val="E11D48"/>
                  </a:solidFill>
                  <a:highlight>
                    <a:srgbClr val="FFE4E6"/>
                  </a:highlight>
                  <a:latin typeface="Material Icons"/>
                  <a:ea typeface="Material Icons"/>
                  <a:cs typeface="Material Icons"/>
                  <a:sym typeface="Material Icons"/>
                </a:rPr>
                <a:t>domain_disabled</a:t>
              </a:r>
              <a:r>
                <a:rPr b="0" lang="en-US" sz="2800">
                  <a:solidFill>
                    <a:srgbClr val="E11D48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 </a:t>
              </a:r>
              <a:r>
                <a:rPr b="0" lang="en-US" sz="2200">
                  <a:solidFill>
                    <a:srgbClr val="E11D4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03</a:t>
              </a:r>
              <a:endParaRPr b="0" sz="28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6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Activos subutilizados</a:t>
              </a:r>
              <a:endParaRPr b="0" sz="3500">
                <a:solidFill>
                  <a:srgbClr val="E11D4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indent="0" lvl="0" marL="0" rtl="0" algn="l">
                <a:spcBef>
                  <a:spcPts val="1400"/>
                </a:spcBef>
                <a:spcAft>
                  <a:spcPts val="0"/>
                </a:spcAft>
                <a:buNone/>
              </a:pPr>
              <a:r>
                <a:t/>
              </a:r>
              <a:endParaRPr sz="2000">
                <a:solidFill>
                  <a:srgbClr val="E11D48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38" name="Google Shape;138;h6614320cb80fea18_0_58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8050" y="3283550"/>
            <a:ext cx="2896050" cy="2821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h6614320cb80fea18_0_582"/>
          <p:cNvPicPr preferRelativeResize="0"/>
          <p:nvPr/>
        </p:nvPicPr>
        <p:blipFill rotWithShape="1">
          <a:blip r:embed="rId5">
            <a:alphaModFix/>
          </a:blip>
          <a:srcRect b="4073" l="13023" r="24368" t="9264"/>
          <a:stretch/>
        </p:blipFill>
        <p:spPr>
          <a:xfrm>
            <a:off x="980925" y="3356275"/>
            <a:ext cx="2896050" cy="2675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h6614320cb80fea18_0_582"/>
          <p:cNvPicPr preferRelativeResize="0"/>
          <p:nvPr/>
        </p:nvPicPr>
        <p:blipFill rotWithShape="1">
          <a:blip r:embed="rId6">
            <a:alphaModFix/>
          </a:blip>
          <a:srcRect b="24024" l="0" r="0" t="0"/>
          <a:stretch/>
        </p:blipFill>
        <p:spPr>
          <a:xfrm>
            <a:off x="8315175" y="3319913"/>
            <a:ext cx="2896050" cy="2748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5" name="Google Shape;14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5177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6"/>
          <p:cNvSpPr txBox="1"/>
          <p:nvPr/>
        </p:nvSpPr>
        <p:spPr>
          <a:xfrm>
            <a:off x="571500" y="924588"/>
            <a:ext cx="5238900" cy="44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8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 "No te avientes a hacer algo sin validarlo antes, sin saber que hay un mercado para ello." </a:t>
            </a:r>
            <a:endParaRPr/>
          </a:p>
        </p:txBody>
      </p:sp>
      <p:sp>
        <p:nvSpPr>
          <p:cNvPr id="147" name="Google Shape;147;p6"/>
          <p:cNvSpPr txBox="1"/>
          <p:nvPr/>
        </p:nvSpPr>
        <p:spPr>
          <a:xfrm>
            <a:off x="571500" y="5773809"/>
            <a:ext cx="3164758" cy="3159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F5F5F5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MARCUS DANTUS</a:t>
            </a:r>
            <a:endParaRPr/>
          </a:p>
        </p:txBody>
      </p:sp>
      <p:pic>
        <p:nvPicPr>
          <p:cNvPr id="148" name="Google Shape;148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67716" y="-71949"/>
            <a:ext cx="4980730" cy="70018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" name="Google Shape;153;h6614320cb80fea18_0_932"/>
          <p:cNvGrpSpPr/>
          <p:nvPr/>
        </p:nvGrpSpPr>
        <p:grpSpPr>
          <a:xfrm>
            <a:off x="762000" y="1619250"/>
            <a:ext cx="10668000" cy="1428900"/>
            <a:chOff x="762000" y="4857750"/>
            <a:chExt cx="10668000" cy="1428900"/>
          </a:xfrm>
        </p:grpSpPr>
        <p:grpSp>
          <p:nvGrpSpPr>
            <p:cNvPr id="154" name="Google Shape;154;h6614320cb80fea18_0_932"/>
            <p:cNvGrpSpPr/>
            <p:nvPr/>
          </p:nvGrpSpPr>
          <p:grpSpPr>
            <a:xfrm>
              <a:off x="762000" y="4857750"/>
              <a:ext cx="10668000" cy="1428900"/>
              <a:chOff x="762000" y="4857750"/>
              <a:chExt cx="10668000" cy="1428900"/>
            </a:xfrm>
          </p:grpSpPr>
          <p:sp>
            <p:nvSpPr>
              <p:cNvPr id="155" name="Google Shape;155;h6614320cb80fea18_0_932"/>
              <p:cNvSpPr/>
              <p:nvPr/>
            </p:nvSpPr>
            <p:spPr>
              <a:xfrm>
                <a:off x="762000" y="4857750"/>
                <a:ext cx="10668000" cy="1428900"/>
              </a:xfrm>
              <a:prstGeom prst="roundRect">
                <a:avLst>
                  <a:gd fmla="val 10666" name="adj"/>
                </a:avLst>
              </a:prstGeom>
              <a:solidFill>
                <a:srgbClr val="F8FAFC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h6614320cb80fea18_0_932"/>
              <p:cNvSpPr/>
              <p:nvPr/>
            </p:nvSpPr>
            <p:spPr>
              <a:xfrm>
                <a:off x="762000" y="4857750"/>
                <a:ext cx="76200" cy="1428900"/>
              </a:xfrm>
              <a:prstGeom prst="roundRect">
                <a:avLst>
                  <a:gd fmla="val 50000" name="adj"/>
                </a:avLst>
              </a:prstGeom>
              <a:solidFill>
                <a:srgbClr val="059669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h6614320cb80fea18_0_932"/>
              <p:cNvSpPr txBox="1"/>
              <p:nvPr/>
            </p:nvSpPr>
            <p:spPr>
              <a:xfrm>
                <a:off x="2218650" y="5000700"/>
                <a:ext cx="3867000" cy="114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3400">
                    <a:solidFill>
                      <a:srgbClr val="0F172A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Liga Profesional</a:t>
                </a:r>
                <a:endParaRPr b="1" sz="34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58" name="Google Shape;158;h6614320cb80fea18_0_932"/>
              <p:cNvSpPr txBox="1"/>
              <p:nvPr/>
            </p:nvSpPr>
            <p:spPr>
              <a:xfrm>
                <a:off x="6353475" y="5000700"/>
                <a:ext cx="4502100" cy="1143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400"/>
                  </a:spcAft>
                  <a:buNone/>
                </a:pPr>
                <a:r>
                  <a:rPr lang="en-US" sz="3000">
                    <a:solidFill>
                      <a:srgbClr val="334155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• Instituciones de élite</a:t>
                </a:r>
                <a:endParaRPr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59" name="Google Shape;159;h6614320cb80fea18_0_932"/>
            <p:cNvSpPr txBox="1"/>
            <p:nvPr/>
          </p:nvSpPr>
          <p:spPr>
            <a:xfrm>
              <a:off x="998225" y="5000700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3</a:t>
              </a:r>
              <a:r>
                <a:rPr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0</a:t>
              </a: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 </a:t>
              </a:r>
              <a:r>
                <a:rPr b="1" lang="en-US" sz="2000">
                  <a:solidFill>
                    <a:srgbClr val="0596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59669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</p:grpSp>
      <p:grpSp>
        <p:nvGrpSpPr>
          <p:cNvPr id="160" name="Google Shape;160;h6614320cb80fea18_0_932"/>
          <p:cNvGrpSpPr/>
          <p:nvPr/>
        </p:nvGrpSpPr>
        <p:grpSpPr>
          <a:xfrm>
            <a:off x="762000" y="4857750"/>
            <a:ext cx="10668000" cy="1428900"/>
            <a:chOff x="0" y="0"/>
            <a:chExt cx="10668000" cy="1428900"/>
          </a:xfrm>
        </p:grpSpPr>
        <p:sp>
          <p:nvSpPr>
            <p:cNvPr id="161" name="Google Shape;161;h6614320cb80fea18_0_932"/>
            <p:cNvSpPr/>
            <p:nvPr/>
          </p:nvSpPr>
          <p:spPr>
            <a:xfrm>
              <a:off x="0" y="0"/>
              <a:ext cx="10668000" cy="1428900"/>
            </a:xfrm>
            <a:prstGeom prst="roundRect">
              <a:avLst>
                <a:gd fmla="val 106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h6614320cb80fea18_0_932"/>
            <p:cNvSpPr/>
            <p:nvPr/>
          </p:nvSpPr>
          <p:spPr>
            <a:xfrm>
              <a:off x="0" y="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0284C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h6614320cb80fea18_0_932"/>
            <p:cNvSpPr txBox="1"/>
            <p:nvPr/>
          </p:nvSpPr>
          <p:spPr>
            <a:xfrm>
              <a:off x="285750" y="142875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87 </a:t>
              </a:r>
              <a:r>
                <a:rPr b="1" lang="en-US" sz="2000">
                  <a:solidFill>
                    <a:srgbClr val="0284C7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164" name="Google Shape;164;h6614320cb80fea18_0_932"/>
            <p:cNvSpPr txBox="1"/>
            <p:nvPr/>
          </p:nvSpPr>
          <p:spPr>
            <a:xfrm>
              <a:off x="1411050" y="142875"/>
              <a:ext cx="44172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4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Ascenso e Interior</a:t>
              </a:r>
              <a:endParaRPr b="1" sz="3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65" name="Google Shape;165;h6614320cb80fea18_0_932"/>
            <p:cNvSpPr txBox="1"/>
            <p:nvPr/>
          </p:nvSpPr>
          <p:spPr>
            <a:xfrm>
              <a:off x="5616150" y="142875"/>
              <a:ext cx="46131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Oportunidad clave de </a:t>
              </a:r>
              <a:b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masificación </a:t>
              </a:r>
              <a:endParaRPr sz="3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66" name="Google Shape;166;h6614320cb80fea18_0_932"/>
          <p:cNvSpPr txBox="1"/>
          <p:nvPr/>
        </p:nvSpPr>
        <p:spPr>
          <a:xfrm>
            <a:off x="762000" y="428625"/>
            <a:ext cx="10668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57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 universo desatendido</a:t>
            </a:r>
            <a:endParaRPr b="0" sz="357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53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Más de 2 millones de socios en 153 instituciones deportivas</a:t>
            </a:r>
            <a:endParaRPr b="1" sz="253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67" name="Google Shape;167;h6614320cb80fea18_0_932"/>
          <p:cNvGrpSpPr/>
          <p:nvPr/>
        </p:nvGrpSpPr>
        <p:grpSpPr>
          <a:xfrm>
            <a:off x="762000" y="3238500"/>
            <a:ext cx="10668000" cy="1428900"/>
            <a:chOff x="762000" y="3238500"/>
            <a:chExt cx="10668000" cy="1428900"/>
          </a:xfrm>
        </p:grpSpPr>
        <p:sp>
          <p:nvSpPr>
            <p:cNvPr id="168" name="Google Shape;168;h6614320cb80fea18_0_932"/>
            <p:cNvSpPr/>
            <p:nvPr/>
          </p:nvSpPr>
          <p:spPr>
            <a:xfrm>
              <a:off x="762000" y="3238500"/>
              <a:ext cx="10668000" cy="1428900"/>
            </a:xfrm>
            <a:prstGeom prst="roundRect">
              <a:avLst>
                <a:gd fmla="val 10666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h6614320cb80fea18_0_932"/>
            <p:cNvSpPr/>
            <p:nvPr/>
          </p:nvSpPr>
          <p:spPr>
            <a:xfrm>
              <a:off x="762000" y="3238500"/>
              <a:ext cx="76200" cy="1428900"/>
            </a:xfrm>
            <a:prstGeom prst="roundRect">
              <a:avLst>
                <a:gd fmla="val 50000" name="adj"/>
              </a:avLst>
            </a:prstGeom>
            <a:solidFill>
              <a:srgbClr val="D9770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h6614320cb80fea18_0_932"/>
            <p:cNvSpPr txBox="1"/>
            <p:nvPr/>
          </p:nvSpPr>
          <p:spPr>
            <a:xfrm>
              <a:off x="1047750" y="3381375"/>
              <a:ext cx="1125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0F172A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36 </a:t>
              </a:r>
              <a:r>
                <a:rPr b="1" lang="en-US" sz="2000">
                  <a:solidFill>
                    <a:srgbClr val="D97706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CLUBES</a:t>
              </a:r>
              <a:endParaRPr b="0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171" name="Google Shape;171;h6614320cb80fea18_0_932"/>
            <p:cNvSpPr txBox="1"/>
            <p:nvPr/>
          </p:nvSpPr>
          <p:spPr>
            <a:xfrm>
              <a:off x="2173050" y="3381450"/>
              <a:ext cx="43926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4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Primera Nacional</a:t>
              </a:r>
              <a:endParaRPr b="1" sz="34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72" name="Google Shape;172;h6614320cb80fea18_0_932"/>
            <p:cNvSpPr txBox="1"/>
            <p:nvPr/>
          </p:nvSpPr>
          <p:spPr>
            <a:xfrm>
              <a:off x="6365825" y="3381450"/>
              <a:ext cx="49707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• Puente estratégico hacia</a:t>
              </a:r>
              <a:b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</a:br>
              <a:r>
                <a:rPr lang="en-US" sz="3000">
                  <a:solidFill>
                    <a:srgbClr val="334155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 la máxima categoría</a:t>
              </a:r>
              <a:endParaRPr sz="3000">
                <a:solidFill>
                  <a:srgbClr val="334155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73" name="Google Shape;173;h6614320cb80fea18_0_9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h5dcf4a5e61b7b943_0_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h5dcf4a5e61b7b943_0_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4" name="Google Shape;1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8"/>
          <p:cNvSpPr txBox="1"/>
          <p:nvPr/>
        </p:nvSpPr>
        <p:spPr>
          <a:xfrm>
            <a:off x="571500" y="571500"/>
            <a:ext cx="11601450" cy="5847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8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La brecha tecnológica</a:t>
            </a:r>
            <a:endParaRPr b="0" i="0" sz="4800" u="none" cap="none" strike="noStrike">
              <a:solidFill>
                <a:srgbClr val="F5F5F5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86" name="Google Shape;186;p8"/>
          <p:cNvSpPr txBox="1"/>
          <p:nvPr/>
        </p:nvSpPr>
        <p:spPr>
          <a:xfrm>
            <a:off x="571425" y="2325690"/>
            <a:ext cx="52389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0" u="none" cap="none" strike="noStrike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120+</a:t>
            </a: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571500" y="4408140"/>
            <a:ext cx="52389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Clubes ignorados que operan a ciegas</a:t>
            </a:r>
            <a:endParaRPr i="0" sz="4000" u="none" cap="none" strike="noStrike">
              <a:solidFill>
                <a:srgbClr val="F5F5F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381675" y="3792540"/>
            <a:ext cx="52389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4000" u="none" cap="none" strike="noStrike">
                <a:solidFill>
                  <a:srgbClr val="F5F5F5"/>
                </a:solidFill>
                <a:latin typeface="Montserrat"/>
                <a:ea typeface="Montserrat"/>
                <a:cs typeface="Montserrat"/>
                <a:sym typeface="Montserrat"/>
              </a:rPr>
              <a:t>El competidor principal solo abarca a ~25 instituciones de la élite.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image.png" id="189" name="Google Shape;189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675" y="1887540"/>
            <a:ext cx="5238750" cy="1714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h6614320cb80fea18_0_98"/>
          <p:cNvSpPr/>
          <p:nvPr/>
        </p:nvSpPr>
        <p:spPr>
          <a:xfrm>
            <a:off x="6096000" y="4286250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0F9FF"/>
          </a:solidFill>
          <a:ln cap="flat" cmpd="sng" w="14300">
            <a:solidFill>
              <a:srgbClr val="C7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h6614320cb80fea18_0_98"/>
          <p:cNvSpPr txBox="1"/>
          <p:nvPr/>
        </p:nvSpPr>
        <p:spPr>
          <a:xfrm>
            <a:off x="762000" y="428625"/>
            <a:ext cx="106680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0284C7"/>
                </a:solidFill>
                <a:latin typeface="Montserrat"/>
                <a:ea typeface="Montserrat"/>
                <a:cs typeface="Montserrat"/>
                <a:sym typeface="Montserrat"/>
              </a:rPr>
              <a:t>Directo en el territorio</a:t>
            </a:r>
            <a:endParaRPr b="1" sz="2200">
              <a:solidFill>
                <a:srgbClr val="0284C7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Validación empírica</a:t>
            </a:r>
            <a:endParaRPr b="0" sz="42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196" name="Google Shape;196;h6614320cb80fea18_0_98"/>
          <p:cNvGrpSpPr/>
          <p:nvPr/>
        </p:nvGrpSpPr>
        <p:grpSpPr>
          <a:xfrm>
            <a:off x="762000" y="1666875"/>
            <a:ext cx="4953000" cy="4572000"/>
            <a:chOff x="0" y="0"/>
            <a:chExt cx="4953000" cy="4572000"/>
          </a:xfrm>
        </p:grpSpPr>
        <p:sp>
          <p:nvSpPr>
            <p:cNvPr id="197" name="Google Shape;197;h6614320cb80fea18_0_98"/>
            <p:cNvSpPr/>
            <p:nvPr/>
          </p:nvSpPr>
          <p:spPr>
            <a:xfrm>
              <a:off x="0" y="0"/>
              <a:ext cx="4953000" cy="4572000"/>
            </a:xfrm>
            <a:prstGeom prst="roundRect">
              <a:avLst>
                <a:gd fmla="val 5000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h6614320cb80fea18_0_98"/>
            <p:cNvSpPr txBox="1"/>
            <p:nvPr/>
          </p:nvSpPr>
          <p:spPr>
            <a:xfrm>
              <a:off x="381000" y="3048000"/>
              <a:ext cx="4191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800">
                  <a:solidFill>
                    <a:srgbClr val="1E293B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Llevamos el MVP al terreno</a:t>
              </a:r>
              <a:endParaRPr b="0" sz="3800">
                <a:solidFill>
                  <a:srgbClr val="1E293B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199" name="Google Shape;199;h6614320cb80fea18_0_98"/>
          <p:cNvSpPr/>
          <p:nvPr/>
        </p:nvSpPr>
        <p:spPr>
          <a:xfrm>
            <a:off x="6096000" y="2190750"/>
            <a:ext cx="5334000" cy="1572900"/>
          </a:xfrm>
          <a:prstGeom prst="roundRect">
            <a:avLst>
              <a:gd fmla="val 10256" name="adj"/>
            </a:avLst>
          </a:prstGeom>
          <a:solidFill>
            <a:srgbClr val="FEF2F2"/>
          </a:solidFill>
          <a:ln cap="flat" cmpd="sng" w="14300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h6614320cb80fea18_0_98"/>
          <p:cNvSpPr txBox="1"/>
          <p:nvPr/>
        </p:nvSpPr>
        <p:spPr>
          <a:xfrm>
            <a:off x="6096000" y="1666875"/>
            <a:ext cx="53340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3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Resultado:</a:t>
            </a:r>
            <a:endParaRPr b="0" sz="33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01" name="Google Shape;201;h6614320cb80fea18_0_98"/>
          <p:cNvSpPr/>
          <p:nvPr/>
        </p:nvSpPr>
        <p:spPr>
          <a:xfrm>
            <a:off x="6096000" y="2190750"/>
            <a:ext cx="95400" cy="1572900"/>
          </a:xfrm>
          <a:prstGeom prst="roundRect">
            <a:avLst>
              <a:gd fmla="val 50000" name="adj"/>
            </a:avLst>
          </a:prstGeom>
          <a:solidFill>
            <a:srgbClr val="EF444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h6614320cb80fea18_0_98"/>
          <p:cNvSpPr/>
          <p:nvPr/>
        </p:nvSpPr>
        <p:spPr>
          <a:xfrm>
            <a:off x="6502450" y="2587650"/>
            <a:ext cx="815700" cy="779100"/>
          </a:xfrm>
          <a:prstGeom prst="ellipse">
            <a:avLst/>
          </a:prstGeom>
          <a:solidFill>
            <a:srgbClr val="EF4444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h6614320cb80fea18_0_98"/>
          <p:cNvSpPr txBox="1"/>
          <p:nvPr/>
        </p:nvSpPr>
        <p:spPr>
          <a:xfrm>
            <a:off x="6486525" y="2581275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DC2626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check_circle</a:t>
            </a:r>
            <a:endParaRPr/>
          </a:p>
        </p:txBody>
      </p:sp>
      <p:sp>
        <p:nvSpPr>
          <p:cNvPr id="204" name="Google Shape;204;h6614320cb80fea18_0_98"/>
          <p:cNvSpPr txBox="1"/>
          <p:nvPr/>
        </p:nvSpPr>
        <p:spPr>
          <a:xfrm>
            <a:off x="7408551" y="2477100"/>
            <a:ext cx="3829500" cy="10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Confirmación de los p</a:t>
            </a:r>
            <a:r>
              <a:rPr b="1" lang="en-US" sz="2800">
                <a:solidFill>
                  <a:srgbClr val="991B1B"/>
                </a:solidFill>
                <a:latin typeface="Montserrat"/>
                <a:ea typeface="Montserrat"/>
                <a:cs typeface="Montserrat"/>
                <a:sym typeface="Montserrat"/>
              </a:rPr>
              <a:t>untos de dolor institucionales</a:t>
            </a:r>
            <a:endParaRPr sz="24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5" name="Google Shape;205;h6614320cb80fea18_0_98"/>
          <p:cNvSpPr/>
          <p:nvPr/>
        </p:nvSpPr>
        <p:spPr>
          <a:xfrm>
            <a:off x="6096000" y="4286250"/>
            <a:ext cx="136800" cy="1572900"/>
          </a:xfrm>
          <a:prstGeom prst="roundRect">
            <a:avLst>
              <a:gd fmla="val 50000" name="adj"/>
            </a:avLst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h6614320cb80fea18_0_98"/>
          <p:cNvSpPr txBox="1"/>
          <p:nvPr/>
        </p:nvSpPr>
        <p:spPr>
          <a:xfrm>
            <a:off x="6486525" y="4676775"/>
            <a:ext cx="2667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284C7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ouch_app</a:t>
            </a:r>
            <a:endParaRPr/>
          </a:p>
        </p:txBody>
      </p:sp>
      <p:sp>
        <p:nvSpPr>
          <p:cNvPr id="207" name="Google Shape;207;h6614320cb80fea18_0_98"/>
          <p:cNvSpPr txBox="1"/>
          <p:nvPr/>
        </p:nvSpPr>
        <p:spPr>
          <a:xfrm>
            <a:off x="7408550" y="4429800"/>
            <a:ext cx="40959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75985"/>
                </a:solidFill>
                <a:latin typeface="Montserrat"/>
                <a:ea typeface="Montserrat"/>
                <a:cs typeface="Montserrat"/>
                <a:sym typeface="Montserrat"/>
              </a:rPr>
              <a:t>Refinamiento </a:t>
            </a:r>
            <a:r>
              <a:rPr b="1" lang="en-US" sz="2800">
                <a:solidFill>
                  <a:srgbClr val="075985"/>
                </a:solidFill>
                <a:latin typeface="Montserrat"/>
                <a:ea typeface="Montserrat"/>
                <a:cs typeface="Montserrat"/>
                <a:sym typeface="Montserrat"/>
              </a:rPr>
              <a:t>UX / UI para minimizar la curva de aprendizaje</a:t>
            </a:r>
            <a:endParaRPr sz="2800">
              <a:solidFill>
                <a:srgbClr val="475569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8" name="Google Shape;208;h6614320cb80fea18_0_98"/>
          <p:cNvSpPr/>
          <p:nvPr/>
        </p:nvSpPr>
        <p:spPr>
          <a:xfrm>
            <a:off x="6502450" y="4683150"/>
            <a:ext cx="815700" cy="779100"/>
          </a:xfrm>
          <a:prstGeom prst="ellipse">
            <a:avLst/>
          </a:prstGeom>
          <a:solidFill>
            <a:srgbClr val="C7EAF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9" name="Google Shape;209;h6614320cb80fea18_0_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44750" y="1830625"/>
            <a:ext cx="2366075" cy="281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h6614320cb80fea18_0_98"/>
          <p:cNvPicPr preferRelativeResize="0"/>
          <p:nvPr/>
        </p:nvPicPr>
        <p:blipFill rotWithShape="1">
          <a:blip r:embed="rId5">
            <a:alphaModFix/>
          </a:blip>
          <a:srcRect b="6535" l="0" r="0" t="6334"/>
          <a:stretch/>
        </p:blipFill>
        <p:spPr>
          <a:xfrm>
            <a:off x="3472475" y="1926750"/>
            <a:ext cx="2139074" cy="2627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h31d256953cabf977_1_1"/>
          <p:cNvSpPr/>
          <p:nvPr/>
        </p:nvSpPr>
        <p:spPr>
          <a:xfrm>
            <a:off x="6026150" y="0"/>
            <a:ext cx="6165900" cy="68580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h31d256953cabf977_1_1" title="Macbook-Air-web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8025" y="2392200"/>
            <a:ext cx="5600159" cy="32211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h31d256953cabf977_1_1" title="Macbook-Air-web.sociounido.com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3400" y="2342947"/>
            <a:ext cx="5771402" cy="3319704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h31d256953cabf977_1_1"/>
          <p:cNvSpPr txBox="1"/>
          <p:nvPr/>
        </p:nvSpPr>
        <p:spPr>
          <a:xfrm>
            <a:off x="571500" y="571500"/>
            <a:ext cx="11601600" cy="6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 INTERFACES 				</a:t>
            </a:r>
            <a:r>
              <a:rPr lang="en-US" sz="48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INTEGRADAS</a:t>
            </a:r>
            <a:endParaRPr b="0" i="0" sz="48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19" name="Google Shape;219;h31d256953cabf977_1_1"/>
          <p:cNvSpPr txBox="1"/>
          <p:nvPr/>
        </p:nvSpPr>
        <p:spPr>
          <a:xfrm>
            <a:off x="132400" y="5973550"/>
            <a:ext cx="5771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rgbClr val="F5F5F5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WEB ADMIN - MODO CLARO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20" name="Google Shape;220;h31d256953cabf977_1_1"/>
          <p:cNvSpPr txBox="1"/>
          <p:nvPr/>
        </p:nvSpPr>
        <p:spPr>
          <a:xfrm>
            <a:off x="6288175" y="5973550"/>
            <a:ext cx="57714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WEB ADMIN - MODO OSCURO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h105005292c05e9d_1_20"/>
          <p:cNvSpPr/>
          <p:nvPr/>
        </p:nvSpPr>
        <p:spPr>
          <a:xfrm>
            <a:off x="0" y="0"/>
            <a:ext cx="4065300" cy="6858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h105005292c05e9d_1_20"/>
          <p:cNvSpPr/>
          <p:nvPr/>
        </p:nvSpPr>
        <p:spPr>
          <a:xfrm>
            <a:off x="8130700" y="0"/>
            <a:ext cx="4065300" cy="6858000"/>
          </a:xfrm>
          <a:prstGeom prst="rect">
            <a:avLst/>
          </a:prstGeom>
          <a:solidFill>
            <a:srgbClr val="F5F5F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h105005292c05e9d_1_20"/>
          <p:cNvSpPr/>
          <p:nvPr/>
        </p:nvSpPr>
        <p:spPr>
          <a:xfrm>
            <a:off x="4065400" y="0"/>
            <a:ext cx="4089000" cy="68580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8" name="Google Shape;228;h105005292c05e9d_1_20" title="iPhone-14-PRO-app.sociounido.co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85940" y="1457725"/>
            <a:ext cx="2155476" cy="43925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h105005292c05e9d_1_20" title="Google-Pixel-6-PRO-control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5525" y="2197419"/>
            <a:ext cx="2020312" cy="4392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h105005292c05e9d_1_20" title="Google-Pixel-6-PRO-control.sociounido.c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23971" y="2237793"/>
            <a:ext cx="2085412" cy="4534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97704" l="95661" r="0" t="0"/>
          <a:stretch/>
        </p:blipFill>
        <p:spPr>
          <a:xfrm>
            <a:off x="11118905" y="2237794"/>
            <a:ext cx="90478" cy="1040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98016" l="0" r="0" t="0"/>
          <a:stretch/>
        </p:blipFill>
        <p:spPr>
          <a:xfrm>
            <a:off x="9123970" y="2244860"/>
            <a:ext cx="2085413" cy="89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0" l="0" r="97495" t="2229"/>
          <a:stretch/>
        </p:blipFill>
        <p:spPr>
          <a:xfrm rot="10800000">
            <a:off x="11109999" y="2197424"/>
            <a:ext cx="88851" cy="4461776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h105005292c05e9d_1_20"/>
          <p:cNvSpPr txBox="1"/>
          <p:nvPr/>
        </p:nvSpPr>
        <p:spPr>
          <a:xfrm>
            <a:off x="1673225" y="551975"/>
            <a:ext cx="8382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4</a:t>
            </a:r>
            <a:r>
              <a:rPr lang="en-US" sz="4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i="0" sz="4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5" name="Google Shape;235;h105005292c05e9d_1_20"/>
          <p:cNvSpPr txBox="1"/>
          <p:nvPr/>
        </p:nvSpPr>
        <p:spPr>
          <a:xfrm>
            <a:off x="4063350" y="586625"/>
            <a:ext cx="4065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F2F2F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INTERFACES</a:t>
            </a:r>
            <a:endParaRPr b="0" i="0" sz="4000" u="none" cap="none" strike="noStrike">
              <a:solidFill>
                <a:srgbClr val="F2F2F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6" name="Google Shape;236;h105005292c05e9d_1_20"/>
          <p:cNvSpPr txBox="1"/>
          <p:nvPr/>
        </p:nvSpPr>
        <p:spPr>
          <a:xfrm>
            <a:off x="8130700" y="586625"/>
            <a:ext cx="4065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INTEGRADAS</a:t>
            </a:r>
            <a:endParaRPr b="0" i="0" sz="40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7" name="Google Shape;237;h105005292c05e9d_1_20"/>
          <p:cNvSpPr txBox="1"/>
          <p:nvPr/>
        </p:nvSpPr>
        <p:spPr>
          <a:xfrm>
            <a:off x="95525" y="1726350"/>
            <a:ext cx="3993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CONTROL DE ACCESO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8" name="Google Shape;238;h105005292c05e9d_1_20"/>
          <p:cNvSpPr txBox="1"/>
          <p:nvPr/>
        </p:nvSpPr>
        <p:spPr>
          <a:xfrm>
            <a:off x="4019938" y="6167275"/>
            <a:ext cx="41799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2F2F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APLICACIÓN DE SOCIOS</a:t>
            </a:r>
            <a:endParaRPr b="0" i="0" sz="2200" u="none" cap="none" strike="noStrike">
              <a:solidFill>
                <a:srgbClr val="F2F2F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39" name="Google Shape;239;h105005292c05e9d_1_20"/>
          <p:cNvSpPr txBox="1"/>
          <p:nvPr/>
        </p:nvSpPr>
        <p:spPr>
          <a:xfrm>
            <a:off x="8169875" y="1726350"/>
            <a:ext cx="39936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BOTIN (TELEGRAM)</a:t>
            </a:r>
            <a:endParaRPr b="0" i="0" sz="2500" u="none" cap="none" strike="noStrike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240" name="Google Shape;240;h105005292c05e9d_1_20" title="Screenshot_20260924-220234.png"/>
          <p:cNvPicPr preferRelativeResize="0"/>
          <p:nvPr/>
        </p:nvPicPr>
        <p:blipFill rotWithShape="1">
          <a:blip r:embed="rId5">
            <a:alphaModFix/>
          </a:blip>
          <a:srcRect b="1784" l="0" r="0" t="6742"/>
          <a:stretch/>
        </p:blipFill>
        <p:spPr>
          <a:xfrm>
            <a:off x="9162825" y="2335075"/>
            <a:ext cx="1966650" cy="427082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h105005292c05e9d_1_20" title="Google-Pixel-6-PRO-control.sociounido.com.png"/>
          <p:cNvPicPr preferRelativeResize="0"/>
          <p:nvPr/>
        </p:nvPicPr>
        <p:blipFill rotWithShape="1">
          <a:blip r:embed="rId4">
            <a:alphaModFix/>
          </a:blip>
          <a:srcRect b="0" l="0" r="97495" t="0"/>
          <a:stretch/>
        </p:blipFill>
        <p:spPr>
          <a:xfrm>
            <a:off x="9124450" y="2237800"/>
            <a:ext cx="79524" cy="4513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6" name="Google Shape;24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45609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11"/>
          <p:cNvSpPr txBox="1"/>
          <p:nvPr/>
        </p:nvSpPr>
        <p:spPr>
          <a:xfrm>
            <a:off x="501450" y="427949"/>
            <a:ext cx="5238900" cy="52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4200" u="none" cap="none" strike="noStrik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"A team is a business at the end of the day, and the organizations must continue evolving digitally to remain competitive, both on the field and off." </a:t>
            </a:r>
            <a:endParaRPr sz="800"/>
          </a:p>
        </p:txBody>
      </p:sp>
      <p:sp>
        <p:nvSpPr>
          <p:cNvPr id="248" name="Google Shape;248;p11"/>
          <p:cNvSpPr txBox="1"/>
          <p:nvPr/>
        </p:nvSpPr>
        <p:spPr>
          <a:xfrm>
            <a:off x="571500" y="6299350"/>
            <a:ext cx="61722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8035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11111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DREW CRISP (LIVERPOOL FC)</a:t>
            </a:r>
            <a:endParaRPr/>
          </a:p>
        </p:txBody>
      </p:sp>
      <p:pic>
        <p:nvPicPr>
          <p:cNvPr id="249" name="Google Shape;24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63476" y="-131438"/>
            <a:ext cx="5528350" cy="620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4" name="Google Shape;254;p12"/>
          <p:cNvGrpSpPr/>
          <p:nvPr/>
        </p:nvGrpSpPr>
        <p:grpSpPr>
          <a:xfrm>
            <a:off x="571500" y="1524000"/>
            <a:ext cx="11049000" cy="4476750"/>
            <a:chOff x="571500" y="1524000"/>
            <a:chExt cx="11049000" cy="4476750"/>
          </a:xfrm>
        </p:grpSpPr>
        <p:grpSp>
          <p:nvGrpSpPr>
            <p:cNvPr id="255" name="Google Shape;255;p12"/>
            <p:cNvGrpSpPr/>
            <p:nvPr/>
          </p:nvGrpSpPr>
          <p:grpSpPr>
            <a:xfrm>
              <a:off x="571500" y="1524000"/>
              <a:ext cx="5334000" cy="2095500"/>
              <a:chOff x="0" y="0"/>
              <a:chExt cx="5334000" cy="2095500"/>
            </a:xfrm>
          </p:grpSpPr>
          <p:sp>
            <p:nvSpPr>
              <p:cNvPr id="256" name="Google Shape;256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8BD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0F2B4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8BD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sz="3200">
                  <a:solidFill>
                    <a:srgbClr val="38BD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59" name="Google Shape;259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8BD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01</a:t>
                </a:r>
                <a:endParaRPr b="0" i="0" sz="2380">
                  <a:solidFill>
                    <a:srgbClr val="38BD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60" name="Google Shape;260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Motor predictivo de morosidad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61" name="Google Shape;261;p12"/>
            <p:cNvGrpSpPr/>
            <p:nvPr/>
          </p:nvGrpSpPr>
          <p:grpSpPr>
            <a:xfrm>
              <a:off x="6286500" y="1524000"/>
              <a:ext cx="5334000" cy="2095500"/>
              <a:chOff x="0" y="0"/>
              <a:chExt cx="5334000" cy="2095500"/>
            </a:xfrm>
          </p:grpSpPr>
          <p:sp>
            <p:nvSpPr>
              <p:cNvPr id="262" name="Google Shape;262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818CF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3" name="Google Shape;263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20245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4" name="Google Shape;264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818CF8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account_balance</a:t>
                </a:r>
                <a:endParaRPr sz="3200">
                  <a:solidFill>
                    <a:srgbClr val="818C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65" name="Google Shape;265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818CF8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02</a:t>
                </a:r>
                <a:endParaRPr b="0" i="0" sz="2380">
                  <a:solidFill>
                    <a:srgbClr val="818CF8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66" name="Google Shape;266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Optimización de activos institucionales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67" name="Google Shape;267;p12"/>
            <p:cNvGrpSpPr/>
            <p:nvPr/>
          </p:nvGrpSpPr>
          <p:grpSpPr>
            <a:xfrm>
              <a:off x="571500" y="3905250"/>
              <a:ext cx="5334000" cy="2095500"/>
              <a:chOff x="0" y="0"/>
              <a:chExt cx="5334000" cy="2095500"/>
            </a:xfrm>
          </p:grpSpPr>
          <p:sp>
            <p:nvSpPr>
              <p:cNvPr id="268" name="Google Shape;268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F43F5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9" name="Google Shape;269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3D172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0" name="Google Shape;270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F43F5E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psychology</a:t>
                </a:r>
                <a:endParaRPr sz="3200">
                  <a:solidFill>
                    <a:srgbClr val="F43F5E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71" name="Google Shape;271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F43F5E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03</a:t>
                </a:r>
                <a:endParaRPr b="0" i="0" sz="2380">
                  <a:solidFill>
                    <a:srgbClr val="F43F5E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72" name="Google Shape;272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Interacción cognitiva sin fricción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273" name="Google Shape;273;p12"/>
            <p:cNvGrpSpPr/>
            <p:nvPr/>
          </p:nvGrpSpPr>
          <p:grpSpPr>
            <a:xfrm>
              <a:off x="6286500" y="3905250"/>
              <a:ext cx="5334000" cy="2095500"/>
              <a:chOff x="0" y="0"/>
              <a:chExt cx="5334000" cy="2095500"/>
            </a:xfrm>
          </p:grpSpPr>
          <p:sp>
            <p:nvSpPr>
              <p:cNvPr id="274" name="Google Shape;274;p12"/>
              <p:cNvSpPr/>
              <p:nvPr/>
            </p:nvSpPr>
            <p:spPr>
              <a:xfrm>
                <a:off x="0" y="0"/>
                <a:ext cx="5334000" cy="2095500"/>
              </a:xfrm>
              <a:prstGeom prst="roundRect">
                <a:avLst>
                  <a:gd fmla="val 7272" name="adj"/>
                </a:avLst>
              </a:prstGeom>
              <a:solidFill>
                <a:srgbClr val="181A20"/>
              </a:solidFill>
              <a:ln cap="flat" cmpd="sng" w="19050">
                <a:solidFill>
                  <a:srgbClr val="34D399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5" name="Google Shape;275;p12"/>
              <p:cNvSpPr/>
              <p:nvPr/>
            </p:nvSpPr>
            <p:spPr>
              <a:xfrm>
                <a:off x="304800" y="304800"/>
                <a:ext cx="571500" cy="571500"/>
              </a:xfrm>
              <a:prstGeom prst="roundRect">
                <a:avLst>
                  <a:gd fmla="val 20000" name="adj"/>
                </a:avLst>
              </a:prstGeom>
              <a:solidFill>
                <a:srgbClr val="11332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6" name="Google Shape;276;p12"/>
              <p:cNvSpPr txBox="1"/>
              <p:nvPr/>
            </p:nvSpPr>
            <p:spPr>
              <a:xfrm>
                <a:off x="304800" y="351536"/>
                <a:ext cx="571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200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phonelink_lock</a:t>
                </a:r>
                <a:endParaRPr sz="3200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277" name="Google Shape;277;p12"/>
              <p:cNvSpPr txBox="1"/>
              <p:nvPr/>
            </p:nvSpPr>
            <p:spPr>
              <a:xfrm>
                <a:off x="4286250" y="266700"/>
                <a:ext cx="7620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-US" sz="2380">
                    <a:solidFill>
                      <a:srgbClr val="34D399"/>
                    </a:solidFill>
                    <a:latin typeface="Montserrat ExtraBold"/>
                    <a:ea typeface="Montserrat ExtraBold"/>
                    <a:cs typeface="Montserrat ExtraBold"/>
                    <a:sym typeface="Montserrat ExtraBold"/>
                  </a:rPr>
                  <a:t>04</a:t>
                </a:r>
                <a:endParaRPr b="0" i="0" sz="2380">
                  <a:solidFill>
                    <a:srgbClr val="34D399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endParaRPr>
              </a:p>
            </p:txBody>
          </p:sp>
          <p:sp>
            <p:nvSpPr>
              <p:cNvPr id="278" name="Google Shape;278;p12"/>
              <p:cNvSpPr txBox="1"/>
              <p:nvPr/>
            </p:nvSpPr>
            <p:spPr>
              <a:xfrm>
                <a:off x="304800" y="1066800"/>
                <a:ext cx="4724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2800">
                    <a:solidFill>
                      <a:srgbClr val="FFFFFF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Acceso inteligente TOTP 100% offline</a:t>
                </a:r>
                <a:endParaRPr b="1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279" name="Google Shape;279;p12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Ejes de innovación y disrupción</a:t>
            </a:r>
            <a:endParaRPr b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4" name="Google Shape;2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075" y="0"/>
            <a:ext cx="12192000" cy="6917125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3"/>
          <p:cNvSpPr txBox="1"/>
          <p:nvPr/>
        </p:nvSpPr>
        <p:spPr>
          <a:xfrm>
            <a:off x="4312225" y="0"/>
            <a:ext cx="3605700" cy="52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800" u="none" cap="none" strike="noStrike">
                <a:solidFill>
                  <a:srgbClr val="166534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Arquitectura</a:t>
            </a:r>
            <a:endParaRPr b="0" i="0" sz="3800" u="none" cap="none" strike="noStrike">
              <a:solidFill>
                <a:srgbClr val="166534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/>
          <p:nvPr/>
        </p:nvSpPr>
        <p:spPr>
          <a:xfrm>
            <a:off x="571500" y="476250"/>
            <a:ext cx="11049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Atributos de calidad y resiliencia</a:t>
            </a:r>
            <a:endParaRPr b="0" i="0" sz="42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292" name="Google Shape;292;p14"/>
          <p:cNvGrpSpPr/>
          <p:nvPr/>
        </p:nvGrpSpPr>
        <p:grpSpPr>
          <a:xfrm>
            <a:off x="571500" y="1524000"/>
            <a:ext cx="5334000" cy="2095500"/>
            <a:chOff x="0" y="0"/>
            <a:chExt cx="5334000" cy="2095500"/>
          </a:xfrm>
        </p:grpSpPr>
        <p:sp>
          <p:nvSpPr>
            <p:cNvPr id="293" name="Google Shape;293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59E0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11F0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59E0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endParaRPr b="0" i="0" sz="3200" u="none" strike="noStrike">
                <a:solidFill>
                  <a:srgbClr val="F59E0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6" name="Google Shape;296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Seguridad (Zero-Trust)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297" name="Google Shape;297;p14"/>
          <p:cNvGrpSpPr/>
          <p:nvPr/>
        </p:nvGrpSpPr>
        <p:grpSpPr>
          <a:xfrm>
            <a:off x="6286500" y="1524000"/>
            <a:ext cx="5334000" cy="2095500"/>
            <a:chOff x="0" y="0"/>
            <a:chExt cx="5334000" cy="2095500"/>
          </a:xfrm>
        </p:grpSpPr>
        <p:sp>
          <p:nvSpPr>
            <p:cNvPr id="298" name="Google Shape;298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0833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" name="Google Shape;300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06B6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dns</a:t>
              </a:r>
              <a:endParaRPr b="0" i="0" sz="3200" u="none" strike="noStrike">
                <a:solidFill>
                  <a:srgbClr val="06B6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01" name="Google Shape;301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Escalabilidad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02" name="Google Shape;302;p14"/>
          <p:cNvGrpSpPr/>
          <p:nvPr/>
        </p:nvGrpSpPr>
        <p:grpSpPr>
          <a:xfrm>
            <a:off x="571500" y="3905250"/>
            <a:ext cx="5334000" cy="2095500"/>
            <a:chOff x="0" y="0"/>
            <a:chExt cx="5334000" cy="2095500"/>
          </a:xfrm>
        </p:grpSpPr>
        <p:sp>
          <p:nvSpPr>
            <p:cNvPr id="303" name="Google Shape;303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A855F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3B076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A855F7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speed</a:t>
              </a:r>
              <a:endParaRPr b="0" i="0" sz="3200" u="none" strike="noStrike">
                <a:solidFill>
                  <a:srgbClr val="A855F7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06" name="Google Shape;306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Rendimiento &amp; UX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07" name="Google Shape;307;p14"/>
          <p:cNvGrpSpPr/>
          <p:nvPr/>
        </p:nvGrpSpPr>
        <p:grpSpPr>
          <a:xfrm>
            <a:off x="6286500" y="3905250"/>
            <a:ext cx="5334000" cy="2095500"/>
            <a:chOff x="0" y="0"/>
            <a:chExt cx="5334000" cy="2095500"/>
          </a:xfrm>
        </p:grpSpPr>
        <p:sp>
          <p:nvSpPr>
            <p:cNvPr id="308" name="Google Shape;308;p14"/>
            <p:cNvSpPr/>
            <p:nvPr/>
          </p:nvSpPr>
          <p:spPr>
            <a:xfrm>
              <a:off x="0" y="0"/>
              <a:ext cx="5334000" cy="2095500"/>
            </a:xfrm>
            <a:prstGeom prst="roundRect">
              <a:avLst>
                <a:gd fmla="val 7272" name="adj"/>
              </a:avLst>
            </a:prstGeom>
            <a:solidFill>
              <a:srgbClr val="181A20"/>
            </a:solidFill>
            <a:ln cap="flat" cmpd="sng" w="19050">
              <a:solidFill>
                <a:srgbClr val="F9731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14"/>
            <p:cNvSpPr/>
            <p:nvPr/>
          </p:nvSpPr>
          <p:spPr>
            <a:xfrm>
              <a:off x="304800" y="304800"/>
              <a:ext cx="571500" cy="571500"/>
            </a:xfrm>
            <a:prstGeom prst="roundRect">
              <a:avLst>
                <a:gd fmla="val 20000" name="adj"/>
              </a:avLst>
            </a:prstGeom>
            <a:solidFill>
              <a:srgbClr val="43140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" name="Google Shape;310;p14"/>
            <p:cNvSpPr txBox="1"/>
            <p:nvPr/>
          </p:nvSpPr>
          <p:spPr>
            <a:xfrm>
              <a:off x="304800" y="398272"/>
              <a:ext cx="57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 u="none" strike="noStrike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hub</a:t>
              </a:r>
              <a:endParaRPr b="0" i="0" sz="3200" u="none" strike="noStrike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11" name="Google Shape;311;p14"/>
            <p:cNvSpPr txBox="1"/>
            <p:nvPr/>
          </p:nvSpPr>
          <p:spPr>
            <a:xfrm>
              <a:off x="304800" y="1066800"/>
              <a:ext cx="47244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Interoperabilidad</a:t>
              </a:r>
              <a:endParaRPr b="1" sz="28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h6614320cb80fea18_0_2092"/>
          <p:cNvSpPr txBox="1"/>
          <p:nvPr/>
        </p:nvSpPr>
        <p:spPr>
          <a:xfrm>
            <a:off x="571500" y="476250"/>
            <a:ext cx="110490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El lienzo Instituciona</a:t>
            </a:r>
            <a:r>
              <a:rPr lang="en-US" sz="4200">
                <a:solidFill>
                  <a:srgbClr val="11111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</a:t>
            </a:r>
            <a:endParaRPr i="0" sz="1800">
              <a:solidFill>
                <a:srgbClr val="11111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17" name="Google Shape;317;h6614320cb80fea18_0_2092"/>
          <p:cNvGrpSpPr/>
          <p:nvPr/>
        </p:nvGrpSpPr>
        <p:grpSpPr>
          <a:xfrm>
            <a:off x="571500" y="1669894"/>
            <a:ext cx="3429000" cy="4649915"/>
            <a:chOff x="571500" y="2000250"/>
            <a:chExt cx="3429000" cy="4191000"/>
          </a:xfrm>
        </p:grpSpPr>
        <p:sp>
          <p:nvSpPr>
            <p:cNvPr id="318" name="Google Shape;318;h6614320cb80fea18_0_2092"/>
            <p:cNvSpPr/>
            <p:nvPr/>
          </p:nvSpPr>
          <p:spPr>
            <a:xfrm>
              <a:off x="57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h6614320cb80fea18_0_2092"/>
            <p:cNvSpPr/>
            <p:nvPr/>
          </p:nvSpPr>
          <p:spPr>
            <a:xfrm>
              <a:off x="87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h6614320cb80fea18_0_2092"/>
            <p:cNvSpPr txBox="1"/>
            <p:nvPr/>
          </p:nvSpPr>
          <p:spPr>
            <a:xfrm>
              <a:off x="87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auto_awesome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21" name="Google Shape;321;h6614320cb80fea18_0_2092"/>
            <p:cNvSpPr txBox="1"/>
            <p:nvPr/>
          </p:nvSpPr>
          <p:spPr>
            <a:xfrm>
              <a:off x="876300" y="32194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Teoría de la Gestalt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22" name="Google Shape;322;h6614320cb80fea18_0_2092"/>
          <p:cNvGrpSpPr/>
          <p:nvPr/>
        </p:nvGrpSpPr>
        <p:grpSpPr>
          <a:xfrm>
            <a:off x="4381500" y="1669894"/>
            <a:ext cx="3429000" cy="4649915"/>
            <a:chOff x="4381500" y="2000250"/>
            <a:chExt cx="3429000" cy="4191000"/>
          </a:xfrm>
        </p:grpSpPr>
        <p:sp>
          <p:nvSpPr>
            <p:cNvPr id="323" name="Google Shape;323;h6614320cb80fea18_0_2092"/>
            <p:cNvSpPr/>
            <p:nvPr/>
          </p:nvSpPr>
          <p:spPr>
            <a:xfrm>
              <a:off x="438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h6614320cb80fea18_0_2092"/>
            <p:cNvSpPr/>
            <p:nvPr/>
          </p:nvSpPr>
          <p:spPr>
            <a:xfrm>
              <a:off x="468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h6614320cb80fea18_0_2092"/>
            <p:cNvSpPr txBox="1"/>
            <p:nvPr/>
          </p:nvSpPr>
          <p:spPr>
            <a:xfrm>
              <a:off x="468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palette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26" name="Google Shape;326;h6614320cb80fea18_0_2092"/>
            <p:cNvSpPr txBox="1"/>
            <p:nvPr/>
          </p:nvSpPr>
          <p:spPr>
            <a:xfrm>
              <a:off x="4572000" y="3219450"/>
              <a:ext cx="30699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Base </a:t>
              </a: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cromática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i="0" sz="2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327" name="Google Shape;327;h6614320cb80fea18_0_2092"/>
          <p:cNvGrpSpPr/>
          <p:nvPr/>
        </p:nvGrpSpPr>
        <p:grpSpPr>
          <a:xfrm>
            <a:off x="8191500" y="1669894"/>
            <a:ext cx="3429000" cy="4649915"/>
            <a:chOff x="8191500" y="2000250"/>
            <a:chExt cx="3429000" cy="4191000"/>
          </a:xfrm>
        </p:grpSpPr>
        <p:sp>
          <p:nvSpPr>
            <p:cNvPr id="328" name="Google Shape;328;h6614320cb80fea18_0_2092"/>
            <p:cNvSpPr/>
            <p:nvPr/>
          </p:nvSpPr>
          <p:spPr>
            <a:xfrm>
              <a:off x="8191500" y="2000250"/>
              <a:ext cx="3429000" cy="4191000"/>
            </a:xfrm>
            <a:prstGeom prst="roundRect">
              <a:avLst>
                <a:gd fmla="val 4444" name="adj"/>
              </a:avLst>
            </a:prstGeom>
            <a:solidFill>
              <a:srgbClr val="F4F4F5"/>
            </a:solidFill>
            <a:ln cap="flat" cmpd="sng" w="19050">
              <a:solidFill>
                <a:srgbClr val="E4E4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h6614320cb80fea18_0_2092"/>
            <p:cNvSpPr/>
            <p:nvPr/>
          </p:nvSpPr>
          <p:spPr>
            <a:xfrm>
              <a:off x="8496300" y="2305050"/>
              <a:ext cx="609600" cy="609600"/>
            </a:xfrm>
            <a:prstGeom prst="roundRect">
              <a:avLst>
                <a:gd fmla="val 18750" name="adj"/>
              </a:avLst>
            </a:prstGeom>
            <a:solidFill>
              <a:srgbClr val="E4E4E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h6614320cb80fea18_0_2092"/>
            <p:cNvSpPr txBox="1"/>
            <p:nvPr/>
          </p:nvSpPr>
          <p:spPr>
            <a:xfrm>
              <a:off x="8496300" y="2398522"/>
              <a:ext cx="609600" cy="6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3200">
                  <a:solidFill>
                    <a:srgbClr val="18181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verified_user</a:t>
              </a:r>
              <a:endParaRPr b="0" i="0" sz="3200">
                <a:solidFill>
                  <a:srgbClr val="18181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31" name="Google Shape;331;h6614320cb80fea18_0_2092"/>
            <p:cNvSpPr txBox="1"/>
            <p:nvPr/>
          </p:nvSpPr>
          <p:spPr>
            <a:xfrm>
              <a:off x="8496300" y="3143250"/>
              <a:ext cx="28194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Claridad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 </a:t>
              </a:r>
              <a:r>
                <a:rPr b="1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f</a:t>
              </a:r>
              <a:r>
                <a:rPr b="1" i="0" lang="en-US" sz="4000">
                  <a:solidFill>
                    <a:srgbClr val="11111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inanciera</a:t>
              </a:r>
              <a:endParaRPr b="1" i="0" sz="40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2200">
                <a:solidFill>
                  <a:srgbClr val="52525B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h6614320cb80fea18_0_24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4475" y="3067050"/>
            <a:ext cx="96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h6614320cb80fea18_0_2451"/>
          <p:cNvSpPr txBox="1"/>
          <p:nvPr/>
        </p:nvSpPr>
        <p:spPr>
          <a:xfrm>
            <a:off x="587925" y="213500"/>
            <a:ext cx="4360800" cy="220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Estrategia </a:t>
            </a:r>
            <a:endParaRPr b="0" sz="40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 penetración</a:t>
            </a:r>
            <a:r>
              <a:rPr b="0" lang="en-US" sz="40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A1A1A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(Go-To-Market)</a:t>
            </a:r>
            <a:endParaRPr b="0" sz="4000">
              <a:solidFill>
                <a:srgbClr val="FFFFFF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cxnSp>
        <p:nvCxnSpPr>
          <p:cNvPr id="338" name="Google Shape;338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flat" cmpd="sng" w="38100">
            <a:solidFill>
              <a:srgbClr val="27272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9" name="Google Shape;339;h6614320cb80fea18_0_2451"/>
          <p:cNvCxnSpPr/>
          <p:nvPr/>
        </p:nvCxnSpPr>
        <p:spPr>
          <a:xfrm>
            <a:off x="762000" y="3524250"/>
            <a:ext cx="10668000" cy="0"/>
          </a:xfrm>
          <a:prstGeom prst="straightConnector1">
            <a:avLst/>
          </a:prstGeom>
          <a:solidFill>
            <a:srgbClr val="FFFFFF"/>
          </a:solidFill>
          <a:ln cap="rnd" cmpd="sng" w="3810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340" name="Google Shape;340;h6614320cb80fea18_0_24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38475" y="3524250"/>
            <a:ext cx="19200" cy="4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h6614320cb80fea18_0_24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47950" y="3124200"/>
            <a:ext cx="795300" cy="7953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h6614320cb80fea18_0_2451"/>
          <p:cNvSpPr/>
          <p:nvPr/>
        </p:nvSpPr>
        <p:spPr>
          <a:xfrm>
            <a:off x="2952750" y="3429000"/>
            <a:ext cx="190500" cy="19050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h6614320cb80fea18_0_2451"/>
          <p:cNvSpPr txBox="1"/>
          <p:nvPr/>
        </p:nvSpPr>
        <p:spPr>
          <a:xfrm>
            <a:off x="666825" y="4000500"/>
            <a:ext cx="4762500" cy="26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60A5FA"/>
                </a:solidFill>
                <a:latin typeface="Montserrat"/>
                <a:ea typeface="Montserrat"/>
                <a:cs typeface="Montserrat"/>
                <a:sym typeface="Montserrat"/>
              </a:rPr>
              <a:t>FASE 1</a:t>
            </a:r>
            <a:endParaRPr sz="2000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Nicho estratégico</a:t>
            </a:r>
            <a:endParaRPr sz="3000">
              <a:solidFill>
                <a:srgbClr val="D4D4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Cobertura objetivo:</a:t>
            </a:r>
            <a:endParaRPr sz="26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45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Primera B Metropolitana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Primera C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C78D8"/>
              </a:buClr>
              <a:buSzPts val="2600"/>
              <a:buFont typeface="Montserrat"/>
              <a:buChar char="●"/>
            </a:pPr>
            <a:r>
              <a:rPr b="1" lang="en-US" sz="26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Federal A</a:t>
            </a:r>
            <a:endParaRPr b="1" sz="2600">
              <a:solidFill>
                <a:srgbClr val="3C78D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4" name="Google Shape;344;h6614320cb80fea18_0_2451"/>
          <p:cNvSpPr txBox="1"/>
          <p:nvPr/>
        </p:nvSpPr>
        <p:spPr>
          <a:xfrm>
            <a:off x="6758025" y="477900"/>
            <a:ext cx="4762500" cy="251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Escalamiento</a:t>
            </a:r>
            <a:endParaRPr b="1" sz="4000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9CA3A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Ligas de expansión:</a:t>
            </a:r>
            <a:endParaRPr sz="2600">
              <a:solidFill>
                <a:srgbClr val="9CA3A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450"/>
              </a:spcBef>
              <a:spcAft>
                <a:spcPts val="0"/>
              </a:spcAft>
              <a:buClr>
                <a:srgbClr val="34D399"/>
              </a:buClr>
              <a:buSzPts val="2600"/>
              <a:buFont typeface="Montserrat"/>
              <a:buChar char="●"/>
            </a:pPr>
            <a:r>
              <a:rPr lang="en-US" sz="26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Primera Nacional</a:t>
            </a:r>
            <a:endParaRPr sz="26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3700" lvl="0" marL="457200" rtl="0" algn="l">
              <a:spcBef>
                <a:spcPts val="300"/>
              </a:spcBef>
              <a:spcAft>
                <a:spcPts val="0"/>
              </a:spcAft>
              <a:buClr>
                <a:srgbClr val="34D399"/>
              </a:buClr>
              <a:buSzPts val="2600"/>
              <a:buFont typeface="Montserrat"/>
              <a:buChar char="●"/>
            </a:pPr>
            <a:r>
              <a:rPr lang="en-US" sz="2600">
                <a:solidFill>
                  <a:srgbClr val="34D399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Liga Profesional</a:t>
            </a:r>
            <a:endParaRPr sz="26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b="1" lang="en-US" sz="1700">
                <a:solidFill>
                  <a:srgbClr val="34D399"/>
                </a:solidFill>
                <a:latin typeface="Montserrat"/>
                <a:ea typeface="Montserrat"/>
                <a:cs typeface="Montserrat"/>
                <a:sym typeface="Montserrat"/>
              </a:rPr>
              <a:t>FASE 2</a:t>
            </a:r>
            <a:endParaRPr sz="1900">
              <a:solidFill>
                <a:srgbClr val="34D399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grpSp>
        <p:nvGrpSpPr>
          <p:cNvPr id="345" name="Google Shape;345;h6614320cb80fea18_0_2451"/>
          <p:cNvGrpSpPr/>
          <p:nvPr/>
        </p:nvGrpSpPr>
        <p:grpSpPr>
          <a:xfrm>
            <a:off x="8743950" y="3124200"/>
            <a:ext cx="790725" cy="797700"/>
            <a:chOff x="8743950" y="3124200"/>
            <a:chExt cx="790725" cy="797700"/>
          </a:xfrm>
        </p:grpSpPr>
        <p:pic>
          <p:nvPicPr>
            <p:cNvPr id="346" name="Google Shape;346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743950" y="31242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7" name="Google Shape;347;h6614320cb80fea18_0_245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 rot="10800000">
              <a:off x="9134475" y="3126600"/>
              <a:ext cx="400200" cy="795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8" name="Google Shape;348;h6614320cb80fea18_0_2451"/>
            <p:cNvSpPr/>
            <p:nvPr/>
          </p:nvSpPr>
          <p:spPr>
            <a:xfrm>
              <a:off x="9044025" y="3428850"/>
              <a:ext cx="190500" cy="190500"/>
            </a:xfrm>
            <a:prstGeom prst="ellipse">
              <a:avLst/>
            </a:prstGeom>
            <a:solidFill>
              <a:srgbClr val="34D39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7"/>
          <p:cNvSpPr/>
          <p:nvPr/>
        </p:nvSpPr>
        <p:spPr>
          <a:xfrm>
            <a:off x="571500" y="1619250"/>
            <a:ext cx="3429000" cy="4572000"/>
          </a:xfrm>
          <a:prstGeom prst="roundRect">
            <a:avLst>
              <a:gd fmla="val 4444" name="adj"/>
            </a:avLst>
          </a:prstGeom>
          <a:solidFill>
            <a:srgbClr val="F8FAFC"/>
          </a:solidFill>
          <a:ln cap="flat" cmpd="sng" w="1905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7"/>
          <p:cNvSpPr txBox="1"/>
          <p:nvPr/>
        </p:nvSpPr>
        <p:spPr>
          <a:xfrm>
            <a:off x="571500" y="476250"/>
            <a:ext cx="110490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Pricing basado en el valor</a:t>
            </a:r>
            <a:endParaRPr b="0" sz="4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55" name="Google Shape;355;p17"/>
          <p:cNvGrpSpPr/>
          <p:nvPr/>
        </p:nvGrpSpPr>
        <p:grpSpPr>
          <a:xfrm>
            <a:off x="4381500" y="1619250"/>
            <a:ext cx="3429000" cy="4572000"/>
            <a:chOff x="0" y="0"/>
            <a:chExt cx="3429000" cy="4572000"/>
          </a:xfrm>
        </p:grpSpPr>
        <p:sp>
          <p:nvSpPr>
            <p:cNvPr id="356" name="Google Shape;356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8" name="Google Shape;358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published_with_changes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59" name="Google Shape;359;p17"/>
            <p:cNvSpPr txBox="1"/>
            <p:nvPr/>
          </p:nvSpPr>
          <p:spPr>
            <a:xfrm>
              <a:off x="93300" y="1107600"/>
              <a:ext cx="3242400" cy="1251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4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Suscripción híbrida</a:t>
              </a:r>
              <a:endParaRPr b="1" sz="404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360" name="Google Shape;360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61" name="Google Shape;361;p17"/>
            <p:cNvSpPr txBox="1"/>
            <p:nvPr/>
          </p:nvSpPr>
          <p:spPr>
            <a:xfrm>
              <a:off x="93300" y="2456850"/>
              <a:ext cx="3242400" cy="1763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Abono mensual + tarifa variable por transacción</a:t>
              </a:r>
              <a:endParaRPr sz="3200">
                <a:solidFill>
                  <a:srgbClr val="0F172A"/>
                </a:solidFill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grpSp>
        <p:nvGrpSpPr>
          <p:cNvPr id="362" name="Google Shape;362;p17"/>
          <p:cNvGrpSpPr/>
          <p:nvPr/>
        </p:nvGrpSpPr>
        <p:grpSpPr>
          <a:xfrm>
            <a:off x="8191500" y="1619250"/>
            <a:ext cx="3429000" cy="4572000"/>
            <a:chOff x="0" y="0"/>
            <a:chExt cx="3429000" cy="4572000"/>
          </a:xfrm>
        </p:grpSpPr>
        <p:sp>
          <p:nvSpPr>
            <p:cNvPr id="363" name="Google Shape;363;p17"/>
            <p:cNvSpPr/>
            <p:nvPr/>
          </p:nvSpPr>
          <p:spPr>
            <a:xfrm>
              <a:off x="0" y="0"/>
              <a:ext cx="3429000" cy="45720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905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7"/>
            <p:cNvSpPr/>
            <p:nvPr/>
          </p:nvSpPr>
          <p:spPr>
            <a:xfrm>
              <a:off x="304800" y="304800"/>
              <a:ext cx="609600" cy="609600"/>
            </a:xfrm>
            <a:prstGeom prst="roundRect">
              <a:avLst>
                <a:gd fmla="val 21875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17"/>
            <p:cNvSpPr txBox="1"/>
            <p:nvPr/>
          </p:nvSpPr>
          <p:spPr>
            <a:xfrm>
              <a:off x="304800" y="348615"/>
              <a:ext cx="6096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>
                  <a:solidFill>
                    <a:srgbClr val="FFFFFF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campaign</a:t>
              </a:r>
              <a:endParaRPr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366" name="Google Shape;366;p17"/>
            <p:cNvSpPr txBox="1"/>
            <p:nvPr/>
          </p:nvSpPr>
          <p:spPr>
            <a:xfrm>
              <a:off x="49350" y="1135650"/>
              <a:ext cx="3330300" cy="119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000">
                  <a:solidFill>
                    <a:srgbClr val="0F172A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Marketplace CPA</a:t>
              </a:r>
              <a:endParaRPr b="1" sz="4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cxnSp>
          <p:nvCxnSpPr>
            <p:cNvPr id="367" name="Google Shape;367;p17"/>
            <p:cNvCxnSpPr/>
            <p:nvPr/>
          </p:nvCxnSpPr>
          <p:spPr>
            <a:xfrm>
              <a:off x="304800" y="1733550"/>
              <a:ext cx="2819400" cy="0"/>
            </a:xfrm>
            <a:prstGeom prst="straightConnector1">
              <a:avLst/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68" name="Google Shape;368;p17"/>
            <p:cNvSpPr txBox="1"/>
            <p:nvPr/>
          </p:nvSpPr>
          <p:spPr>
            <a:xfrm>
              <a:off x="228600" y="2508875"/>
              <a:ext cx="2971800" cy="1664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>
                  <a:solidFill>
                    <a:srgbClr val="47556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Monetización publicitaria en la aplicación móvil</a:t>
              </a:r>
              <a:endParaRPr sz="32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sz="2300">
                <a:solidFill>
                  <a:srgbClr val="0F172A"/>
                </a:solidFill>
                <a:highlight>
                  <a:srgbClr val="FFFFFF"/>
                </a:highlight>
                <a:latin typeface="Montserrat SemiBold"/>
                <a:ea typeface="Montserrat SemiBold"/>
                <a:cs typeface="Montserrat SemiBold"/>
                <a:sym typeface="Montserrat SemiBold"/>
              </a:endParaRPr>
            </a:p>
          </p:txBody>
        </p:sp>
      </p:grpSp>
      <p:sp>
        <p:nvSpPr>
          <p:cNvPr id="369" name="Google Shape;369;p17"/>
          <p:cNvSpPr/>
          <p:nvPr/>
        </p:nvSpPr>
        <p:spPr>
          <a:xfrm>
            <a:off x="876300" y="1924050"/>
            <a:ext cx="609600" cy="609600"/>
          </a:xfrm>
          <a:prstGeom prst="roundRect">
            <a:avLst>
              <a:gd fmla="val 21875" name="adj"/>
            </a:avLst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7"/>
          <p:cNvSpPr txBox="1"/>
          <p:nvPr/>
        </p:nvSpPr>
        <p:spPr>
          <a:xfrm>
            <a:off x="876300" y="1967865"/>
            <a:ext cx="6096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FFFFF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handshake</a:t>
            </a:r>
            <a:endParaRPr sz="3000">
              <a:solidFill>
                <a:srgbClr val="FFFFFF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371" name="Google Shape;371;p17"/>
          <p:cNvSpPr txBox="1"/>
          <p:nvPr/>
        </p:nvSpPr>
        <p:spPr>
          <a:xfrm>
            <a:off x="856275" y="2786988"/>
            <a:ext cx="2819400" cy="64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0F172A"/>
                </a:solidFill>
                <a:latin typeface="Montserrat"/>
                <a:ea typeface="Montserrat"/>
                <a:cs typeface="Montserrat"/>
                <a:sym typeface="Montserrat"/>
              </a:rPr>
              <a:t>Setup Fee</a:t>
            </a:r>
            <a:endParaRPr b="1" sz="4000">
              <a:solidFill>
                <a:srgbClr val="0F172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72" name="Google Shape;372;p17"/>
          <p:cNvSpPr txBox="1"/>
          <p:nvPr/>
        </p:nvSpPr>
        <p:spPr>
          <a:xfrm>
            <a:off x="876300" y="3543300"/>
            <a:ext cx="2819400" cy="11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>
                <a:solidFill>
                  <a:srgbClr val="475569"/>
                </a:solidFill>
                <a:latin typeface="Montserrat"/>
                <a:ea typeface="Montserrat"/>
                <a:cs typeface="Montserrat"/>
                <a:sym typeface="Montserrat"/>
              </a:rPr>
              <a:t>Costo de configuración inicial</a:t>
            </a:r>
            <a:endParaRPr sz="3000">
              <a:solidFill>
                <a:srgbClr val="166534"/>
              </a:solidFill>
              <a:highlight>
                <a:srgbClr val="FFFFFF"/>
              </a:highlight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cxnSp>
        <p:nvCxnSpPr>
          <p:cNvPr id="373" name="Google Shape;373;p17"/>
          <p:cNvCxnSpPr/>
          <p:nvPr/>
        </p:nvCxnSpPr>
        <p:spPr>
          <a:xfrm>
            <a:off x="876300" y="3352800"/>
            <a:ext cx="2819400" cy="0"/>
          </a:xfrm>
          <a:prstGeom prst="straightConnector1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74" name="Google Shape;374;p17"/>
          <p:cNvGrpSpPr/>
          <p:nvPr/>
        </p:nvGrpSpPr>
        <p:grpSpPr>
          <a:xfrm>
            <a:off x="856239" y="5106872"/>
            <a:ext cx="2819470" cy="991318"/>
            <a:chOff x="856200" y="4344675"/>
            <a:chExt cx="1549500" cy="544800"/>
          </a:xfrm>
        </p:grpSpPr>
        <p:sp>
          <p:nvSpPr>
            <p:cNvPr id="375" name="Google Shape;375;p17"/>
            <p:cNvSpPr/>
            <p:nvPr/>
          </p:nvSpPr>
          <p:spPr>
            <a:xfrm>
              <a:off x="876300" y="4378875"/>
              <a:ext cx="1509300" cy="476400"/>
            </a:xfrm>
            <a:prstGeom prst="roundRect">
              <a:avLst>
                <a:gd fmla="val 50000" name="adj"/>
              </a:avLst>
            </a:prstGeom>
            <a:solidFill>
              <a:srgbClr val="DCFCE7"/>
            </a:solidFill>
            <a:ln cap="flat" cmpd="sng" w="17325">
              <a:solidFill>
                <a:srgbClr val="86EFA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547"/>
            </a:p>
          </p:txBody>
        </p:sp>
        <p:sp>
          <p:nvSpPr>
            <p:cNvPr id="376" name="Google Shape;376;p17"/>
            <p:cNvSpPr txBox="1"/>
            <p:nvPr/>
          </p:nvSpPr>
          <p:spPr>
            <a:xfrm>
              <a:off x="856200" y="4344675"/>
              <a:ext cx="1549500" cy="54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47">
                  <a:solidFill>
                    <a:srgbClr val="16653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100% BONIFICADO PARA PRIMEROS CLIENTES</a:t>
              </a:r>
              <a:endParaRPr b="1" sz="1547">
                <a:solidFill>
                  <a:srgbClr val="166534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h6614320cb80fea18_0_3040"/>
          <p:cNvSpPr txBox="1"/>
          <p:nvPr/>
        </p:nvSpPr>
        <p:spPr>
          <a:xfrm>
            <a:off x="762000" y="571500"/>
            <a:ext cx="10668000" cy="615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F7F9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Proyección financiera base</a:t>
            </a:r>
            <a:endParaRPr b="0" sz="4000">
              <a:solidFill>
                <a:srgbClr val="F7F9FC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82" name="Google Shape;382;h6614320cb80fea18_0_3040"/>
          <p:cNvSpPr/>
          <p:nvPr/>
        </p:nvSpPr>
        <p:spPr>
          <a:xfrm>
            <a:off x="762038" y="1524000"/>
            <a:ext cx="10667700" cy="4572000"/>
          </a:xfrm>
          <a:prstGeom prst="roundRect">
            <a:avLst>
              <a:gd fmla="val 4166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h6614320cb80fea18_0_3040"/>
          <p:cNvSpPr/>
          <p:nvPr/>
        </p:nvSpPr>
        <p:spPr>
          <a:xfrm>
            <a:off x="1261200" y="1919400"/>
            <a:ext cx="9669600" cy="683400"/>
          </a:xfrm>
          <a:prstGeom prst="roundRect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h6614320cb80fea18_0_3040"/>
          <p:cNvSpPr txBox="1"/>
          <p:nvPr/>
        </p:nvSpPr>
        <p:spPr>
          <a:xfrm>
            <a:off x="955200" y="2022900"/>
            <a:ext cx="10474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12% Penetración (10 Clubes)</a:t>
            </a:r>
            <a:endParaRPr b="1" sz="4200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5" name="Google Shape;385;h6614320cb80fea18_0_3040"/>
          <p:cNvSpPr txBox="1"/>
          <p:nvPr/>
        </p:nvSpPr>
        <p:spPr>
          <a:xfrm>
            <a:off x="1567095" y="3106950"/>
            <a:ext cx="40476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76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$48k</a:t>
            </a:r>
            <a:r>
              <a:rPr b="0" lang="en-US" sz="76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 </a:t>
            </a:r>
            <a:r>
              <a:rPr b="0" lang="en-US" sz="3600">
                <a:solidFill>
                  <a:srgbClr val="0284C7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USD</a:t>
            </a:r>
            <a:endParaRPr b="0" sz="76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386" name="Google Shape;386;h6614320cb80fea18_0_3040"/>
          <p:cNvGrpSpPr/>
          <p:nvPr/>
        </p:nvGrpSpPr>
        <p:grpSpPr>
          <a:xfrm>
            <a:off x="5957559" y="2848598"/>
            <a:ext cx="5699841" cy="1922811"/>
            <a:chOff x="5924559" y="2848598"/>
            <a:chExt cx="5699841" cy="1922811"/>
          </a:xfrm>
        </p:grpSpPr>
        <p:grpSp>
          <p:nvGrpSpPr>
            <p:cNvPr id="387" name="Google Shape;387;h6614320cb80fea18_0_3040"/>
            <p:cNvGrpSpPr/>
            <p:nvPr/>
          </p:nvGrpSpPr>
          <p:grpSpPr>
            <a:xfrm>
              <a:off x="5924559" y="2848598"/>
              <a:ext cx="1798701" cy="1922811"/>
              <a:chOff x="6953250" y="2857500"/>
              <a:chExt cx="762000" cy="814578"/>
            </a:xfrm>
          </p:grpSpPr>
          <p:sp>
            <p:nvSpPr>
              <p:cNvPr id="388" name="Google Shape;388;h6614320cb80fea18_0_3040"/>
              <p:cNvSpPr/>
              <p:nvPr/>
            </p:nvSpPr>
            <p:spPr>
              <a:xfrm>
                <a:off x="6953250" y="2857500"/>
                <a:ext cx="762000" cy="762000"/>
              </a:xfrm>
              <a:prstGeom prst="ellipse">
                <a:avLst/>
              </a:pr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9" name="Google Shape;389;h6614320cb80fea18_0_3040"/>
              <p:cNvSpPr txBox="1"/>
              <p:nvPr/>
            </p:nvSpPr>
            <p:spPr>
              <a:xfrm>
                <a:off x="6953250" y="2910078"/>
                <a:ext cx="7620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8498">
                    <a:solidFill>
                      <a:srgbClr val="34D39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trending_up</a:t>
                </a:r>
                <a:endParaRPr b="0" sz="8498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</p:grpSp>
        <p:sp>
          <p:nvSpPr>
            <p:cNvPr id="390" name="Google Shape;390;h6614320cb80fea18_0_3040"/>
            <p:cNvSpPr txBox="1"/>
            <p:nvPr/>
          </p:nvSpPr>
          <p:spPr>
            <a:xfrm>
              <a:off x="7899900" y="3128100"/>
              <a:ext cx="3724500" cy="136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330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+ Ingresos variables exponenciales</a:t>
              </a:r>
              <a:endParaRPr b="1" sz="333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391" name="Google Shape;391;h6614320cb80fea18_0_3040"/>
          <p:cNvSpPr txBox="1"/>
          <p:nvPr/>
        </p:nvSpPr>
        <p:spPr>
          <a:xfrm>
            <a:off x="3307650" y="5120700"/>
            <a:ext cx="55767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INGRESOS ANUALES</a:t>
            </a:r>
            <a:endParaRPr b="1" sz="33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19"/>
          <p:cNvSpPr txBox="1"/>
          <p:nvPr/>
        </p:nvSpPr>
        <p:spPr>
          <a:xfrm>
            <a:off x="3714750" y="952500"/>
            <a:ext cx="4762500" cy="153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0">
                <a:solidFill>
                  <a:srgbClr val="0F172A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DEMO</a:t>
            </a:r>
            <a:endParaRPr b="0" sz="10000">
              <a:solidFill>
                <a:srgbClr val="0F172A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97" name="Google Shape;397;p19"/>
          <p:cNvSpPr/>
          <p:nvPr/>
        </p:nvSpPr>
        <p:spPr>
          <a:xfrm>
            <a:off x="1597500" y="3025450"/>
            <a:ext cx="8997000" cy="2382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9"/>
          <p:cNvSpPr txBox="1"/>
          <p:nvPr/>
        </p:nvSpPr>
        <p:spPr>
          <a:xfrm>
            <a:off x="4450500" y="4937700"/>
            <a:ext cx="3291000" cy="64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 ACCIÓN</a:t>
            </a:r>
            <a:endParaRPr b="1" sz="4200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99" name="Google Shape;399;p19" title="texto.png"/>
          <p:cNvPicPr preferRelativeResize="0"/>
          <p:nvPr/>
        </p:nvPicPr>
        <p:blipFill rotWithShape="1">
          <a:blip r:embed="rId3">
            <a:alphaModFix/>
          </a:blip>
          <a:srcRect b="23437" l="0" r="0" t="25288"/>
          <a:stretch/>
        </p:blipFill>
        <p:spPr>
          <a:xfrm>
            <a:off x="2099425" y="3574625"/>
            <a:ext cx="7993150" cy="136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h6594a2e70c4c9f3_22_113"/>
          <p:cNvSpPr txBox="1"/>
          <p:nvPr/>
        </p:nvSpPr>
        <p:spPr>
          <a:xfrm>
            <a:off x="666750" y="476250"/>
            <a:ext cx="108585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6015">
                <a:solidFill>
                  <a:srgbClr val="F8FAFC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Próximos pasos</a:t>
            </a:r>
            <a:endParaRPr b="0" sz="3795">
              <a:solidFill>
                <a:srgbClr val="94A3B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5" name="Google Shape;405;h6594a2e70c4c9f3_22_113"/>
          <p:cNvSpPr/>
          <p:nvPr/>
        </p:nvSpPr>
        <p:spPr>
          <a:xfrm>
            <a:off x="169050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406" name="Google Shape;406;h6594a2e70c4c9f3_22_113"/>
          <p:cNvSpPr/>
          <p:nvPr/>
        </p:nvSpPr>
        <p:spPr>
          <a:xfrm>
            <a:off x="373425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h6594a2e70c4c9f3_22_113"/>
          <p:cNvSpPr txBox="1"/>
          <p:nvPr/>
        </p:nvSpPr>
        <p:spPr>
          <a:xfrm>
            <a:off x="373425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01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08" name="Google Shape;408;h6594a2e70c4c9f3_22_113"/>
          <p:cNvPicPr preferRelativeResize="0"/>
          <p:nvPr/>
        </p:nvPicPr>
        <p:blipFill rotWithShape="1">
          <a:blip r:embed="rId3">
            <a:alphaModFix/>
          </a:blip>
          <a:srcRect b="1719" l="0" r="0" t="1728"/>
          <a:stretch/>
        </p:blipFill>
        <p:spPr>
          <a:xfrm>
            <a:off x="373425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h6594a2e70c4c9f3_22_113"/>
          <p:cNvSpPr txBox="1"/>
          <p:nvPr/>
        </p:nvSpPr>
        <p:spPr>
          <a:xfrm>
            <a:off x="373425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Protección intelectual</a:t>
            </a:r>
            <a:endParaRPr b="1" sz="24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0" name="Google Shape;410;h6594a2e70c4c9f3_22_113"/>
          <p:cNvSpPr/>
          <p:nvPr/>
        </p:nvSpPr>
        <p:spPr>
          <a:xfrm>
            <a:off x="2580674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h6594a2e70c4c9f3_22_113"/>
          <p:cNvSpPr/>
          <p:nvPr/>
        </p:nvSpPr>
        <p:spPr>
          <a:xfrm>
            <a:off x="2785049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h6594a2e70c4c9f3_22_113"/>
          <p:cNvSpPr txBox="1"/>
          <p:nvPr/>
        </p:nvSpPr>
        <p:spPr>
          <a:xfrm>
            <a:off x="2785050" y="2678275"/>
            <a:ext cx="4905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02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13" name="Google Shape;413;h6594a2e70c4c9f3_22_113"/>
          <p:cNvPicPr preferRelativeResize="0"/>
          <p:nvPr/>
        </p:nvPicPr>
        <p:blipFill rotWithShape="1">
          <a:blip r:embed="rId4">
            <a:alphaModFix/>
          </a:blip>
          <a:srcRect b="0" l="8567" r="8576" t="0"/>
          <a:stretch/>
        </p:blipFill>
        <p:spPr>
          <a:xfrm>
            <a:off x="2785049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h6594a2e70c4c9f3_22_113"/>
          <p:cNvSpPr txBox="1"/>
          <p:nvPr/>
        </p:nvSpPr>
        <p:spPr>
          <a:xfrm>
            <a:off x="2785049" y="3902495"/>
            <a:ext cx="17985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31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Gestión de grupo familiar</a:t>
            </a:r>
            <a:endParaRPr b="1" sz="2431">
              <a:solidFill>
                <a:srgbClr val="F8FAF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l">
              <a:spcBef>
                <a:spcPts val="966"/>
              </a:spcBef>
              <a:spcAft>
                <a:spcPts val="0"/>
              </a:spcAft>
              <a:buNone/>
            </a:pPr>
            <a:r>
              <a:t/>
            </a:r>
            <a:endParaRPr b="0" sz="118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5" name="Google Shape;415;h6594a2e70c4c9f3_22_113"/>
          <p:cNvSpPr/>
          <p:nvPr/>
        </p:nvSpPr>
        <p:spPr>
          <a:xfrm>
            <a:off x="4992298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h6594a2e70c4c9f3_22_113"/>
          <p:cNvSpPr/>
          <p:nvPr/>
        </p:nvSpPr>
        <p:spPr>
          <a:xfrm>
            <a:off x="5196673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h6594a2e70c4c9f3_22_113"/>
          <p:cNvSpPr txBox="1"/>
          <p:nvPr/>
        </p:nvSpPr>
        <p:spPr>
          <a:xfrm>
            <a:off x="5196676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03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18" name="Google Shape;418;h6594a2e70c4c9f3_22_113"/>
          <p:cNvSpPr txBox="1"/>
          <p:nvPr/>
        </p:nvSpPr>
        <p:spPr>
          <a:xfrm>
            <a:off x="5196673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Molinetes físicos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9" name="Google Shape;419;h6594a2e70c4c9f3_22_113"/>
          <p:cNvSpPr/>
          <p:nvPr/>
        </p:nvSpPr>
        <p:spPr>
          <a:xfrm>
            <a:off x="7403922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h6594a2e70c4c9f3_22_113"/>
          <p:cNvSpPr/>
          <p:nvPr/>
        </p:nvSpPr>
        <p:spPr>
          <a:xfrm>
            <a:off x="7608297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h6594a2e70c4c9f3_22_113"/>
          <p:cNvSpPr txBox="1"/>
          <p:nvPr/>
        </p:nvSpPr>
        <p:spPr>
          <a:xfrm>
            <a:off x="7608300" y="2678275"/>
            <a:ext cx="6816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04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22" name="Google Shape;422;h6594a2e70c4c9f3_22_113"/>
          <p:cNvPicPr preferRelativeResize="0"/>
          <p:nvPr/>
        </p:nvPicPr>
        <p:blipFill rotWithShape="1">
          <a:blip r:embed="rId5">
            <a:alphaModFix/>
          </a:blip>
          <a:srcRect b="1719" l="0" r="0" t="1728"/>
          <a:stretch/>
        </p:blipFill>
        <p:spPr>
          <a:xfrm>
            <a:off x="7608297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3" name="Google Shape;423;h6594a2e70c4c9f3_22_113"/>
          <p:cNvSpPr txBox="1"/>
          <p:nvPr/>
        </p:nvSpPr>
        <p:spPr>
          <a:xfrm>
            <a:off x="7608297" y="3945395"/>
            <a:ext cx="17985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Expansión</a:t>
            </a: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 financiera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4" name="Google Shape;424;h6594a2e70c4c9f3_22_113"/>
          <p:cNvSpPr/>
          <p:nvPr/>
        </p:nvSpPr>
        <p:spPr>
          <a:xfrm>
            <a:off x="9815546" y="2433025"/>
            <a:ext cx="2207400" cy="2604900"/>
          </a:xfrm>
          <a:prstGeom prst="roundRect">
            <a:avLst>
              <a:gd fmla="val 7407" name="adj"/>
            </a:avLst>
          </a:prstGeom>
          <a:solidFill>
            <a:srgbClr val="18181B"/>
          </a:solidFill>
          <a:ln cap="flat" cmpd="sng" w="15325">
            <a:solidFill>
              <a:srgbClr val="BFBFB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2"/>
          </a:p>
        </p:txBody>
      </p:sp>
      <p:sp>
        <p:nvSpPr>
          <p:cNvPr id="425" name="Google Shape;425;h6594a2e70c4c9f3_22_113"/>
          <p:cNvSpPr/>
          <p:nvPr/>
        </p:nvSpPr>
        <p:spPr>
          <a:xfrm>
            <a:off x="10019921" y="2678274"/>
            <a:ext cx="408600" cy="286200"/>
          </a:xfrm>
          <a:prstGeom prst="roundRect">
            <a:avLst>
              <a:gd fmla="val 21428" name="adj"/>
            </a:avLst>
          </a:prstGeom>
          <a:solidFill>
            <a:srgbClr val="0284C7">
              <a:alpha val="1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h6594a2e70c4c9f3_22_113"/>
          <p:cNvSpPr txBox="1"/>
          <p:nvPr/>
        </p:nvSpPr>
        <p:spPr>
          <a:xfrm>
            <a:off x="10019927" y="2678275"/>
            <a:ext cx="582900" cy="28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8BDF8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05</a:t>
            </a:r>
            <a:endParaRPr b="0" sz="2400">
              <a:solidFill>
                <a:srgbClr val="38BDF8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427" name="Google Shape;427;h6594a2e70c4c9f3_22_113"/>
          <p:cNvPicPr preferRelativeResize="0"/>
          <p:nvPr/>
        </p:nvPicPr>
        <p:blipFill rotWithShape="1">
          <a:blip r:embed="rId6">
            <a:alphaModFix/>
          </a:blip>
          <a:srcRect b="6897" l="0" r="0" t="6897"/>
          <a:stretch/>
        </p:blipFill>
        <p:spPr>
          <a:xfrm>
            <a:off x="10019921" y="3209647"/>
            <a:ext cx="490500" cy="4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h6594a2e70c4c9f3_22_113"/>
          <p:cNvSpPr txBox="1"/>
          <p:nvPr/>
        </p:nvSpPr>
        <p:spPr>
          <a:xfrm>
            <a:off x="9983400" y="3945325"/>
            <a:ext cx="1871700" cy="9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66"/>
              </a:spcAft>
              <a:buNone/>
            </a:pPr>
            <a:r>
              <a:rPr b="1" lang="en-US" sz="2400">
                <a:solidFill>
                  <a:srgbClr val="F8FAFC"/>
                </a:solidFill>
                <a:latin typeface="Montserrat"/>
                <a:ea typeface="Montserrat"/>
                <a:cs typeface="Montserrat"/>
                <a:sym typeface="Montserrat"/>
              </a:rPr>
              <a:t>Despliegue Nativo</a:t>
            </a:r>
            <a:endParaRPr b="0" sz="2400">
              <a:solidFill>
                <a:srgbClr val="A1A1AA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429" name="Google Shape;429;h6594a2e70c4c9f3_22_1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165912" y="3188939"/>
            <a:ext cx="347664" cy="4801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34" name="Google Shape;43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21"/>
          <p:cNvSpPr txBox="1"/>
          <p:nvPr/>
        </p:nvSpPr>
        <p:spPr>
          <a:xfrm>
            <a:off x="-1383548" y="2056029"/>
            <a:ext cx="14959103" cy="2788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Entonces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, ¿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Por qu</a:t>
            </a:r>
            <a:r>
              <a:rPr b="1" lang="en-US" sz="82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é</a:t>
            </a:r>
            <a:endParaRPr b="1" sz="8236">
              <a:solidFill>
                <a:srgbClr val="11111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736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          </a:t>
            </a:r>
            <a:r>
              <a:rPr b="1" i="0" lang="en-US" sz="8236" u="none">
                <a:solidFill>
                  <a:srgbClr val="111111"/>
                </a:solidFill>
                <a:latin typeface="Montserrat"/>
                <a:ea typeface="Montserrat"/>
                <a:cs typeface="Montserrat"/>
                <a:sym typeface="Montserrat"/>
              </a:rPr>
              <a:t>?</a:t>
            </a:r>
            <a:endParaRPr sz="2305"/>
          </a:p>
        </p:txBody>
      </p:sp>
      <p:pic>
        <p:nvPicPr>
          <p:cNvPr id="436" name="Google Shape;436;p21" title="texto.png"/>
          <p:cNvPicPr preferRelativeResize="0"/>
          <p:nvPr/>
        </p:nvPicPr>
        <p:blipFill rotWithShape="1">
          <a:blip r:embed="rId4">
            <a:alphaModFix/>
          </a:blip>
          <a:srcRect b="23437" l="0" r="0" t="25288"/>
          <a:stretch/>
        </p:blipFill>
        <p:spPr>
          <a:xfrm>
            <a:off x="1496250" y="3603275"/>
            <a:ext cx="7728325" cy="131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11111"/>
        </a:solidFill>
      </p:bgPr>
    </p:bg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22"/>
          <p:cNvSpPr txBox="1"/>
          <p:nvPr/>
        </p:nvSpPr>
        <p:spPr>
          <a:xfrm>
            <a:off x="295275" y="2857500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Porque…</a:t>
            </a:r>
            <a:endParaRPr b="1" i="0" sz="7500" u="none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" name="Google Shape;446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