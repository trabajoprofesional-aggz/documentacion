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9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1" r:id="rId23"/>
    <p:sldId id="28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1.png"/><Relationship Id="rId7" Type="http://schemas.openxmlformats.org/officeDocument/2006/relationships/image" Target="../media/image3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86809B7B-7994-C2F9-2454-25509F723F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8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227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2">
            <a:extLst>
              <a:ext uri="{FF2B5EF4-FFF2-40B4-BE49-F238E27FC236}">
                <a16:creationId xmlns:a16="http://schemas.microsoft.com/office/drawing/2014/main" id="{F4396DFC-1D18-C053-414D-652BBA73FA69}"/>
              </a:ext>
            </a:extLst>
          </p:cNvPr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sz="7500" b="1" i="0" u="none" dirty="0">
                <a:solidFill>
                  <a:schemeClr val="bg1"/>
                </a:solidFill>
                <a:latin typeface="Montserrat"/>
              </a:rPr>
              <a:t>¿Por </a:t>
            </a:r>
            <a:r>
              <a:rPr sz="7500" b="1" i="0" u="none" dirty="0" err="1">
                <a:solidFill>
                  <a:schemeClr val="bg1"/>
                </a:solidFill>
                <a:latin typeface="Montserrat"/>
              </a:rPr>
              <a:t>qué</a:t>
            </a:r>
            <a:r>
              <a:rPr sz="7500" b="1" i="0" u="none" dirty="0">
                <a:solidFill>
                  <a:schemeClr val="bg1"/>
                </a:solidFill>
                <a:latin typeface="Montserrat"/>
              </a:rPr>
              <a:t> </a:t>
            </a:r>
            <a:r>
              <a:rPr sz="7500" b="1" i="0" u="none" dirty="0" err="1">
                <a:solidFill>
                  <a:schemeClr val="bg1"/>
                </a:solidFill>
                <a:latin typeface="Montserrat"/>
              </a:rPr>
              <a:t>SocioUnido</a:t>
            </a:r>
            <a:r>
              <a:rPr sz="7500" b="1" i="0" u="none" dirty="0">
                <a:solidFill>
                  <a:schemeClr val="bg1"/>
                </a:solidFill>
                <a:latin typeface="Montserrat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887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3" y="2261145"/>
            <a:ext cx="2381250" cy="2381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5275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El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e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quipo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7801" y="4373396"/>
            <a:ext cx="2675334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111111"/>
                </a:solidFill>
                <a:latin typeface="Montserrat"/>
              </a:rPr>
              <a:t>Felipe Ascencio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5554873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b="0" i="0" u="none" dirty="0">
                <a:solidFill>
                  <a:srgbClr val="111111"/>
                </a:solidFill>
                <a:latin typeface="Inter Medium"/>
              </a:rPr>
              <a:t>PREVENTA &amp; QA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BEF7A60-658C-4D35-9463-6F2129BEA0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3" y="1802340"/>
            <a:ext cx="2381250" cy="2416097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42B1FF4C-9513-BBBE-F166-994DB5D1B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5903" y="1761164"/>
            <a:ext cx="2381250" cy="2416791"/>
          </a:xfrm>
          <a:prstGeom prst="rect">
            <a:avLst/>
          </a:prstGeom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FF700BAF-48D9-E7F1-D9D7-50359BD51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2217" y="1761164"/>
            <a:ext cx="2381250" cy="2428639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4226850D-B5A3-CA27-9475-D743CCC9E6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5069" y="1749199"/>
            <a:ext cx="2404711" cy="2440604"/>
          </a:xfrm>
          <a:prstGeom prst="rect">
            <a:avLst/>
          </a:prstGeom>
        </p:spPr>
      </p:pic>
      <p:sp>
        <p:nvSpPr>
          <p:cNvPr id="43" name="TextBox 7">
            <a:extLst>
              <a:ext uri="{FF2B5EF4-FFF2-40B4-BE49-F238E27FC236}">
                <a16:creationId xmlns:a16="http://schemas.microsoft.com/office/drawing/2014/main" id="{7089BED5-1158-D54F-899D-ABE5E19993F8}"/>
              </a:ext>
            </a:extLst>
          </p:cNvPr>
          <p:cNvSpPr txBox="1"/>
          <p:nvPr/>
        </p:nvSpPr>
        <p:spPr>
          <a:xfrm>
            <a:off x="3341489" y="4373396"/>
            <a:ext cx="2675334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3600" b="1" i="0" u="none" dirty="0">
                <a:solidFill>
                  <a:srgbClr val="111111"/>
                </a:solidFill>
                <a:latin typeface="Montserrat"/>
              </a:rPr>
              <a:t>Axel Zielonka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45" name="TextBox 8">
            <a:extLst>
              <a:ext uri="{FF2B5EF4-FFF2-40B4-BE49-F238E27FC236}">
                <a16:creationId xmlns:a16="http://schemas.microsoft.com/office/drawing/2014/main" id="{09095F39-C432-5EBC-4840-D9E11127D8B1}"/>
              </a:ext>
            </a:extLst>
          </p:cNvPr>
          <p:cNvSpPr txBox="1"/>
          <p:nvPr/>
        </p:nvSpPr>
        <p:spPr>
          <a:xfrm>
            <a:off x="3488531" y="5560409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s-AR" b="0" i="0" u="none" dirty="0">
                <a:solidFill>
                  <a:srgbClr val="111111"/>
                </a:solidFill>
                <a:latin typeface="Inter Medium"/>
              </a:rPr>
              <a:t>FRONTEND &amp; MARCA</a:t>
            </a:r>
            <a:endParaRPr b="0" i="0" u="none" dirty="0">
              <a:solidFill>
                <a:srgbClr val="111111"/>
              </a:solidFill>
              <a:latin typeface="Inter Medium"/>
            </a:endParaRPr>
          </a:p>
        </p:txBody>
      </p:sp>
      <p:sp>
        <p:nvSpPr>
          <p:cNvPr id="47" name="TextBox 7">
            <a:extLst>
              <a:ext uri="{FF2B5EF4-FFF2-40B4-BE49-F238E27FC236}">
                <a16:creationId xmlns:a16="http://schemas.microsoft.com/office/drawing/2014/main" id="{A658FA7E-D575-EDA3-BA11-EC167C38B1C9}"/>
              </a:ext>
            </a:extLst>
          </p:cNvPr>
          <p:cNvSpPr txBox="1"/>
          <p:nvPr/>
        </p:nvSpPr>
        <p:spPr>
          <a:xfrm>
            <a:off x="6175177" y="4378993"/>
            <a:ext cx="2675334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3600" b="1" i="0" u="none" dirty="0">
                <a:solidFill>
                  <a:srgbClr val="111111"/>
                </a:solidFill>
                <a:latin typeface="Montserrat"/>
              </a:rPr>
              <a:t>Martín Guerrero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49" name="TextBox 8">
            <a:extLst>
              <a:ext uri="{FF2B5EF4-FFF2-40B4-BE49-F238E27FC236}">
                <a16:creationId xmlns:a16="http://schemas.microsoft.com/office/drawing/2014/main" id="{BB7FDD5D-CA4A-A126-50B6-1D4C3DD3D2AD}"/>
              </a:ext>
            </a:extLst>
          </p:cNvPr>
          <p:cNvSpPr txBox="1"/>
          <p:nvPr/>
        </p:nvSpPr>
        <p:spPr>
          <a:xfrm>
            <a:off x="6238873" y="5560409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s-AR" b="0" i="0" u="none" dirty="0">
                <a:solidFill>
                  <a:srgbClr val="111111"/>
                </a:solidFill>
                <a:latin typeface="Inter Medium"/>
              </a:rPr>
              <a:t>BACKEND &amp; IA</a:t>
            </a:r>
            <a:endParaRPr b="0" i="0" u="none" dirty="0">
              <a:solidFill>
                <a:srgbClr val="111111"/>
              </a:solidFill>
              <a:latin typeface="Inter Medium"/>
            </a:endParaRPr>
          </a:p>
        </p:txBody>
      </p:sp>
      <p:sp>
        <p:nvSpPr>
          <p:cNvPr id="51" name="TextBox 7">
            <a:extLst>
              <a:ext uri="{FF2B5EF4-FFF2-40B4-BE49-F238E27FC236}">
                <a16:creationId xmlns:a16="http://schemas.microsoft.com/office/drawing/2014/main" id="{74D2E8AC-31F7-1549-5F75-494CC3372913}"/>
              </a:ext>
            </a:extLst>
          </p:cNvPr>
          <p:cNvSpPr txBox="1"/>
          <p:nvPr/>
        </p:nvSpPr>
        <p:spPr>
          <a:xfrm>
            <a:off x="9114229" y="4394762"/>
            <a:ext cx="2464597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3600" b="1" i="0" u="none" dirty="0">
                <a:solidFill>
                  <a:srgbClr val="111111"/>
                </a:solidFill>
                <a:latin typeface="Montserrat"/>
              </a:rPr>
              <a:t>Lautaro Ghosn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53" name="TextBox 8">
            <a:extLst>
              <a:ext uri="{FF2B5EF4-FFF2-40B4-BE49-F238E27FC236}">
                <a16:creationId xmlns:a16="http://schemas.microsoft.com/office/drawing/2014/main" id="{312337A7-F15E-69E7-8539-D07BECCAE1D1}"/>
              </a:ext>
            </a:extLst>
          </p:cNvPr>
          <p:cNvSpPr txBox="1"/>
          <p:nvPr/>
        </p:nvSpPr>
        <p:spPr>
          <a:xfrm>
            <a:off x="9092227" y="5565016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s-AR" dirty="0">
                <a:solidFill>
                  <a:srgbClr val="111111"/>
                </a:solidFill>
                <a:latin typeface="Inter Medium"/>
              </a:rPr>
              <a:t>ARQUITECTURA &amp; DATOS</a:t>
            </a:r>
            <a:endParaRPr b="0" i="0" u="none" dirty="0">
              <a:solidFill>
                <a:srgbClr val="111111"/>
              </a:solidFill>
              <a:latin typeface="Inter Medium"/>
            </a:endParaRPr>
          </a:p>
        </p:txBody>
      </p:sp>
      <p:pic>
        <p:nvPicPr>
          <p:cNvPr id="65" name="Imagen 64" descr=", generada por IA">
            <a:extLst>
              <a:ext uri="{FF2B5EF4-FFF2-40B4-BE49-F238E27FC236}">
                <a16:creationId xmlns:a16="http://schemas.microsoft.com/office/drawing/2014/main" id="{902D0185-2019-985D-4D27-459AA8735A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2" y="40888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66024" y="3100536"/>
            <a:ext cx="8459952" cy="7437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5400" b="1" i="0" u="none" dirty="0">
                <a:solidFill>
                  <a:srgbClr val="F5F5F5"/>
                </a:solidFill>
                <a:latin typeface="Montserrat"/>
              </a:rPr>
              <a:t>El punto de </a:t>
            </a:r>
            <a:r>
              <a:rPr sz="5400" b="1" i="0" u="none" dirty="0" err="1">
                <a:solidFill>
                  <a:srgbClr val="F5F5F5"/>
                </a:solidFill>
                <a:latin typeface="Montserrat"/>
              </a:rPr>
              <a:t>encuentro</a:t>
            </a:r>
            <a:endParaRPr sz="5400" b="1" i="0" u="none" dirty="0">
              <a:solidFill>
                <a:srgbClr val="F5F5F5"/>
              </a:solidFill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0" y="4213026"/>
            <a:ext cx="7620000" cy="2215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pasión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por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el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fútbol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y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convicción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absoluta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de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que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tecnología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es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única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vía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para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sanear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y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transformar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gestión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de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los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clubes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en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Argentina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443186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45034"/>
            <a:ext cx="3492549" cy="389751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8374" y="1945034"/>
            <a:ext cx="3492549" cy="389751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1945034"/>
            <a:ext cx="3492549" cy="3897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La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f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uga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s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ilenciosa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94150" y="3288325"/>
            <a:ext cx="3047099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Morosidad</a:t>
            </a:r>
            <a:br>
              <a:rPr lang="es-AR" sz="3600" b="1" i="0" u="none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no</a:t>
            </a:r>
            <a:br>
              <a:rPr lang="es-AR" sz="3600" b="1" i="0" u="none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detectada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78069" y="3565325"/>
            <a:ext cx="289315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Fraude</a:t>
            </a:r>
            <a:br>
              <a:rPr lang="es-AR" sz="3600" b="1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perimetral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3711" y="3288326"/>
            <a:ext cx="3841176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Subutilización</a:t>
            </a:r>
            <a:br>
              <a:rPr lang="es-AR" sz="3600" b="1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de</a:t>
            </a:r>
            <a:br>
              <a:rPr lang="es-AR" sz="3600" b="1" i="0" u="none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activos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950" y="2354609"/>
            <a:ext cx="57150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38825" y="2354609"/>
            <a:ext cx="514350" cy="4572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7124" y="2354609"/>
            <a:ext cx="51435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772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1457988"/>
            <a:ext cx="5238750" cy="3770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"No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te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avientes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a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hacer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algo sin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validarlo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antes, sin saber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que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hay un mercado para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ello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."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800" b="0" i="0" u="none" dirty="0">
                <a:solidFill>
                  <a:srgbClr val="F5F5F5"/>
                </a:solidFill>
                <a:latin typeface="Inter SemiBold"/>
              </a:rPr>
              <a:t>— MARCUS DANTUS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B75BBE-FB20-134C-CAEB-F0F62102E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716" y="-71949"/>
            <a:ext cx="4980730" cy="70018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501080"/>
            <a:ext cx="11049000" cy="47854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Un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u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niverso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d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esatendido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6030808"/>
            <a:ext cx="12192000" cy="395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s-AR" sz="4000" b="0" i="0" u="none" dirty="0">
                <a:solidFill>
                  <a:srgbClr val="111111"/>
                </a:solidFill>
                <a:latin typeface="Inter SemiBold"/>
              </a:rPr>
              <a:t>+</a:t>
            </a:r>
            <a:r>
              <a:rPr sz="4000" b="0" i="0" u="none" dirty="0">
                <a:solidFill>
                  <a:srgbClr val="111111"/>
                </a:solidFill>
                <a:latin typeface="Inter SemiBold"/>
              </a:rPr>
              <a:t>2 </a:t>
            </a:r>
            <a:r>
              <a:rPr sz="4000" b="0" i="0" u="none" dirty="0" err="1">
                <a:solidFill>
                  <a:srgbClr val="111111"/>
                </a:solidFill>
                <a:latin typeface="Inter SemiBold"/>
              </a:rPr>
              <a:t>Millones</a:t>
            </a:r>
            <a:r>
              <a:rPr sz="4000" b="0" i="0" u="none" dirty="0">
                <a:solidFill>
                  <a:srgbClr val="111111"/>
                </a:solidFill>
                <a:latin typeface="Inter SemiBold"/>
              </a:rPr>
              <a:t> de </a:t>
            </a:r>
            <a:r>
              <a:rPr sz="4000" b="0" i="0" u="none" dirty="0" err="1">
                <a:solidFill>
                  <a:srgbClr val="111111"/>
                </a:solidFill>
                <a:latin typeface="Inter SemiBold"/>
              </a:rPr>
              <a:t>socios</a:t>
            </a:r>
            <a:r>
              <a:rPr sz="4000" b="0" i="0" u="none" dirty="0">
                <a:solidFill>
                  <a:srgbClr val="111111"/>
                </a:solidFill>
                <a:latin typeface="Inter SemiBold"/>
              </a:rPr>
              <a:t> </a:t>
            </a:r>
            <a:r>
              <a:rPr sz="4000" b="0" i="0" u="none" dirty="0" err="1">
                <a:solidFill>
                  <a:srgbClr val="111111"/>
                </a:solidFill>
                <a:latin typeface="Inter SemiBold"/>
              </a:rPr>
              <a:t>activos</a:t>
            </a:r>
            <a:r>
              <a:rPr lang="es-AR" sz="4000" b="0" i="0" u="none" dirty="0">
                <a:solidFill>
                  <a:srgbClr val="111111"/>
                </a:solidFill>
                <a:latin typeface="Inter SemiBold"/>
              </a:rPr>
              <a:t> (153 instituciones totales)</a:t>
            </a:r>
            <a:endParaRPr sz="4000" b="0" i="0" u="none" dirty="0">
              <a:solidFill>
                <a:srgbClr val="111111"/>
              </a:solidFill>
              <a:latin typeface="Inter SemiBold"/>
            </a:endParaRPr>
          </a:p>
        </p:txBody>
      </p:sp>
      <p:pic>
        <p:nvPicPr>
          <p:cNvPr id="6" name="Imagen 5" descr=", generada por IA">
            <a:extLst>
              <a:ext uri="{FF2B5EF4-FFF2-40B4-BE49-F238E27FC236}">
                <a16:creationId xmlns:a16="http://schemas.microsoft.com/office/drawing/2014/main" id="{485551B1-DFAE-732A-B269-258AB8317C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562" t="22373" r="17333" b="22029"/>
          <a:stretch>
            <a:fillRect/>
          </a:stretch>
        </p:blipFill>
        <p:spPr>
          <a:xfrm>
            <a:off x="1131077" y="1386092"/>
            <a:ext cx="9929843" cy="40858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La </a:t>
            </a:r>
            <a:r>
              <a:rPr lang="es-AR" sz="4800" b="0" i="0" u="none" dirty="0">
                <a:solidFill>
                  <a:srgbClr val="F5F5F5"/>
                </a:solidFill>
                <a:latin typeface="Montserrat ExtraBold"/>
              </a:rPr>
              <a:t>b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recha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t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ecnológica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500" y="2979390"/>
            <a:ext cx="523875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sz="10500" b="0" i="0" u="none" dirty="0">
                <a:solidFill>
                  <a:srgbClr val="F5F5F5"/>
                </a:solidFill>
                <a:latin typeface="Montserrat ExtraBold"/>
              </a:rPr>
              <a:t>120+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4408140"/>
            <a:ext cx="523875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Clubes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ignorados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que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operan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a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ciegas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381750" y="4446240"/>
            <a:ext cx="5238750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0" i="0" u="none" dirty="0">
                <a:solidFill>
                  <a:srgbClr val="F5F5F5"/>
                </a:solidFill>
                <a:latin typeface="Inter"/>
              </a:rPr>
              <a:t>El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competidor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principal solo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abarca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a ~25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instituciones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de la élite.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541240"/>
            <a:ext cx="5238750" cy="1714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" y="18497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Validación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e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mpírica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810250" y="1811160"/>
            <a:ext cx="6076950" cy="473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4000" b="1" i="0" u="none" dirty="0">
                <a:solidFill>
                  <a:srgbClr val="111111"/>
                </a:solidFill>
                <a:latin typeface="Montserrat"/>
              </a:rPr>
              <a:t>Directo </a:t>
            </a:r>
            <a:r>
              <a:rPr sz="4000" b="1" i="0" u="none" dirty="0" err="1">
                <a:solidFill>
                  <a:srgbClr val="111111"/>
                </a:solidFill>
                <a:latin typeface="Montserrat"/>
              </a:rPr>
              <a:t>en</a:t>
            </a:r>
            <a:r>
              <a:rPr sz="4000" b="1" i="0" u="none" dirty="0">
                <a:solidFill>
                  <a:srgbClr val="111111"/>
                </a:solidFill>
                <a:latin typeface="Montserrat"/>
              </a:rPr>
              <a:t> el </a:t>
            </a:r>
            <a:r>
              <a:rPr sz="4000" b="1" i="0" u="none" dirty="0" err="1">
                <a:solidFill>
                  <a:srgbClr val="111111"/>
                </a:solidFill>
                <a:latin typeface="Montserrat"/>
              </a:rPr>
              <a:t>territorio</a:t>
            </a:r>
            <a:endParaRPr sz="40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10250" y="2344377"/>
            <a:ext cx="523875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Llevamos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el MVP al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terreno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y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realizamos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sesiones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de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feedbac</a:t>
            </a:r>
            <a:r>
              <a:rPr lang="es-AR" sz="3600" b="0" i="0" u="none" dirty="0">
                <a:solidFill>
                  <a:srgbClr val="111111"/>
                </a:solidFill>
                <a:latin typeface="Inter"/>
              </a:rPr>
              <a:t>k</a:t>
            </a:r>
            <a:endParaRPr sz="3600" b="0" i="0" u="none" dirty="0">
              <a:solidFill>
                <a:srgbClr val="111111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10250" y="4259501"/>
            <a:ext cx="523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200" b="0" i="0" u="sng" dirty="0" err="1">
                <a:solidFill>
                  <a:srgbClr val="111111"/>
                </a:solidFill>
                <a:latin typeface="Inter SemiBold"/>
              </a:rPr>
              <a:t>Resultado</a:t>
            </a:r>
            <a:r>
              <a:rPr sz="3200" b="0" i="0" u="none" dirty="0">
                <a:solidFill>
                  <a:srgbClr val="111111"/>
                </a:solidFill>
                <a:latin typeface="Inter SemiBold"/>
              </a:rPr>
              <a:t>: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084040"/>
            <a:ext cx="3333750" cy="3333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0" y="4716701"/>
            <a:ext cx="56007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Confirmación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de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los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puntos de dolor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institucionales</a:t>
            </a:r>
            <a:endParaRPr sz="2800" b="0" i="0" u="none" dirty="0">
              <a:solidFill>
                <a:srgbClr val="111111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96000" y="5827960"/>
            <a:ext cx="49530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Refinamiento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de la UX/UI para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minimizar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la curva de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aprendizaje</a:t>
            </a:r>
            <a:endParaRPr sz="2800" b="0" i="0" u="none" dirty="0">
              <a:solidFill>
                <a:srgbClr val="111111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810250" y="4716701"/>
            <a:ext cx="952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111111"/>
                </a:solidFill>
                <a:latin typeface="Inter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0" y="5827960"/>
            <a:ext cx="952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111111"/>
                </a:solidFill>
                <a:latin typeface="Inter"/>
              </a:rPr>
              <a:t>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45034"/>
            <a:ext cx="2547937" cy="389751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5187" y="1945034"/>
            <a:ext cx="2547937" cy="389751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945034"/>
            <a:ext cx="2547937" cy="389751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2562" y="1945034"/>
            <a:ext cx="2547937" cy="389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4 Interfaces 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Integradas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22771" y="2486649"/>
            <a:ext cx="1245393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369" y="4136260"/>
            <a:ext cx="159019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Panel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3405" y="2486649"/>
            <a:ext cx="5715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4031" y="4136260"/>
            <a:ext cx="199024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App del Socio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7093" y="2492270"/>
            <a:ext cx="5715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5213" y="4136260"/>
            <a:ext cx="2075259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App de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60781" y="2492270"/>
            <a:ext cx="5715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73638" y="4512997"/>
            <a:ext cx="1345784" cy="354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BotIn</a:t>
            </a:r>
            <a:endParaRPr sz="3600" b="1" i="0" u="none" dirty="0">
              <a:solidFill>
                <a:srgbClr val="F5F5F5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5071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1446" y="514965"/>
            <a:ext cx="5238750" cy="55159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4800" b="0" i="1" u="none" dirty="0">
                <a:solidFill>
                  <a:srgbClr val="111111"/>
                </a:solidFill>
                <a:latin typeface="Montserrat"/>
              </a:rPr>
              <a:t> "A team is a business at the end of the day, and the organizations must continue evolving digitally to remain competitive, both on the field and off."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299343"/>
            <a:ext cx="5238750" cy="315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800" b="0" i="0" u="none" dirty="0">
                <a:solidFill>
                  <a:srgbClr val="111111"/>
                </a:solidFill>
                <a:latin typeface="Inter SemiBold"/>
              </a:rPr>
              <a:t>— DREW CRISP (LIVERPOOL FC)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CEF5EF7-A0F5-2A01-4E76-5A027F7C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805" y="0"/>
            <a:ext cx="6172200" cy="69317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7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354359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Ejes de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i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nnovación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y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d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isrupción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14587" y="2041024"/>
            <a:ext cx="9048750" cy="3894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>
                <a:solidFill>
                  <a:srgbClr val="F5F5F5"/>
                </a:solidFill>
                <a:latin typeface="Inter"/>
              </a:rPr>
              <a:t>Motor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p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redictivo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m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orosidad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14587" y="3345949"/>
            <a:ext cx="9048750" cy="37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Optimización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lang="es-AR" sz="4000" b="1" i="0" u="none" dirty="0">
                <a:solidFill>
                  <a:srgbClr val="F5F5F5"/>
                </a:solidFill>
                <a:latin typeface="Inter"/>
              </a:rPr>
              <a:t>a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ctivos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i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nstitucionales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14587" y="4650874"/>
            <a:ext cx="9048750" cy="3894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Interacción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c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ognitiva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sin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f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ricción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14587" y="5955799"/>
            <a:ext cx="9048750" cy="3894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Acceso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i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nteligente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TOTP 100% </a:t>
            </a:r>
            <a:r>
              <a:rPr lang="es-AR" sz="4000" b="1" i="0" u="none" dirty="0">
                <a:solidFill>
                  <a:srgbClr val="F5F5F5"/>
                </a:solidFill>
                <a:latin typeface="Inter"/>
              </a:rPr>
              <a:t>o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ffline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49" y="1786827"/>
            <a:ext cx="546163" cy="565669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666" y="3180823"/>
            <a:ext cx="542646" cy="44962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666" y="4458771"/>
            <a:ext cx="542646" cy="449621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4149" y="5874275"/>
            <a:ext cx="542646" cy="44962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47666" y="5848384"/>
            <a:ext cx="542646" cy="46124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2842" y="571499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Arquitectura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de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m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icroservicios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1AF19114-C1E0-706F-B04F-81B47D578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27" y="1491240"/>
            <a:ext cx="11795146" cy="472985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0184"/>
            <a:ext cx="5238750" cy="251073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240184"/>
            <a:ext cx="5238750" cy="251073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322415"/>
            <a:ext cx="5238750" cy="222498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4322415"/>
            <a:ext cx="5238750" cy="222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29616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Atributos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de </a:t>
            </a:r>
            <a:r>
              <a:rPr lang="es-AR" sz="4800" b="0" i="0" u="none" dirty="0">
                <a:solidFill>
                  <a:srgbClr val="F5F5F5"/>
                </a:solidFill>
                <a:latin typeface="Montserrat ExtraBold"/>
              </a:rPr>
              <a:t>c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alidad y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r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esiliencia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08388" y="2407189"/>
            <a:ext cx="4010025" cy="367216"/>
          </a:xfrm>
          <a:prstGeom prst="rect">
            <a:avLst/>
          </a:prstGeom>
          <a:noFill/>
        </p:spPr>
        <p:txBody>
          <a:bodyPr wrap="square" lIns="409575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3600" b="1" i="0" u="none" dirty="0" err="1">
                <a:solidFill>
                  <a:srgbClr val="FFFFFF"/>
                </a:solidFill>
                <a:latin typeface="Montserrat"/>
              </a:rPr>
              <a:t>Escalabilidad</a:t>
            </a:r>
            <a:endParaRPr sz="2100" b="1" i="0" u="none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29327" y="4894846"/>
            <a:ext cx="4700587" cy="1107996"/>
          </a:xfrm>
          <a:prstGeom prst="rect">
            <a:avLst/>
          </a:prstGeom>
          <a:noFill/>
        </p:spPr>
        <p:txBody>
          <a:bodyPr wrap="square" lIns="409575" tIns="0" rIns="0" bIns="0" anchor="t">
            <a:spAutoFit/>
          </a:bodyPr>
          <a:lstStyle/>
          <a:p>
            <a:pPr algn="l"/>
            <a:r>
              <a:rPr sz="3600" b="1" i="0" u="none" dirty="0" err="1">
                <a:solidFill>
                  <a:srgbClr val="FFFFFF"/>
                </a:solidFill>
                <a:latin typeface="Montserrat"/>
              </a:rPr>
              <a:t>Rendimiento</a:t>
            </a:r>
            <a:br>
              <a:rPr lang="es-AR" sz="3600" b="1" dirty="0">
                <a:solidFill>
                  <a:srgbClr val="FFFFFF"/>
                </a:solidFill>
                <a:latin typeface="Montserrat"/>
              </a:rPr>
            </a:br>
            <a:r>
              <a:rPr lang="es-AR" sz="3600" b="1" dirty="0">
                <a:solidFill>
                  <a:srgbClr val="FFFFFF"/>
                </a:solidFill>
                <a:latin typeface="Montserrat"/>
              </a:rPr>
              <a:t>&amp;</a:t>
            </a:r>
            <a:r>
              <a:rPr sz="3600" b="1" i="0" u="none" dirty="0">
                <a:solidFill>
                  <a:srgbClr val="FFFFFF"/>
                </a:solidFill>
                <a:latin typeface="Montserrat"/>
              </a:rPr>
              <a:t> 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2613" y="5425513"/>
            <a:ext cx="5238750" cy="367216"/>
          </a:xfrm>
          <a:prstGeom prst="rect">
            <a:avLst/>
          </a:prstGeom>
          <a:noFill/>
        </p:spPr>
        <p:txBody>
          <a:bodyPr wrap="square" lIns="47625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3600" b="1" i="0" u="none" dirty="0" err="1">
                <a:solidFill>
                  <a:srgbClr val="FFFFFF"/>
                </a:solidFill>
                <a:latin typeface="Montserrat"/>
              </a:rPr>
              <a:t>Interoperabilidad</a:t>
            </a:r>
            <a:endParaRPr sz="3600" b="1" i="0" u="none" dirty="0">
              <a:solidFill>
                <a:srgbClr val="FFFFFF"/>
              </a:solidFill>
              <a:latin typeface="Montserrat"/>
            </a:endParaRP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157" y="2166131"/>
            <a:ext cx="648314" cy="648314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335" y="2166131"/>
            <a:ext cx="642553" cy="648314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157" y="5166270"/>
            <a:ext cx="648314" cy="648314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1336" y="5177884"/>
            <a:ext cx="642553" cy="514042"/>
          </a:xfrm>
          <a:prstGeom prst="rect">
            <a:avLst/>
          </a:prstGeom>
        </p:spPr>
      </p:pic>
      <p:sp>
        <p:nvSpPr>
          <p:cNvPr id="21" name="TextBox 11">
            <a:extLst>
              <a:ext uri="{FF2B5EF4-FFF2-40B4-BE49-F238E27FC236}">
                <a16:creationId xmlns:a16="http://schemas.microsoft.com/office/drawing/2014/main" id="{626893A6-2F75-7076-BB18-7220C6D5D1AB}"/>
              </a:ext>
            </a:extLst>
          </p:cNvPr>
          <p:cNvSpPr txBox="1"/>
          <p:nvPr/>
        </p:nvSpPr>
        <p:spPr>
          <a:xfrm>
            <a:off x="1109241" y="1936290"/>
            <a:ext cx="3558201" cy="1107996"/>
          </a:xfrm>
          <a:prstGeom prst="rect">
            <a:avLst/>
          </a:prstGeom>
          <a:noFill/>
        </p:spPr>
        <p:txBody>
          <a:bodyPr wrap="square" lIns="409575" tIns="0" rIns="0" bIns="0" anchor="t">
            <a:spAutoFit/>
          </a:bodyPr>
          <a:lstStyle/>
          <a:p>
            <a:r>
              <a:rPr lang="es-AR" sz="3600" b="1" i="0" u="none" dirty="0">
                <a:solidFill>
                  <a:srgbClr val="FFFFFF"/>
                </a:solidFill>
                <a:latin typeface="Montserrat"/>
              </a:rPr>
              <a:t>Seguridad</a:t>
            </a:r>
          </a:p>
          <a:p>
            <a:pPr algn="l"/>
            <a:r>
              <a:rPr lang="es-AR" sz="3600" b="1" i="0" u="none" dirty="0">
                <a:solidFill>
                  <a:srgbClr val="FFFFFF"/>
                </a:solidFill>
                <a:latin typeface="Montserrat"/>
              </a:rPr>
              <a:t>(Zero</a:t>
            </a:r>
            <a:r>
              <a:rPr lang="es-AR" sz="3600" b="1" dirty="0">
                <a:solidFill>
                  <a:srgbClr val="FFFFFF"/>
                </a:solidFill>
                <a:latin typeface="Montserrat"/>
              </a:rPr>
              <a:t>-Trust)</a:t>
            </a:r>
            <a:endParaRPr sz="3600" b="1" i="0" u="none" dirty="0">
              <a:solidFill>
                <a:srgbClr val="FFFFFF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41226"/>
            <a:ext cx="762000" cy="76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15539" y="2288976"/>
            <a:ext cx="7360920" cy="73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1" i="0" u="none" dirty="0">
                <a:solidFill>
                  <a:srgbClr val="111111"/>
                </a:solidFill>
                <a:latin typeface="Montserrat"/>
              </a:rPr>
              <a:t>El </a:t>
            </a:r>
            <a:r>
              <a:rPr lang="es-AR" sz="4800" b="1" dirty="0">
                <a:solidFill>
                  <a:srgbClr val="111111"/>
                </a:solidFill>
                <a:latin typeface="Montserrat"/>
              </a:rPr>
              <a:t>l</a:t>
            </a:r>
            <a:r>
              <a:rPr sz="4800" b="1" i="0" u="none" dirty="0" err="1">
                <a:solidFill>
                  <a:srgbClr val="111111"/>
                </a:solidFill>
                <a:latin typeface="Montserrat"/>
              </a:rPr>
              <a:t>ienzo</a:t>
            </a:r>
            <a:r>
              <a:rPr sz="4800" b="1" i="0" u="none" dirty="0">
                <a:solidFill>
                  <a:srgbClr val="111111"/>
                </a:solidFill>
                <a:latin typeface="Montserrat"/>
              </a:rPr>
              <a:t> </a:t>
            </a:r>
            <a:r>
              <a:rPr lang="es-AR" sz="4800" b="1" dirty="0">
                <a:solidFill>
                  <a:srgbClr val="111111"/>
                </a:solidFill>
                <a:latin typeface="Montserrat"/>
              </a:rPr>
              <a:t>I</a:t>
            </a:r>
            <a:r>
              <a:rPr sz="4800" b="1" i="0" u="none" dirty="0" err="1">
                <a:solidFill>
                  <a:srgbClr val="111111"/>
                </a:solidFill>
                <a:latin typeface="Montserrat"/>
              </a:rPr>
              <a:t>nstitucional</a:t>
            </a:r>
            <a:endParaRPr sz="48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3496716"/>
            <a:ext cx="762000" cy="381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9750" y="3856704"/>
            <a:ext cx="85725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Aplicación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estricta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de la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Teoría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de la Gestalt. Nuestra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plataforma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base es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acromática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para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transmitir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transparencia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financiera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Estrategia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de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p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enetración</a:t>
            </a:r>
            <a:endParaRPr lang="es-AR" sz="4800" dirty="0">
              <a:solidFill>
                <a:srgbClr val="F5F5F5"/>
              </a:solidFill>
              <a:latin typeface="Montserrat ExtraBold"/>
            </a:endParaRPr>
          </a:p>
          <a:p>
            <a:pPr algn="l"/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(Go-To-Market)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4187835"/>
            <a:ext cx="11049000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3387" y="4512915"/>
            <a:ext cx="5800725" cy="380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3200" b="1" i="0" u="none" dirty="0">
                <a:solidFill>
                  <a:srgbClr val="F5F5F5"/>
                </a:solidFill>
                <a:latin typeface="Montserrat"/>
              </a:rPr>
              <a:t>FASE 1: Nicho </a:t>
            </a:r>
            <a:r>
              <a:rPr sz="3200" b="1" i="0" u="none" dirty="0" err="1">
                <a:solidFill>
                  <a:srgbClr val="F5F5F5"/>
                </a:solidFill>
                <a:latin typeface="Montserrat"/>
              </a:rPr>
              <a:t>Estratégico</a:t>
            </a:r>
            <a:endParaRPr sz="3200" b="1" i="0" u="none" dirty="0">
              <a:solidFill>
                <a:srgbClr val="F5F5F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4973835"/>
            <a:ext cx="55245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>
                <a:solidFill>
                  <a:srgbClr val="F5F5F5"/>
                </a:solidFill>
                <a:latin typeface="Inter"/>
              </a:rPr>
              <a:t>Foco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quirúrgico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en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87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clubes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(Primera B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Metropoliana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, Primera C, Federal 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7887" y="2289869"/>
            <a:ext cx="5800725" cy="380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3200" b="1" i="0" u="none" dirty="0">
                <a:solidFill>
                  <a:srgbClr val="F5F5F5"/>
                </a:solidFill>
                <a:latin typeface="Montserrat"/>
              </a:rPr>
              <a:t>FASE 2: </a:t>
            </a:r>
            <a:r>
              <a:rPr sz="3200" b="1" i="0" u="none" dirty="0" err="1">
                <a:solidFill>
                  <a:srgbClr val="F5F5F5"/>
                </a:solidFill>
                <a:latin typeface="Montserrat"/>
              </a:rPr>
              <a:t>Escalamiento</a:t>
            </a:r>
            <a:endParaRPr sz="3200" b="1" i="0" u="none" dirty="0">
              <a:solidFill>
                <a:srgbClr val="F5F5F5"/>
              </a:solidFill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96000" y="2750790"/>
            <a:ext cx="5524500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Capitalización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casos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éxito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para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penetrar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orgánicamente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en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la Primera Nacional y la Liga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Profesional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19450" y="409258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743950" y="409258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45034"/>
            <a:ext cx="3492549" cy="448419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1945034"/>
            <a:ext cx="3492549" cy="448419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1945034"/>
            <a:ext cx="3492549" cy="448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Pricing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b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asado 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en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el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v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alor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47591" y="3097559"/>
            <a:ext cx="1740217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111111"/>
                </a:solidFill>
                <a:latin typeface="Montserrat"/>
              </a:rPr>
              <a:t>Setup Fee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627" y="4274790"/>
            <a:ext cx="2901999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Costo de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configuración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inicial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.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Bonificado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al 100% para </a:t>
            </a:r>
            <a:r>
              <a:rPr sz="2800" b="0" i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Early</a:t>
            </a:r>
            <a:r>
              <a:rPr lang="es-AR" sz="2800" b="0" i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lang="es-AR" sz="2800" b="0" i="1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Adopters</a:t>
            </a:r>
            <a:endParaRPr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524" y="3097559"/>
            <a:ext cx="3047099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Suscripción</a:t>
            </a: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 </a:t>
            </a:r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Híbrida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3963" y="4703694"/>
            <a:ext cx="2984074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Abono mensual fijo 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+</a:t>
            </a:r>
            <a:endParaRPr lang="es-AR"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  <a:p>
            <a:pPr algn="ctr"/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Fee </a:t>
            </a:r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v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ariable</a:t>
            </a:r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p/trans.</a:t>
            </a:r>
            <a:endParaRPr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98296" y="3097559"/>
            <a:ext cx="3152002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111111"/>
                </a:solidFill>
                <a:latin typeface="Montserrat"/>
              </a:rPr>
              <a:t>Marketplace CPA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3374" y="4711749"/>
            <a:ext cx="2901999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Monetización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publicitaria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en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la </a:t>
            </a:r>
            <a:r>
              <a:rPr lang="es-AR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p</a:t>
            </a:r>
            <a:r>
              <a:rPr lang="es-AR"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licación</a:t>
            </a:r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móvil</a:t>
            </a:r>
            <a:endParaRPr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9770" y="2127563"/>
            <a:ext cx="1155858" cy="924686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8071" y="2127563"/>
            <a:ext cx="1155858" cy="924686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654" y="2015653"/>
            <a:ext cx="1011287" cy="101128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Proyección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b="0" i="0" u="none" dirty="0">
                <a:solidFill>
                  <a:srgbClr val="F5F5F5"/>
                </a:solidFill>
                <a:latin typeface="Montserrat ExtraBold"/>
              </a:rPr>
              <a:t>f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inanciera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b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ase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499" y="1590206"/>
            <a:ext cx="484822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0" u="none" dirty="0">
                <a:solidFill>
                  <a:srgbClr val="F5F5F5"/>
                </a:solidFill>
                <a:latin typeface="Inter SemiBold"/>
              </a:rPr>
              <a:t>12% </a:t>
            </a:r>
            <a:r>
              <a:rPr lang="es-AR" sz="3200" b="0" i="0" u="none" dirty="0">
                <a:solidFill>
                  <a:srgbClr val="F5F5F5"/>
                </a:solidFill>
                <a:latin typeface="Inter SemiBold"/>
              </a:rPr>
              <a:t>Penetración conservadora </a:t>
            </a:r>
            <a:r>
              <a:rPr sz="3200" b="0" i="0" u="none" dirty="0">
                <a:solidFill>
                  <a:srgbClr val="F5F5F5"/>
                </a:solidFill>
                <a:latin typeface="Inter SemiBold"/>
              </a:rPr>
              <a:t>(10 </a:t>
            </a:r>
            <a:r>
              <a:rPr sz="3200" b="0" i="0" u="none" dirty="0" err="1">
                <a:solidFill>
                  <a:srgbClr val="F5F5F5"/>
                </a:solidFill>
                <a:latin typeface="Inter SemiBold"/>
              </a:rPr>
              <a:t>Clubes</a:t>
            </a:r>
            <a:r>
              <a:rPr sz="3200" b="0" i="0" u="none" dirty="0">
                <a:solidFill>
                  <a:srgbClr val="F5F5F5"/>
                </a:solidFill>
                <a:latin typeface="Inter SemiBold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028129"/>
            <a:ext cx="4848225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sz="8250" b="0" i="0" u="none" dirty="0">
                <a:solidFill>
                  <a:srgbClr val="F5F5F5"/>
                </a:solidFill>
                <a:latin typeface="Montserrat ExtraBold"/>
              </a:rPr>
              <a:t>$48k USD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256332"/>
            <a:ext cx="4848225" cy="378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50"/>
              </a:lnSpc>
            </a:pPr>
            <a:r>
              <a:rPr sz="2100" b="0" i="0" u="none" dirty="0" err="1">
                <a:solidFill>
                  <a:srgbClr val="F5F5F5"/>
                </a:solidFill>
                <a:latin typeface="Inter SemiBold"/>
              </a:rPr>
              <a:t>Ingresos</a:t>
            </a:r>
            <a:r>
              <a:rPr sz="2100" b="0" i="0" u="none" dirty="0">
                <a:solidFill>
                  <a:srgbClr val="F5F5F5"/>
                </a:solidFill>
                <a:latin typeface="Inter SemiBold"/>
              </a:rPr>
              <a:t> </a:t>
            </a:r>
            <a:r>
              <a:rPr lang="es-AR" sz="2100" dirty="0">
                <a:solidFill>
                  <a:srgbClr val="F5F5F5"/>
                </a:solidFill>
                <a:latin typeface="Inter SemiBold"/>
              </a:rPr>
              <a:t>f</a:t>
            </a:r>
            <a:r>
              <a:rPr sz="2100" b="0" i="0" u="none" dirty="0" err="1">
                <a:solidFill>
                  <a:srgbClr val="F5F5F5"/>
                </a:solidFill>
                <a:latin typeface="Inter SemiBold"/>
              </a:rPr>
              <a:t>ijos</a:t>
            </a:r>
            <a:r>
              <a:rPr sz="2100" b="0" i="0" u="none" dirty="0">
                <a:solidFill>
                  <a:srgbClr val="F5F5F5"/>
                </a:solidFill>
                <a:latin typeface="Inter SemiBold"/>
              </a:rPr>
              <a:t> </a:t>
            </a:r>
            <a:r>
              <a:rPr lang="es-AR" sz="2100" dirty="0">
                <a:solidFill>
                  <a:srgbClr val="F5F5F5"/>
                </a:solidFill>
                <a:latin typeface="Inter SemiBold"/>
              </a:rPr>
              <a:t>a</a:t>
            </a:r>
            <a:r>
              <a:rPr sz="2100" b="0" i="0" u="none" dirty="0" err="1">
                <a:solidFill>
                  <a:srgbClr val="F5F5F5"/>
                </a:solidFill>
                <a:latin typeface="Inter SemiBold"/>
              </a:rPr>
              <a:t>nuales</a:t>
            </a:r>
            <a:endParaRPr sz="2100" b="0" i="0" u="none" dirty="0">
              <a:solidFill>
                <a:srgbClr val="F5F5F5"/>
              </a:solidFill>
              <a:latin typeface="Inter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641306" y="3828229"/>
            <a:ext cx="5100637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+ </a:t>
            </a: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Ingresos</a:t>
            </a:r>
            <a:r>
              <a:rPr sz="3600" b="1" i="0" u="none" dirty="0">
                <a:solidFill>
                  <a:srgbClr val="F5F5F5"/>
                </a:solidFill>
                <a:latin typeface="Montserrat"/>
              </a:rPr>
              <a:t> </a:t>
            </a:r>
            <a:r>
              <a:rPr lang="es-AR" sz="3600" b="1" i="0" u="none" dirty="0">
                <a:solidFill>
                  <a:srgbClr val="F5F5F5"/>
                </a:solidFill>
                <a:latin typeface="Montserrat"/>
              </a:rPr>
              <a:t>v</a:t>
            </a: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ariables</a:t>
            </a:r>
            <a:r>
              <a:rPr sz="3600" b="1" i="0" u="none" dirty="0">
                <a:solidFill>
                  <a:srgbClr val="F5F5F5"/>
                </a:solidFill>
                <a:latin typeface="Montserrat"/>
              </a:rPr>
              <a:t> </a:t>
            </a:r>
            <a:r>
              <a:rPr lang="es-AR" sz="3600" b="1" dirty="0">
                <a:solidFill>
                  <a:srgbClr val="F5F5F5"/>
                </a:solidFill>
                <a:latin typeface="Montserrat"/>
              </a:rPr>
              <a:t>e</a:t>
            </a: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xponenciales</a:t>
            </a:r>
            <a:endParaRPr sz="3600" b="1" i="0" u="none" dirty="0">
              <a:solidFill>
                <a:srgbClr val="F5F5F5"/>
              </a:solidFill>
              <a:latin typeface="Montserrat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625" y="2790004"/>
            <a:ext cx="76200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15740" y="1947862"/>
            <a:ext cx="4160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sz="9000" b="1" i="0" u="none" dirty="0">
                <a:solidFill>
                  <a:srgbClr val="111111"/>
                </a:solidFill>
                <a:latin typeface="Montserrat"/>
              </a:rP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0" y="3795712"/>
            <a:ext cx="762000" cy="381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19612" y="4310062"/>
            <a:ext cx="3152775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 dirty="0" err="1">
                <a:solidFill>
                  <a:srgbClr val="111111"/>
                </a:solidFill>
                <a:latin typeface="Inter Medium"/>
              </a:rPr>
              <a:t>SocioUnido</a:t>
            </a:r>
            <a:r>
              <a:rPr sz="48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4800" b="0" i="0" u="none" dirty="0" err="1">
                <a:solidFill>
                  <a:srgbClr val="111111"/>
                </a:solidFill>
                <a:latin typeface="Inter Medium"/>
              </a:rPr>
              <a:t>en</a:t>
            </a:r>
            <a:r>
              <a:rPr sz="48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4800" b="0" i="0" u="none" dirty="0" err="1">
                <a:solidFill>
                  <a:srgbClr val="111111"/>
                </a:solidFill>
                <a:latin typeface="Inter Medium"/>
              </a:rPr>
              <a:t>acción</a:t>
            </a:r>
            <a:endParaRPr sz="4800" b="0" i="0" u="none" dirty="0">
              <a:solidFill>
                <a:srgbClr val="111111"/>
              </a:solidFill>
              <a:latin typeface="Inter Medium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87709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Próximos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p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asos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933700" y="17933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Protección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Intelectual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933700" y="27839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Gestión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lang="es-AR" sz="3600" b="1" i="0" u="none" dirty="0">
                <a:solidFill>
                  <a:srgbClr val="F5F5F5"/>
                </a:solidFill>
                <a:latin typeface="Inter"/>
              </a:rPr>
              <a:t>g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rupo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Familiar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33700" y="37745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Molinetes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3600" b="1" dirty="0">
                <a:solidFill>
                  <a:srgbClr val="F5F5F5"/>
                </a:solidFill>
                <a:latin typeface="Inter"/>
              </a:rPr>
              <a:t>f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ísicos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933700" y="47651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Enrutamiento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3600" b="1" dirty="0">
                <a:solidFill>
                  <a:srgbClr val="F5F5F5"/>
                </a:solidFill>
                <a:latin typeface="Inter"/>
              </a:rPr>
              <a:t>f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inanciero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33700" y="57557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Despliegue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3600" b="1" i="0" u="none" dirty="0">
                <a:solidFill>
                  <a:srgbClr val="F5F5F5"/>
                </a:solidFill>
                <a:latin typeface="Inter"/>
              </a:rPr>
              <a:t>n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ativo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783" y="1648731"/>
            <a:ext cx="495301" cy="49530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783" y="2696540"/>
            <a:ext cx="495301" cy="41039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4762" y="3612314"/>
            <a:ext cx="347664" cy="480107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5783" y="4638802"/>
            <a:ext cx="416643" cy="431523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0469" y="5624291"/>
            <a:ext cx="411957" cy="4778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514600"/>
            <a:ext cx="1160145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solidFill>
                  <a:srgbClr val="111111"/>
                </a:solidFill>
                <a:latin typeface="Montserrat"/>
              </a:rPr>
              <a:t>Entonces, ¿Por qué SocioUnido?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17EBB2-937D-B026-6588-6BB25F6A1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AA3BF8-CFCC-1C42-DC0D-9AE8020D0F14}"/>
              </a:ext>
            </a:extLst>
          </p:cNvPr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es-AR" sz="7500" b="1" i="0" u="none" dirty="0">
                <a:solidFill>
                  <a:schemeClr val="bg1"/>
                </a:solidFill>
                <a:latin typeface="Montserrat"/>
              </a:rPr>
              <a:t>Porque…</a:t>
            </a:r>
            <a:endParaRPr sz="7500" b="1" i="0" u="none" dirty="0">
              <a:solidFill>
                <a:schemeClr val="bg1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8983642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D5BE1-B5F7-8126-4EBC-2438E470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0AB8A63-3D97-AA10-69C7-8C01B8BB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170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471</Words>
  <Application>Microsoft Office PowerPoint</Application>
  <PresentationFormat>Panorámica</PresentationFormat>
  <Paragraphs>86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32" baseType="lpstr">
      <vt:lpstr>Arial</vt:lpstr>
      <vt:lpstr>Calibri</vt:lpstr>
      <vt:lpstr>Inter</vt:lpstr>
      <vt:lpstr>Inter Medium</vt:lpstr>
      <vt:lpstr>Inter SemiBold</vt:lpstr>
      <vt:lpstr>Montserrat</vt:lpstr>
      <vt:lpstr>Montserrat ExtraBold</vt:lpstr>
      <vt:lpstr>Times New Roman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Santino Ascencio</cp:lastModifiedBy>
  <cp:revision>5</cp:revision>
  <dcterms:created xsi:type="dcterms:W3CDTF">2013-01-27T09:14:16Z</dcterms:created>
  <dcterms:modified xsi:type="dcterms:W3CDTF">2026-09-15T02:04:52Z</dcterms:modified>
  <cp:category/>
</cp:coreProperties>
</file>