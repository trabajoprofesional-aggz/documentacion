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y="6858000" cx="12192000"/>
  <p:notesSz cx="6858000" cy="9144000"/>
  <p:embeddedFontLst>
    <p:embeddedFont>
      <p:font typeface="Montserrat SemiBold"/>
      <p:regular r:id="rId34"/>
      <p:bold r:id="rId35"/>
      <p:italic r:id="rId36"/>
      <p:boldItalic r:id="rId37"/>
    </p:embeddedFont>
    <p:embeddedFont>
      <p:font typeface="Inter SemiBold"/>
      <p:regular r:id="rId38"/>
      <p:bold r:id="rId39"/>
      <p:italic r:id="rId40"/>
      <p:boldItalic r:id="rId41"/>
    </p:embeddedFont>
    <p:embeddedFont>
      <p:font typeface="Montserrat"/>
      <p:regular r:id="rId42"/>
      <p:bold r:id="rId43"/>
      <p:italic r:id="rId44"/>
      <p:boldItalic r:id="rId45"/>
    </p:embeddedFont>
    <p:embeddedFont>
      <p:font typeface="Inter"/>
      <p:regular r:id="rId46"/>
      <p:bold r:id="rId47"/>
      <p:italic r:id="rId48"/>
      <p:boldItalic r:id="rId49"/>
    </p:embeddedFont>
    <p:embeddedFont>
      <p:font typeface="Montserrat Medium"/>
      <p:regular r:id="rId50"/>
      <p:bold r:id="rId51"/>
      <p:italic r:id="rId52"/>
      <p:boldItalic r:id="rId53"/>
    </p:embeddedFont>
    <p:embeddedFont>
      <p:font typeface="Montserrat ExtraBold"/>
      <p:bold r:id="rId54"/>
      <p:boldItalic r:id="rId55"/>
    </p:embeddedFont>
    <p:embeddedFont>
      <p:font typeface="Inter Medium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561">
          <p15:clr>
            <a:srgbClr val="A4A3A4"/>
          </p15:clr>
        </p15:guide>
        <p15:guide id="3" pos="5120">
          <p15:clr>
            <a:srgbClr val="747775"/>
          </p15:clr>
        </p15:guide>
        <p15:guide id="4" pos="7680">
          <p15:clr>
            <a:srgbClr val="747775"/>
          </p15:clr>
        </p15:guide>
        <p15:guide id="5">
          <p15:clr>
            <a:srgbClr val="747775"/>
          </p15:clr>
        </p15:guide>
      </p15:sldGuideLst>
    </p:ext>
    <p:ext uri="GoogleSlidesCustomDataVersion2">
      <go:slidesCustomData xmlns:go="http://customooxmlschemas.google.com/" r:id="rId60" roundtripDataSignature="AMtx7miStQyyDlMnZrbwdhq3Jn2gho0h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561"/>
        <p:guide pos="5120"/>
        <p:guide pos="7680"/>
        <p:guide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nterSemiBold-italic.fntdata"/><Relationship Id="rId42" Type="http://schemas.openxmlformats.org/officeDocument/2006/relationships/font" Target="fonts/Montserrat-regular.fntdata"/><Relationship Id="rId41" Type="http://schemas.openxmlformats.org/officeDocument/2006/relationships/font" Target="fonts/InterSemiBold-boldItalic.fntdata"/><Relationship Id="rId44" Type="http://schemas.openxmlformats.org/officeDocument/2006/relationships/font" Target="fonts/Montserrat-italic.fntdata"/><Relationship Id="rId43" Type="http://schemas.openxmlformats.org/officeDocument/2006/relationships/font" Target="fonts/Montserrat-bold.fntdata"/><Relationship Id="rId46" Type="http://schemas.openxmlformats.org/officeDocument/2006/relationships/font" Target="fonts/Inter-regular.fntdata"/><Relationship Id="rId45" Type="http://schemas.openxmlformats.org/officeDocument/2006/relationships/font" Target="fonts/Montserrat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Inter-italic.fntdata"/><Relationship Id="rId47" Type="http://schemas.openxmlformats.org/officeDocument/2006/relationships/font" Target="fonts/Inter-bold.fntdata"/><Relationship Id="rId49" Type="http://schemas.openxmlformats.org/officeDocument/2006/relationships/font" Target="fonts/Inter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font" Target="fonts/MontserratSemiBold-bold.fntdata"/><Relationship Id="rId34" Type="http://schemas.openxmlformats.org/officeDocument/2006/relationships/font" Target="fonts/MontserratSemiBold-regular.fntdata"/><Relationship Id="rId37" Type="http://schemas.openxmlformats.org/officeDocument/2006/relationships/font" Target="fonts/MontserratSemiBold-boldItalic.fntdata"/><Relationship Id="rId36" Type="http://schemas.openxmlformats.org/officeDocument/2006/relationships/font" Target="fonts/MontserratSemiBold-italic.fntdata"/><Relationship Id="rId39" Type="http://schemas.openxmlformats.org/officeDocument/2006/relationships/font" Target="fonts/InterSemiBold-bold.fntdata"/><Relationship Id="rId38" Type="http://schemas.openxmlformats.org/officeDocument/2006/relationships/font" Target="fonts/InterSemiBold-regular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60" Type="http://customschemas.google.com/relationships/presentationmetadata" Target="metadata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MontserratMedium-bold.fntdata"/><Relationship Id="rId50" Type="http://schemas.openxmlformats.org/officeDocument/2006/relationships/font" Target="fonts/MontserratMedium-regular.fntdata"/><Relationship Id="rId53" Type="http://schemas.openxmlformats.org/officeDocument/2006/relationships/font" Target="fonts/MontserratMedium-boldItalic.fntdata"/><Relationship Id="rId52" Type="http://schemas.openxmlformats.org/officeDocument/2006/relationships/font" Target="fonts/MontserratMedium-italic.fntdata"/><Relationship Id="rId11" Type="http://schemas.openxmlformats.org/officeDocument/2006/relationships/slide" Target="slides/slide6.xml"/><Relationship Id="rId55" Type="http://schemas.openxmlformats.org/officeDocument/2006/relationships/font" Target="fonts/MontserratExtraBold-boldItalic.fntdata"/><Relationship Id="rId10" Type="http://schemas.openxmlformats.org/officeDocument/2006/relationships/slide" Target="slides/slide5.xml"/><Relationship Id="rId54" Type="http://schemas.openxmlformats.org/officeDocument/2006/relationships/font" Target="fonts/MontserratExtraBold-bold.fntdata"/><Relationship Id="rId13" Type="http://schemas.openxmlformats.org/officeDocument/2006/relationships/slide" Target="slides/slide8.xml"/><Relationship Id="rId57" Type="http://schemas.openxmlformats.org/officeDocument/2006/relationships/font" Target="fonts/InterMedium-bold.fntdata"/><Relationship Id="rId12" Type="http://schemas.openxmlformats.org/officeDocument/2006/relationships/slide" Target="slides/slide7.xml"/><Relationship Id="rId56" Type="http://schemas.openxmlformats.org/officeDocument/2006/relationships/font" Target="fonts/InterMedium-regular.fntdata"/><Relationship Id="rId15" Type="http://schemas.openxmlformats.org/officeDocument/2006/relationships/slide" Target="slides/slide10.xml"/><Relationship Id="rId59" Type="http://schemas.openxmlformats.org/officeDocument/2006/relationships/font" Target="fonts/InterMedium-boldItalic.fntdata"/><Relationship Id="rId14" Type="http://schemas.openxmlformats.org/officeDocument/2006/relationships/slide" Target="slides/slide9.xml"/><Relationship Id="rId58" Type="http://schemas.openxmlformats.org/officeDocument/2006/relationships/font" Target="fonts/InterMedium-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4c478f6c840f279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h4c478f6c840f2799_0_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h6614320cb80fea18_0_5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h6614320cb80fea18_0_5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h2cbbacd64be43ae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h2cbbacd64be43ae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h5dcf4a5e61b7b94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h5dcf4a5e61b7b943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h2cbbacd64be43ae2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h2cbbacd64be43ae2_0_6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h2cbbacd64be43ae2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h2cbbacd64be43ae2_0_9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h2cbbacd64be43ae2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h2cbbacd64be43ae2_0_1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h2cbbacd64be43ae2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h2cbbacd64be43ae2_0_16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h2cbbacd64be43ae2_0_1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h2cbbacd64be43ae2_0_1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h2cbbacd64be43ae2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h2cbbacd64be43ae2_0_18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h6614320cb80fea18_0_2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h6614320cb80fea18_0_20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h6614320cb80fea18_0_24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h6614320cb80fea18_0_24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h6614320cb80fea18_0_3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h6614320cb80fea18_0_30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h6594a2e70c4c9f3_22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h6594a2e70c4c9f3_22_1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" name="Google Shape;1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10" Type="http://schemas.openxmlformats.org/officeDocument/2006/relationships/image" Target="../media/image28.png"/><Relationship Id="rId9" Type="http://schemas.openxmlformats.org/officeDocument/2006/relationships/image" Target="../media/image21.png"/><Relationship Id="rId5" Type="http://schemas.openxmlformats.org/officeDocument/2006/relationships/image" Target="../media/image12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Relationship Id="rId4" Type="http://schemas.openxmlformats.org/officeDocument/2006/relationships/image" Target="../media/image26.png"/><Relationship Id="rId5" Type="http://schemas.openxmlformats.org/officeDocument/2006/relationships/image" Target="../media/image22.png"/><Relationship Id="rId6" Type="http://schemas.openxmlformats.org/officeDocument/2006/relationships/image" Target="../media/image2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1.png"/><Relationship Id="rId4" Type="http://schemas.openxmlformats.org/officeDocument/2006/relationships/image" Target="../media/image4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3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4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3.png"/><Relationship Id="rId4" Type="http://schemas.openxmlformats.org/officeDocument/2006/relationships/image" Target="../media/image32.png"/><Relationship Id="rId5" Type="http://schemas.openxmlformats.org/officeDocument/2006/relationships/image" Target="../media/image47.png"/><Relationship Id="rId6" Type="http://schemas.openxmlformats.org/officeDocument/2006/relationships/image" Target="../media/image3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6.png"/><Relationship Id="rId4" Type="http://schemas.openxmlformats.org/officeDocument/2006/relationships/image" Target="../media/image43.png"/><Relationship Id="rId5" Type="http://schemas.openxmlformats.org/officeDocument/2006/relationships/image" Target="../media/image39.png"/><Relationship Id="rId6" Type="http://schemas.openxmlformats.org/officeDocument/2006/relationships/image" Target="../media/image37.png"/><Relationship Id="rId7" Type="http://schemas.openxmlformats.org/officeDocument/2006/relationships/image" Target="../media/image4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png"/><Relationship Id="rId4" Type="http://schemas.openxmlformats.org/officeDocument/2006/relationships/image" Target="../media/image4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h4c478f6c840f2799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99" cy="678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/>
        </p:nvSpPr>
        <p:spPr>
          <a:xfrm>
            <a:off x="138900" y="2857500"/>
            <a:ext cx="117579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¿</a:t>
            </a:r>
            <a:r>
              <a:rPr b="1" lang="en-US" sz="6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 QUÉ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</a:t>
            </a:r>
            <a:r>
              <a:rPr b="1" lang="en-US" sz="7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/>
          </a:p>
        </p:txBody>
      </p:sp>
      <p:pic>
        <p:nvPicPr>
          <p:cNvPr id="90" name="Google Shape;90;p2" title="Gemini_Generated_Image_ys9g3ys9g3ys9g3y-removebg-preview.png"/>
          <p:cNvPicPr preferRelativeResize="0"/>
          <p:nvPr/>
        </p:nvPicPr>
        <p:blipFill rotWithShape="1">
          <a:blip r:embed="rId3">
            <a:alphaModFix/>
          </a:blip>
          <a:srcRect b="28660" l="0" r="0" t="26565"/>
          <a:stretch/>
        </p:blipFill>
        <p:spPr>
          <a:xfrm>
            <a:off x="5197650" y="3053461"/>
            <a:ext cx="5709299" cy="8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3025" y="136700"/>
            <a:ext cx="11705955" cy="65846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3"/>
          <p:cNvSpPr txBox="1"/>
          <p:nvPr/>
        </p:nvSpPr>
        <p:spPr>
          <a:xfrm>
            <a:off x="295275" y="571500"/>
            <a:ext cx="11601600" cy="6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equipo</a:t>
            </a:r>
            <a:endParaRPr b="0" i="0" sz="4800" u="none" cap="none" strike="noStrike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97" name="Google Shape;97;p3"/>
          <p:cNvSpPr txBox="1"/>
          <p:nvPr/>
        </p:nvSpPr>
        <p:spPr>
          <a:xfrm>
            <a:off x="295200" y="4013554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Felipe Ascencio</a:t>
            </a:r>
            <a:endParaRPr sz="1371"/>
          </a:p>
        </p:txBody>
      </p:sp>
      <p:sp>
        <p:nvSpPr>
          <p:cNvPr id="98" name="Google Shape;98;p3"/>
          <p:cNvSpPr txBox="1"/>
          <p:nvPr/>
        </p:nvSpPr>
        <p:spPr>
          <a:xfrm>
            <a:off x="357582" y="5170608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VENTA &amp; QA</a:t>
            </a:r>
            <a:endParaRPr sz="1371"/>
          </a:p>
        </p:txBody>
      </p:sp>
      <p:pic>
        <p:nvPicPr>
          <p:cNvPr id="99" name="Google Shape;9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9203" y="1495646"/>
            <a:ext cx="2332200" cy="23664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0" name="Google Shape;10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464059" y="1455321"/>
            <a:ext cx="2332200" cy="2367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1" name="Google Shape;101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55774" y="1455321"/>
            <a:ext cx="2332200" cy="23781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2" name="Google Shape;102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24512" y="1443603"/>
            <a:ext cx="2355300" cy="2390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3" name="Google Shape;103;p3"/>
          <p:cNvSpPr txBox="1"/>
          <p:nvPr/>
        </p:nvSpPr>
        <p:spPr>
          <a:xfrm>
            <a:off x="3303487" y="4013554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Axel Zielonka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" name="Google Shape;104;p3"/>
          <p:cNvSpPr txBox="1"/>
          <p:nvPr/>
        </p:nvSpPr>
        <p:spPr>
          <a:xfrm>
            <a:off x="3447489" y="5176030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FRONTEND &amp; MARCA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6311773" y="4019035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Martín Guerrero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" name="Google Shape;106;p3"/>
          <p:cNvSpPr txBox="1"/>
          <p:nvPr/>
        </p:nvSpPr>
        <p:spPr>
          <a:xfrm>
            <a:off x="6374153" y="5176030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BACKEND &amp; IA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7" name="Google Shape;107;p3"/>
          <p:cNvSpPr txBox="1"/>
          <p:nvPr/>
        </p:nvSpPr>
        <p:spPr>
          <a:xfrm>
            <a:off x="9423246" y="4034478"/>
            <a:ext cx="24135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Lautaro Ghosn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9401699" y="5180541"/>
            <a:ext cx="24951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ARQUITECTURA &amp; DATOS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09" name="Google Shape;109;p3" title="logo.png"/>
          <p:cNvPicPr preferRelativeResize="0"/>
          <p:nvPr/>
        </p:nvPicPr>
        <p:blipFill rotWithShape="1">
          <a:blip r:embed="rId8">
            <a:alphaModFix/>
          </a:blip>
          <a:srcRect b="0" l="4771" r="0" t="0"/>
          <a:stretch/>
        </p:blipFill>
        <p:spPr>
          <a:xfrm>
            <a:off x="9177876" y="5723250"/>
            <a:ext cx="3057325" cy="1168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0" name="Google Shape;110;p3"/>
          <p:cNvCxnSpPr/>
          <p:nvPr/>
        </p:nvCxnSpPr>
        <p:spPr>
          <a:xfrm>
            <a:off x="795175" y="6378600"/>
            <a:ext cx="8294400" cy="1140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11" name="Google Shape;111;p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" y="0"/>
            <a:ext cx="1213058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3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8021" y="0"/>
            <a:ext cx="12130588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7" name="Google Shape;11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6276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4"/>
          <p:cNvSpPr txBox="1"/>
          <p:nvPr/>
        </p:nvSpPr>
        <p:spPr>
          <a:xfrm>
            <a:off x="982325" y="2919850"/>
            <a:ext cx="102273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6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8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punto de encuentro</a:t>
            </a:r>
            <a:endParaRPr b="1" i="0" sz="58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9" name="Google Shape;119;p4"/>
          <p:cNvSpPr txBox="1"/>
          <p:nvPr/>
        </p:nvSpPr>
        <p:spPr>
          <a:xfrm>
            <a:off x="2286000" y="4489964"/>
            <a:ext cx="76200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400" u="none" cap="none" strike="noStrike">
                <a:solidFill>
                  <a:srgbClr val="BFBFB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La pasión por el </a:t>
            </a:r>
            <a:r>
              <a:rPr lang="en-US" sz="4400">
                <a:solidFill>
                  <a:srgbClr val="BFBFB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deporte</a:t>
            </a:r>
            <a:endParaRPr sz="22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20" name="Google Shape;120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24500" y="1099524"/>
            <a:ext cx="1143000" cy="11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h6614320cb80fea18_0_582"/>
          <p:cNvSpPr txBox="1"/>
          <p:nvPr/>
        </p:nvSpPr>
        <p:spPr>
          <a:xfrm>
            <a:off x="762000" y="428625"/>
            <a:ext cx="10784100" cy="1381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Los clubes pierden plata en</a:t>
            </a:r>
            <a:endParaRPr b="1" sz="1800">
              <a:solidFill>
                <a:srgbClr val="E11D4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26" name="Google Shape;126;h6614320cb80fea18_0_582"/>
          <p:cNvGrpSpPr/>
          <p:nvPr/>
        </p:nvGrpSpPr>
        <p:grpSpPr>
          <a:xfrm>
            <a:off x="762000" y="1371700"/>
            <a:ext cx="3333900" cy="4819650"/>
            <a:chOff x="0" y="0"/>
            <a:chExt cx="3333900" cy="4191000"/>
          </a:xfrm>
        </p:grpSpPr>
        <p:sp>
          <p:nvSpPr>
            <p:cNvPr id="127" name="Google Shape;127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money_off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01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Morosidad no detectada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t/>
              </a:r>
              <a:endParaRPr sz="19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30" name="Google Shape;130;h6614320cb80fea18_0_582"/>
          <p:cNvGrpSpPr/>
          <p:nvPr/>
        </p:nvGrpSpPr>
        <p:grpSpPr>
          <a:xfrm>
            <a:off x="4429125" y="1371600"/>
            <a:ext cx="3333900" cy="4819650"/>
            <a:chOff x="0" y="0"/>
            <a:chExt cx="3333900" cy="4191000"/>
          </a:xfrm>
        </p:grpSpPr>
        <p:sp>
          <p:nvSpPr>
            <p:cNvPr id="131" name="Google Shape;131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02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Fraude perimetral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1000"/>
                </a:spcAft>
                <a:buNone/>
              </a:pPr>
              <a:r>
                <a:t/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34" name="Google Shape;134;h6614320cb80fea18_0_582"/>
          <p:cNvGrpSpPr/>
          <p:nvPr/>
        </p:nvGrpSpPr>
        <p:grpSpPr>
          <a:xfrm>
            <a:off x="8096250" y="1371700"/>
            <a:ext cx="3333900" cy="4819650"/>
            <a:chOff x="0" y="0"/>
            <a:chExt cx="3333900" cy="4191000"/>
          </a:xfrm>
        </p:grpSpPr>
        <p:sp>
          <p:nvSpPr>
            <p:cNvPr id="135" name="Google Shape;135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domain_disabled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03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Activos subutilizados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t/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38" name="Google Shape;138;h6614320cb80fea18_0_5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8050" y="3283550"/>
            <a:ext cx="2896050" cy="2821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h6614320cb80fea18_0_582"/>
          <p:cNvPicPr preferRelativeResize="0"/>
          <p:nvPr/>
        </p:nvPicPr>
        <p:blipFill rotWithShape="1">
          <a:blip r:embed="rId5">
            <a:alphaModFix/>
          </a:blip>
          <a:srcRect b="4073" l="13023" r="24368" t="9264"/>
          <a:stretch/>
        </p:blipFill>
        <p:spPr>
          <a:xfrm>
            <a:off x="980925" y="3356275"/>
            <a:ext cx="2896050" cy="2675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h6614320cb80fea18_0_582"/>
          <p:cNvPicPr preferRelativeResize="0"/>
          <p:nvPr/>
        </p:nvPicPr>
        <p:blipFill rotWithShape="1">
          <a:blip r:embed="rId6">
            <a:alphaModFix/>
          </a:blip>
          <a:srcRect b="24024" l="0" r="0" t="0"/>
          <a:stretch/>
        </p:blipFill>
        <p:spPr>
          <a:xfrm>
            <a:off x="8315175" y="3319913"/>
            <a:ext cx="2896050" cy="2748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5" name="Google Shape;14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5177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6"/>
          <p:cNvSpPr txBox="1"/>
          <p:nvPr/>
        </p:nvSpPr>
        <p:spPr>
          <a:xfrm>
            <a:off x="571500" y="924588"/>
            <a:ext cx="5238900" cy="44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8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 "No te avientes a hacer algo sin validarlo antes, sin saber que hay un mercado para ello." </a:t>
            </a:r>
            <a:endParaRPr/>
          </a:p>
        </p:txBody>
      </p:sp>
      <p:sp>
        <p:nvSpPr>
          <p:cNvPr id="147" name="Google Shape;147;p6"/>
          <p:cNvSpPr txBox="1"/>
          <p:nvPr/>
        </p:nvSpPr>
        <p:spPr>
          <a:xfrm>
            <a:off x="571500" y="5773809"/>
            <a:ext cx="3164758" cy="3159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F5F5F5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MARCUS DANTUS</a:t>
            </a:r>
            <a:endParaRPr/>
          </a:p>
        </p:txBody>
      </p:sp>
      <p:pic>
        <p:nvPicPr>
          <p:cNvPr id="148" name="Google Shape;148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7716" y="-71949"/>
            <a:ext cx="4980730" cy="70018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8FB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h2cbbacd64be43ae2_0_0"/>
          <p:cNvSpPr txBox="1"/>
          <p:nvPr/>
        </p:nvSpPr>
        <p:spPr>
          <a:xfrm>
            <a:off x="658368" y="362795"/>
            <a:ext cx="75987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Un universo desatendido</a:t>
            </a:r>
            <a:endParaRPr b="1" i="0" sz="4400" u="none" cap="none" strike="noStrike">
              <a:solidFill>
                <a:srgbClr val="081F3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4" name="Google Shape;154;h2cbbacd64be43ae2_0_0"/>
          <p:cNvSpPr/>
          <p:nvPr/>
        </p:nvSpPr>
        <p:spPr>
          <a:xfrm>
            <a:off x="655320" y="1417319"/>
            <a:ext cx="10881300" cy="4800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EE6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view_slide_1_pie.png" id="155" name="Google Shape;155;h2cbbacd64be43ae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8576" y="1526202"/>
            <a:ext cx="4582876" cy="4582851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h2cbbacd64be43ae2_0_0"/>
          <p:cNvSpPr txBox="1"/>
          <p:nvPr/>
        </p:nvSpPr>
        <p:spPr>
          <a:xfrm>
            <a:off x="2062237" y="2994990"/>
            <a:ext cx="12954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153</a:t>
            </a:r>
            <a:endParaRPr/>
          </a:p>
        </p:txBody>
      </p:sp>
      <p:sp>
        <p:nvSpPr>
          <p:cNvPr id="157" name="Google Shape;157;h2cbbacd64be43ae2_0_0"/>
          <p:cNvSpPr txBox="1"/>
          <p:nvPr/>
        </p:nvSpPr>
        <p:spPr>
          <a:xfrm>
            <a:off x="2113533" y="3842936"/>
            <a:ext cx="1193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6C7E"/>
                </a:solidFill>
                <a:latin typeface="Montserrat"/>
                <a:ea typeface="Montserrat"/>
                <a:cs typeface="Montserrat"/>
                <a:sym typeface="Montserrat"/>
              </a:rPr>
              <a:t>clubes</a:t>
            </a:r>
            <a:endParaRPr b="0" i="0" sz="2400" u="none" cap="none" strike="noStrike">
              <a:solidFill>
                <a:srgbClr val="5B6C7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8" name="Google Shape;158;h2cbbacd64be43ae2_0_0"/>
          <p:cNvSpPr txBox="1"/>
          <p:nvPr/>
        </p:nvSpPr>
        <p:spPr>
          <a:xfrm>
            <a:off x="4892040" y="1682718"/>
            <a:ext cx="3448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A67E"/>
                </a:solidFill>
                <a:latin typeface="Montserrat"/>
                <a:ea typeface="Montserrat"/>
                <a:cs typeface="Montserrat"/>
                <a:sym typeface="Montserrat"/>
              </a:rPr>
              <a:t>Mercado inicial</a:t>
            </a:r>
            <a:endParaRPr b="1" i="0" sz="3200" u="none" cap="none" strike="noStrike">
              <a:solidFill>
                <a:srgbClr val="00A67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9" name="Google Shape;159;h2cbbacd64be43ae2_0_0"/>
          <p:cNvSpPr txBox="1"/>
          <p:nvPr/>
        </p:nvSpPr>
        <p:spPr>
          <a:xfrm>
            <a:off x="4892040" y="2276821"/>
            <a:ext cx="27462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87 clubes</a:t>
            </a:r>
            <a:endParaRPr b="1" i="0" sz="4000" u="none" cap="none" strike="noStrike">
              <a:solidFill>
                <a:srgbClr val="081F3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0" name="Google Shape;160;h2cbbacd64be43ae2_0_0"/>
          <p:cNvSpPr txBox="1"/>
          <p:nvPr/>
        </p:nvSpPr>
        <p:spPr>
          <a:xfrm>
            <a:off x="4892040" y="2994882"/>
            <a:ext cx="6343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A67E"/>
                </a:solidFill>
                <a:latin typeface="Montserrat"/>
                <a:ea typeface="Montserrat"/>
                <a:cs typeface="Montserrat"/>
                <a:sym typeface="Montserrat"/>
              </a:rPr>
              <a:t>≈ 57% del universo de clubes</a:t>
            </a:r>
            <a:endParaRPr b="1" i="0" sz="3200" u="none" cap="none" strike="noStrike">
              <a:solidFill>
                <a:srgbClr val="00A67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1" name="Google Shape;161;h2cbbacd64be43ae2_0_0"/>
          <p:cNvSpPr/>
          <p:nvPr/>
        </p:nvSpPr>
        <p:spPr>
          <a:xfrm>
            <a:off x="4892040" y="3584448"/>
            <a:ext cx="5623500" cy="13800"/>
          </a:xfrm>
          <a:prstGeom prst="rect">
            <a:avLst/>
          </a:prstGeom>
          <a:solidFill>
            <a:srgbClr val="DEE6E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h2cbbacd64be43ae2_0_0"/>
          <p:cNvSpPr txBox="1"/>
          <p:nvPr/>
        </p:nvSpPr>
        <p:spPr>
          <a:xfrm>
            <a:off x="4892040" y="3694397"/>
            <a:ext cx="5362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5B6C7E"/>
                </a:solidFill>
                <a:latin typeface="Montserrat"/>
                <a:ea typeface="Montserrat"/>
                <a:cs typeface="Montserrat"/>
                <a:sym typeface="Montserrat"/>
              </a:rPr>
              <a:t>Fuera del alcance inicial</a:t>
            </a:r>
            <a:endParaRPr b="1" i="0" sz="3200" u="none" cap="none" strike="noStrike">
              <a:solidFill>
                <a:srgbClr val="5B6C7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3" name="Google Shape;163;h2cbbacd64be43ae2_0_0"/>
          <p:cNvSpPr txBox="1"/>
          <p:nvPr/>
        </p:nvSpPr>
        <p:spPr>
          <a:xfrm>
            <a:off x="4892040" y="4175011"/>
            <a:ext cx="26628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66 </a:t>
            </a:r>
            <a:r>
              <a:rPr b="1" i="0" lang="en-US" sz="40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clubes</a:t>
            </a:r>
            <a:endParaRPr b="1" i="0" sz="3600" u="none" cap="none" strike="noStrike">
              <a:solidFill>
                <a:srgbClr val="081F3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4" name="Google Shape;164;h2cbbacd64be43ae2_0_0"/>
          <p:cNvSpPr txBox="1"/>
          <p:nvPr/>
        </p:nvSpPr>
        <p:spPr>
          <a:xfrm>
            <a:off x="4892040" y="4827803"/>
            <a:ext cx="2858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83559"/>
                </a:solidFill>
                <a:latin typeface="Montserrat"/>
                <a:ea typeface="Montserrat"/>
                <a:cs typeface="Montserrat"/>
                <a:sym typeface="Montserrat"/>
              </a:rPr>
              <a:t>1ª y 2ª División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8FB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h5dcf4a5e61b7b943_0_3"/>
          <p:cNvSpPr/>
          <p:nvPr/>
        </p:nvSpPr>
        <p:spPr>
          <a:xfrm>
            <a:off x="658368" y="1417320"/>
            <a:ext cx="10881300" cy="4800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EE6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sng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view_slide_2_pie.png" id="170" name="Google Shape;170;h5dcf4a5e61b7b943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804" y="1241791"/>
            <a:ext cx="4922521" cy="4922521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h5dcf4a5e61b7b943_0_3"/>
          <p:cNvSpPr txBox="1"/>
          <p:nvPr/>
        </p:nvSpPr>
        <p:spPr>
          <a:xfrm>
            <a:off x="1721486" y="2823479"/>
            <a:ext cx="21531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30.870</a:t>
            </a:r>
            <a:endParaRPr/>
          </a:p>
        </p:txBody>
      </p:sp>
      <p:sp>
        <p:nvSpPr>
          <p:cNvPr id="172" name="Google Shape;172;h5dcf4a5e61b7b943_0_3"/>
          <p:cNvSpPr txBox="1"/>
          <p:nvPr/>
        </p:nvSpPr>
        <p:spPr>
          <a:xfrm>
            <a:off x="1454368" y="3582662"/>
            <a:ext cx="2634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6C7E"/>
                </a:solidFill>
                <a:latin typeface="Montserrat"/>
                <a:ea typeface="Montserrat"/>
                <a:cs typeface="Montserrat"/>
                <a:sym typeface="Montserrat"/>
              </a:rPr>
              <a:t>Clientes potenciales</a:t>
            </a:r>
            <a:endParaRPr b="1" i="0" sz="1800" u="none" cap="none" strike="noStrike">
              <a:solidFill>
                <a:srgbClr val="5B6C7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3" name="Google Shape;173;h5dcf4a5e61b7b943_0_3"/>
          <p:cNvSpPr txBox="1"/>
          <p:nvPr/>
        </p:nvSpPr>
        <p:spPr>
          <a:xfrm>
            <a:off x="1885158" y="3879731"/>
            <a:ext cx="17268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00A67E"/>
                </a:solidFill>
                <a:latin typeface="Montserrat"/>
                <a:ea typeface="Montserrat"/>
                <a:cs typeface="Montserrat"/>
                <a:sym typeface="Montserrat"/>
              </a:rPr>
              <a:t>99,2%</a:t>
            </a:r>
            <a:endParaRPr/>
          </a:p>
        </p:txBody>
      </p:sp>
      <p:sp>
        <p:nvSpPr>
          <p:cNvPr id="174" name="Google Shape;174;h5dcf4a5e61b7b943_0_3"/>
          <p:cNvSpPr txBox="1"/>
          <p:nvPr/>
        </p:nvSpPr>
        <p:spPr>
          <a:xfrm>
            <a:off x="4937760" y="1691862"/>
            <a:ext cx="6067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A67E"/>
                </a:solidFill>
                <a:latin typeface="Montserrat"/>
                <a:ea typeface="Montserrat"/>
                <a:cs typeface="Montserrat"/>
                <a:sym typeface="Montserrat"/>
              </a:rPr>
              <a:t>Mercado objetivo ampliado</a:t>
            </a:r>
            <a:endParaRPr b="1" i="0" sz="3200" u="none" cap="none" strike="noStrike">
              <a:solidFill>
                <a:srgbClr val="00A67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5" name="Google Shape;175;h5dcf4a5e61b7b943_0_3"/>
          <p:cNvSpPr txBox="1"/>
          <p:nvPr/>
        </p:nvSpPr>
        <p:spPr>
          <a:xfrm>
            <a:off x="4937760" y="2175042"/>
            <a:ext cx="19239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≈ 30.870</a:t>
            </a:r>
            <a:endParaRPr/>
          </a:p>
        </p:txBody>
      </p:sp>
      <p:sp>
        <p:nvSpPr>
          <p:cNvPr id="176" name="Google Shape;176;h5dcf4a5e61b7b943_0_3"/>
          <p:cNvSpPr txBox="1"/>
          <p:nvPr/>
        </p:nvSpPr>
        <p:spPr>
          <a:xfrm>
            <a:off x="4937760" y="2664471"/>
            <a:ext cx="4976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83559"/>
                </a:solidFill>
                <a:latin typeface="Montserrat"/>
                <a:ea typeface="Montserrat"/>
                <a:cs typeface="Montserrat"/>
                <a:sym typeface="Montserrat"/>
              </a:rPr>
              <a:t>instituciones y complejos</a:t>
            </a:r>
            <a:endParaRPr b="1" i="0" sz="2800" u="none" cap="none" strike="noStrike">
              <a:solidFill>
                <a:srgbClr val="1835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7" name="Google Shape;177;h5dcf4a5e61b7b943_0_3"/>
          <p:cNvSpPr/>
          <p:nvPr/>
        </p:nvSpPr>
        <p:spPr>
          <a:xfrm>
            <a:off x="4892040" y="3310128"/>
            <a:ext cx="6513300" cy="612600"/>
          </a:xfrm>
          <a:prstGeom prst="roundRect">
            <a:avLst>
              <a:gd fmla="val 16667" name="adj"/>
            </a:avLst>
          </a:prstGeom>
          <a:solidFill>
            <a:srgbClr val="F5F8FB"/>
          </a:solidFill>
          <a:ln cap="flat" cmpd="sng" w="12700">
            <a:solidFill>
              <a:srgbClr val="DEE6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h5dcf4a5e61b7b943_0_3"/>
          <p:cNvSpPr txBox="1"/>
          <p:nvPr/>
        </p:nvSpPr>
        <p:spPr>
          <a:xfrm>
            <a:off x="4884422" y="3322030"/>
            <a:ext cx="15297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0A67E"/>
                </a:solidFill>
                <a:latin typeface="Montserrat"/>
                <a:ea typeface="Montserrat"/>
                <a:cs typeface="Montserrat"/>
                <a:sym typeface="Montserrat"/>
              </a:rPr>
              <a:t>≈ 480</a:t>
            </a:r>
            <a:endParaRPr/>
          </a:p>
        </p:txBody>
      </p:sp>
      <p:sp>
        <p:nvSpPr>
          <p:cNvPr id="179" name="Google Shape;179;h5dcf4a5e61b7b943_0_3"/>
          <p:cNvSpPr txBox="1"/>
          <p:nvPr/>
        </p:nvSpPr>
        <p:spPr>
          <a:xfrm>
            <a:off x="6531833" y="3382155"/>
            <a:ext cx="2835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83559"/>
                </a:solidFill>
                <a:latin typeface="Montserrat"/>
                <a:ea typeface="Montserrat"/>
                <a:cs typeface="Montserrat"/>
                <a:sym typeface="Montserrat"/>
              </a:rPr>
              <a:t>Clubes de fútbol</a:t>
            </a:r>
            <a:endParaRPr b="1" i="0" sz="2400" u="none" cap="none" strike="noStrike">
              <a:solidFill>
                <a:srgbClr val="1835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0" name="Google Shape;180;h5dcf4a5e61b7b943_0_3"/>
          <p:cNvSpPr/>
          <p:nvPr/>
        </p:nvSpPr>
        <p:spPr>
          <a:xfrm>
            <a:off x="4892039" y="4050791"/>
            <a:ext cx="6513300" cy="612600"/>
          </a:xfrm>
          <a:prstGeom prst="roundRect">
            <a:avLst>
              <a:gd fmla="val 16667" name="adj"/>
            </a:avLst>
          </a:prstGeom>
          <a:solidFill>
            <a:srgbClr val="F5F8FB"/>
          </a:solidFill>
          <a:ln cap="flat" cmpd="sng" w="12700">
            <a:solidFill>
              <a:srgbClr val="DEE6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h5dcf4a5e61b7b943_0_3"/>
          <p:cNvSpPr txBox="1"/>
          <p:nvPr/>
        </p:nvSpPr>
        <p:spPr>
          <a:xfrm>
            <a:off x="4864823" y="4062828"/>
            <a:ext cx="20697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697CF"/>
                </a:solidFill>
                <a:latin typeface="Montserrat"/>
                <a:ea typeface="Montserrat"/>
                <a:cs typeface="Montserrat"/>
                <a:sym typeface="Montserrat"/>
              </a:rPr>
              <a:t>≈ 21.500</a:t>
            </a:r>
            <a:endParaRPr/>
          </a:p>
        </p:txBody>
      </p:sp>
      <p:sp>
        <p:nvSpPr>
          <p:cNvPr id="182" name="Google Shape;182;h5dcf4a5e61b7b943_0_3"/>
          <p:cNvSpPr txBox="1"/>
          <p:nvPr/>
        </p:nvSpPr>
        <p:spPr>
          <a:xfrm>
            <a:off x="6843891" y="4137767"/>
            <a:ext cx="4565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83559"/>
                </a:solidFill>
                <a:latin typeface="Montserrat"/>
                <a:ea typeface="Montserrat"/>
                <a:cs typeface="Montserrat"/>
                <a:sym typeface="Montserrat"/>
              </a:rPr>
              <a:t>C. Sociales/Multideportivos</a:t>
            </a:r>
            <a:endParaRPr b="1" i="0" sz="2400" u="none" cap="none" strike="noStrike">
              <a:solidFill>
                <a:srgbClr val="18355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3" name="Google Shape;183;h5dcf4a5e61b7b943_0_3"/>
          <p:cNvSpPr/>
          <p:nvPr/>
        </p:nvSpPr>
        <p:spPr>
          <a:xfrm>
            <a:off x="4892040" y="4791456"/>
            <a:ext cx="6513300" cy="612600"/>
          </a:xfrm>
          <a:prstGeom prst="roundRect">
            <a:avLst>
              <a:gd fmla="val 16667" name="adj"/>
            </a:avLst>
          </a:prstGeom>
          <a:solidFill>
            <a:srgbClr val="F5F8FB"/>
          </a:solidFill>
          <a:ln cap="flat" cmpd="sng" w="12700">
            <a:solidFill>
              <a:srgbClr val="DEE6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h5dcf4a5e61b7b943_0_3"/>
          <p:cNvSpPr txBox="1"/>
          <p:nvPr/>
        </p:nvSpPr>
        <p:spPr>
          <a:xfrm>
            <a:off x="4892040" y="4769235"/>
            <a:ext cx="1930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27E00"/>
                </a:solidFill>
                <a:latin typeface="Montserrat"/>
                <a:ea typeface="Montserrat"/>
                <a:cs typeface="Montserrat"/>
                <a:sym typeface="Montserrat"/>
              </a:rPr>
              <a:t>≈ 8.890</a:t>
            </a:r>
            <a:endParaRPr/>
          </a:p>
        </p:txBody>
      </p:sp>
      <p:sp>
        <p:nvSpPr>
          <p:cNvPr id="185" name="Google Shape;185;h5dcf4a5e61b7b943_0_3"/>
          <p:cNvSpPr txBox="1"/>
          <p:nvPr/>
        </p:nvSpPr>
        <p:spPr>
          <a:xfrm>
            <a:off x="6822377" y="4878430"/>
            <a:ext cx="469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83559"/>
                </a:solidFill>
                <a:latin typeface="Montserrat"/>
                <a:ea typeface="Montserrat"/>
                <a:cs typeface="Montserrat"/>
                <a:sym typeface="Montserrat"/>
              </a:rPr>
              <a:t>Barrios privados y countries</a:t>
            </a:r>
            <a:endParaRPr/>
          </a:p>
        </p:txBody>
      </p:sp>
      <p:sp>
        <p:nvSpPr>
          <p:cNvPr id="186" name="Google Shape;186;h5dcf4a5e61b7b943_0_3"/>
          <p:cNvSpPr txBox="1"/>
          <p:nvPr/>
        </p:nvSpPr>
        <p:spPr>
          <a:xfrm>
            <a:off x="658375" y="362800"/>
            <a:ext cx="77982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Un </a:t>
            </a:r>
            <a:r>
              <a:rPr b="1" lang="en-US" sz="4400">
                <a:solidFill>
                  <a:srgbClr val="081F3F"/>
                </a:solidFill>
                <a:latin typeface="Montserrat"/>
                <a:ea typeface="Montserrat"/>
                <a:cs typeface="Montserrat"/>
                <a:sym typeface="Montserrat"/>
              </a:rPr>
              <a:t>horizonte sin fronteras</a:t>
            </a:r>
            <a:endParaRPr b="1" i="0" sz="4400" u="none" cap="none" strike="noStrike">
              <a:solidFill>
                <a:srgbClr val="081F3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1" name="Google Shape;19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8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La brecha tecnológica</a:t>
            </a:r>
            <a:endParaRPr b="0" i="0" sz="4800" u="none" cap="none" strike="noStrike">
              <a:solidFill>
                <a:srgbClr val="F5F5F5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93" name="Google Shape;193;p8"/>
          <p:cNvSpPr txBox="1"/>
          <p:nvPr/>
        </p:nvSpPr>
        <p:spPr>
          <a:xfrm>
            <a:off x="571425" y="2325690"/>
            <a:ext cx="52389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120+</a:t>
            </a:r>
            <a:endParaRPr/>
          </a:p>
        </p:txBody>
      </p:sp>
      <p:sp>
        <p:nvSpPr>
          <p:cNvPr id="194" name="Google Shape;194;p8"/>
          <p:cNvSpPr txBox="1"/>
          <p:nvPr/>
        </p:nvSpPr>
        <p:spPr>
          <a:xfrm>
            <a:off x="571500" y="4408140"/>
            <a:ext cx="52389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Clubes ignorados que operan a ciegas</a:t>
            </a:r>
            <a:endParaRPr i="0" sz="40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6381675" y="3792540"/>
            <a:ext cx="52389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competidor principal solo abarca a ~25 instituciones de la élite.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96" name="Google Shape;19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675" y="1887540"/>
            <a:ext cx="5238750" cy="171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" name="Google Shape;201;h2cbbacd64be43ae2_0_69"/>
          <p:cNvGrpSpPr/>
          <p:nvPr/>
        </p:nvGrpSpPr>
        <p:grpSpPr>
          <a:xfrm>
            <a:off x="1587300" y="1615325"/>
            <a:ext cx="9017432" cy="4800156"/>
            <a:chOff x="0" y="0"/>
            <a:chExt cx="4953000" cy="4572012"/>
          </a:xfrm>
        </p:grpSpPr>
        <p:sp>
          <p:nvSpPr>
            <p:cNvPr id="202" name="Google Shape;202;h2cbbacd64be43ae2_0_69"/>
            <p:cNvSpPr/>
            <p:nvPr/>
          </p:nvSpPr>
          <p:spPr>
            <a:xfrm>
              <a:off x="0" y="0"/>
              <a:ext cx="4953000" cy="4572000"/>
            </a:xfrm>
            <a:prstGeom prst="roundRect">
              <a:avLst>
                <a:gd fmla="val 5000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h2cbbacd64be43ae2_0_69"/>
            <p:cNvSpPr txBox="1"/>
            <p:nvPr/>
          </p:nvSpPr>
          <p:spPr>
            <a:xfrm>
              <a:off x="381000" y="3429012"/>
              <a:ext cx="41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1E293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Llevamos el MVP al terreno</a:t>
              </a:r>
              <a:endParaRPr b="0" sz="3800">
                <a:solidFill>
                  <a:srgbClr val="1E293B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204" name="Google Shape;204;h2cbbacd64be43ae2_0_69"/>
          <p:cNvSpPr txBox="1"/>
          <p:nvPr/>
        </p:nvSpPr>
        <p:spPr>
          <a:xfrm>
            <a:off x="762000" y="428625"/>
            <a:ext cx="106680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284C7"/>
                </a:solidFill>
                <a:latin typeface="Montserrat"/>
                <a:ea typeface="Montserrat"/>
                <a:cs typeface="Montserrat"/>
                <a:sym typeface="Montserrat"/>
              </a:rPr>
              <a:t>Directo en el territorio</a:t>
            </a:r>
            <a:endParaRPr b="1" sz="2200">
              <a:solidFill>
                <a:srgbClr val="0284C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Validación empírica</a:t>
            </a:r>
            <a:endParaRPr b="0" sz="42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205" name="Google Shape;205;h2cbbacd64be43ae2_0_69" title="talleres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12650" y="1690575"/>
            <a:ext cx="3849975" cy="3849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h2cbbacd64be43ae2_0_69" title="club_ciudad.png"/>
          <p:cNvPicPr preferRelativeResize="0"/>
          <p:nvPr/>
        </p:nvPicPr>
        <p:blipFill rotWithShape="1">
          <a:blip r:embed="rId5">
            <a:alphaModFix/>
          </a:blip>
          <a:srcRect b="5551" l="0" r="0" t="4924"/>
          <a:stretch/>
        </p:blipFill>
        <p:spPr>
          <a:xfrm>
            <a:off x="6262625" y="1615330"/>
            <a:ext cx="3516725" cy="40352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h2cbbacd64be43ae2_0_95"/>
          <p:cNvSpPr txBox="1"/>
          <p:nvPr/>
        </p:nvSpPr>
        <p:spPr>
          <a:xfrm>
            <a:off x="762000" y="428625"/>
            <a:ext cx="106680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284C7"/>
                </a:solidFill>
                <a:latin typeface="Montserrat"/>
                <a:ea typeface="Montserrat"/>
                <a:cs typeface="Montserrat"/>
                <a:sym typeface="Montserrat"/>
              </a:rPr>
              <a:t>Directo en el territorio</a:t>
            </a:r>
            <a:endParaRPr b="1" sz="2200">
              <a:solidFill>
                <a:srgbClr val="0284C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Validación empírica</a:t>
            </a:r>
            <a:endParaRPr b="0" sz="42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212" name="Google Shape;212;h2cbbacd64be43ae2_0_95"/>
          <p:cNvGrpSpPr/>
          <p:nvPr/>
        </p:nvGrpSpPr>
        <p:grpSpPr>
          <a:xfrm>
            <a:off x="84451" y="1970603"/>
            <a:ext cx="6325728" cy="3367309"/>
            <a:chOff x="1587300" y="1615325"/>
            <a:chExt cx="9017432" cy="4800156"/>
          </a:xfrm>
        </p:grpSpPr>
        <p:grpSp>
          <p:nvGrpSpPr>
            <p:cNvPr id="213" name="Google Shape;213;h2cbbacd64be43ae2_0_95"/>
            <p:cNvGrpSpPr/>
            <p:nvPr/>
          </p:nvGrpSpPr>
          <p:grpSpPr>
            <a:xfrm>
              <a:off x="1587300" y="1615325"/>
              <a:ext cx="9017432" cy="4800156"/>
              <a:chOff x="0" y="0"/>
              <a:chExt cx="4953000" cy="4572012"/>
            </a:xfrm>
          </p:grpSpPr>
          <p:sp>
            <p:nvSpPr>
              <p:cNvPr id="214" name="Google Shape;214;h2cbbacd64be43ae2_0_95"/>
              <p:cNvSpPr/>
              <p:nvPr/>
            </p:nvSpPr>
            <p:spPr>
              <a:xfrm>
                <a:off x="0" y="0"/>
                <a:ext cx="4953000" cy="4572000"/>
              </a:xfrm>
              <a:prstGeom prst="roundRect">
                <a:avLst>
                  <a:gd fmla="val 5000" name="adj"/>
                </a:avLst>
              </a:prstGeom>
              <a:solidFill>
                <a:srgbClr val="F8FAFC"/>
              </a:solidFill>
              <a:ln cap="flat" cmpd="sng" w="1337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" name="Google Shape;215;h2cbbacd64be43ae2_0_95"/>
              <p:cNvSpPr txBox="1"/>
              <p:nvPr/>
            </p:nvSpPr>
            <p:spPr>
              <a:xfrm>
                <a:off x="381000" y="3429012"/>
                <a:ext cx="4191000" cy="114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2666">
                    <a:solidFill>
                      <a:srgbClr val="1E293B"/>
                    </a:solidFill>
                    <a:latin typeface="Montserrat SemiBold"/>
                    <a:ea typeface="Montserrat SemiBold"/>
                    <a:cs typeface="Montserrat SemiBold"/>
                    <a:sym typeface="Montserrat SemiBold"/>
                  </a:rPr>
                  <a:t>Llevamos el MVP al terreno</a:t>
                </a:r>
                <a:endParaRPr b="0" sz="2666">
                  <a:solidFill>
                    <a:srgbClr val="1E293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endParaRPr>
              </a:p>
            </p:txBody>
          </p:sp>
        </p:grpSp>
        <p:pic>
          <p:nvPicPr>
            <p:cNvPr id="216" name="Google Shape;216;h2cbbacd64be43ae2_0_95" title="talleres-removebg-preview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412650" y="1690575"/>
              <a:ext cx="3849975" cy="3849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7" name="Google Shape;217;h2cbbacd64be43ae2_0_95" title="club_ciudad.png"/>
            <p:cNvPicPr preferRelativeResize="0"/>
            <p:nvPr/>
          </p:nvPicPr>
          <p:blipFill rotWithShape="1">
            <a:blip r:embed="rId5">
              <a:alphaModFix/>
            </a:blip>
            <a:srcRect b="5551" l="0" r="0" t="4924"/>
            <a:stretch/>
          </p:blipFill>
          <p:spPr>
            <a:xfrm>
              <a:off x="6262625" y="1615330"/>
              <a:ext cx="3516725" cy="403524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h2cbbacd64be43ae2_0_95"/>
          <p:cNvSpPr/>
          <p:nvPr/>
        </p:nvSpPr>
        <p:spPr>
          <a:xfrm>
            <a:off x="6627325" y="3915538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0F9FF"/>
          </a:solidFill>
          <a:ln cap="flat" cmpd="sng" w="14300">
            <a:solidFill>
              <a:srgbClr val="C7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h2cbbacd64be43ae2_0_95"/>
          <p:cNvSpPr/>
          <p:nvPr/>
        </p:nvSpPr>
        <p:spPr>
          <a:xfrm>
            <a:off x="6627325" y="1820038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EF2F2"/>
          </a:solidFill>
          <a:ln cap="flat" cmpd="sng" w="14300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h2cbbacd64be43ae2_0_95"/>
          <p:cNvSpPr/>
          <p:nvPr/>
        </p:nvSpPr>
        <p:spPr>
          <a:xfrm>
            <a:off x="6627325" y="1820038"/>
            <a:ext cx="95400" cy="1572900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h2cbbacd64be43ae2_0_95"/>
          <p:cNvSpPr/>
          <p:nvPr/>
        </p:nvSpPr>
        <p:spPr>
          <a:xfrm>
            <a:off x="7033775" y="2216938"/>
            <a:ext cx="815700" cy="779100"/>
          </a:xfrm>
          <a:prstGeom prst="ellipse">
            <a:avLst/>
          </a:prstGeom>
          <a:solidFill>
            <a:srgbClr val="EF4444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h2cbbacd64be43ae2_0_95"/>
          <p:cNvSpPr txBox="1"/>
          <p:nvPr/>
        </p:nvSpPr>
        <p:spPr>
          <a:xfrm>
            <a:off x="7017850" y="2210563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DC2626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check_circle</a:t>
            </a:r>
            <a:endParaRPr/>
          </a:p>
        </p:txBody>
      </p:sp>
      <p:sp>
        <p:nvSpPr>
          <p:cNvPr id="223" name="Google Shape;223;h2cbbacd64be43ae2_0_95"/>
          <p:cNvSpPr txBox="1"/>
          <p:nvPr/>
        </p:nvSpPr>
        <p:spPr>
          <a:xfrm>
            <a:off x="7939876" y="2106388"/>
            <a:ext cx="38295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Confirmación de los puntos de dolor institucionales</a:t>
            </a:r>
            <a:endParaRPr sz="24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4" name="Google Shape;224;h2cbbacd64be43ae2_0_95"/>
          <p:cNvSpPr/>
          <p:nvPr/>
        </p:nvSpPr>
        <p:spPr>
          <a:xfrm>
            <a:off x="6627325" y="3915538"/>
            <a:ext cx="136800" cy="1572900"/>
          </a:xfrm>
          <a:prstGeom prst="roundRect">
            <a:avLst>
              <a:gd fmla="val 50000" name="adj"/>
            </a:avLst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h2cbbacd64be43ae2_0_95"/>
          <p:cNvSpPr txBox="1"/>
          <p:nvPr/>
        </p:nvSpPr>
        <p:spPr>
          <a:xfrm>
            <a:off x="7017850" y="4306063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ouch_app</a:t>
            </a:r>
            <a:endParaRPr/>
          </a:p>
        </p:txBody>
      </p:sp>
      <p:sp>
        <p:nvSpPr>
          <p:cNvPr id="226" name="Google Shape;226;h2cbbacd64be43ae2_0_95"/>
          <p:cNvSpPr txBox="1"/>
          <p:nvPr/>
        </p:nvSpPr>
        <p:spPr>
          <a:xfrm>
            <a:off x="7939875" y="4059088"/>
            <a:ext cx="40959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75985"/>
                </a:solidFill>
                <a:latin typeface="Montserrat"/>
                <a:ea typeface="Montserrat"/>
                <a:cs typeface="Montserrat"/>
                <a:sym typeface="Montserrat"/>
              </a:rPr>
              <a:t>Refinamiento UX / UI para minimizar la curva de aprendizaje</a:t>
            </a:r>
            <a:endParaRPr sz="28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7" name="Google Shape;227;h2cbbacd64be43ae2_0_95"/>
          <p:cNvSpPr/>
          <p:nvPr/>
        </p:nvSpPr>
        <p:spPr>
          <a:xfrm>
            <a:off x="7033775" y="4312438"/>
            <a:ext cx="815700" cy="779100"/>
          </a:xfrm>
          <a:prstGeom prst="ellipse">
            <a:avLst/>
          </a:prstGeom>
          <a:solidFill>
            <a:srgbClr val="C7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h2cbbacd64be43ae2_0_138"/>
          <p:cNvSpPr/>
          <p:nvPr/>
        </p:nvSpPr>
        <p:spPr>
          <a:xfrm>
            <a:off x="6026150" y="0"/>
            <a:ext cx="6165900" cy="3429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h2cbbacd64be43ae2_0_138"/>
          <p:cNvSpPr/>
          <p:nvPr/>
        </p:nvSpPr>
        <p:spPr>
          <a:xfrm>
            <a:off x="0" y="3429000"/>
            <a:ext cx="6026100" cy="3429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4" name="Google Shape;234;h2cbbacd64be43ae2_0_138" title="Macbook-Air-web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6225" y="284088"/>
            <a:ext cx="4973650" cy="2860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h2cbbacd64be43ae2_0_138" title="Google-Pixel-6-PRO-control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29837" y="3658050"/>
            <a:ext cx="1366426" cy="2970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h2cbbacd64be43ae2_0_138" title="iPhone-14-PRO-app.sociounido.co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80175" y="229050"/>
            <a:ext cx="1457854" cy="29708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h2cbbacd64be43ae2_0_138"/>
          <p:cNvGrpSpPr/>
          <p:nvPr/>
        </p:nvGrpSpPr>
        <p:grpSpPr>
          <a:xfrm>
            <a:off x="8425917" y="3644901"/>
            <a:ext cx="1366363" cy="2997185"/>
            <a:chOff x="9123970" y="2197424"/>
            <a:chExt cx="2085413" cy="4574458"/>
          </a:xfrm>
        </p:grpSpPr>
        <p:pic>
          <p:nvPicPr>
            <p:cNvPr id="238" name="Google Shape;238;h2cbbacd64be43ae2_0_138" title="Google-Pixel-6-PRO-control.sociounido.com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9123971" y="2237793"/>
              <a:ext cx="2085412" cy="453408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9" name="Google Shape;239;h2cbbacd64be43ae2_0_138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97704" l="95661" r="0" t="0"/>
            <a:stretch/>
          </p:blipFill>
          <p:spPr>
            <a:xfrm>
              <a:off x="11118905" y="2237794"/>
              <a:ext cx="90478" cy="10408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0" name="Google Shape;240;h2cbbacd64be43ae2_0_138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98016" l="0" r="0" t="0"/>
            <a:stretch/>
          </p:blipFill>
          <p:spPr>
            <a:xfrm>
              <a:off x="9123970" y="2244860"/>
              <a:ext cx="2085413" cy="8995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1" name="Google Shape;241;h2cbbacd64be43ae2_0_138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0" l="0" r="97495" t="2229"/>
            <a:stretch/>
          </p:blipFill>
          <p:spPr>
            <a:xfrm rot="10800000">
              <a:off x="11109999" y="2197424"/>
              <a:ext cx="88851" cy="44617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2" name="Google Shape;242;h2cbbacd64be43ae2_0_138" title="Screenshot_20260924-220234.png"/>
            <p:cNvPicPr preferRelativeResize="0"/>
            <p:nvPr/>
          </p:nvPicPr>
          <p:blipFill rotWithShape="1">
            <a:blip r:embed="rId6">
              <a:alphaModFix/>
            </a:blip>
            <a:srcRect b="1784" l="0" r="0" t="6742"/>
            <a:stretch/>
          </p:blipFill>
          <p:spPr>
            <a:xfrm>
              <a:off x="9162825" y="2335075"/>
              <a:ext cx="1966650" cy="4270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3" name="Google Shape;243;h2cbbacd64be43ae2_0_138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0" l="0" r="97495" t="0"/>
            <a:stretch/>
          </p:blipFill>
          <p:spPr>
            <a:xfrm>
              <a:off x="9124450" y="2237800"/>
              <a:ext cx="79524" cy="451387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h2cbbacd64be43ae2_0_160" title="Macbook-Air-web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9025" y="599850"/>
            <a:ext cx="9853926" cy="5658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h2cbbacd64be43ae2_0_182" title="iPhone-14-PRO-app.sociounido.com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8174" y="275225"/>
            <a:ext cx="3093574" cy="6307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h2cbbacd64be43ae2_0_182" title="iPhone-14-PRO-app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37438" y="275192"/>
            <a:ext cx="3093574" cy="63076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FBFBF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h2cbbacd64be43ae2_0_189" title="iPad-PRO-11-control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775" y="831800"/>
            <a:ext cx="7195074" cy="5194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0" name="Google Shape;260;h2cbbacd64be43ae2_0_189"/>
          <p:cNvGrpSpPr/>
          <p:nvPr/>
        </p:nvGrpSpPr>
        <p:grpSpPr>
          <a:xfrm>
            <a:off x="8248967" y="185939"/>
            <a:ext cx="2956908" cy="6486124"/>
            <a:chOff x="9123970" y="2197424"/>
            <a:chExt cx="2085413" cy="4574458"/>
          </a:xfrm>
        </p:grpSpPr>
        <p:pic>
          <p:nvPicPr>
            <p:cNvPr id="261" name="Google Shape;261;h2cbbacd64be43ae2_0_189" title="Google-Pixel-6-PRO-control.sociounido.com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9123971" y="2237793"/>
              <a:ext cx="2085412" cy="453408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2" name="Google Shape;262;h2cbbacd64be43ae2_0_189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97704" l="95661" r="0" t="0"/>
            <a:stretch/>
          </p:blipFill>
          <p:spPr>
            <a:xfrm>
              <a:off x="11118905" y="2237794"/>
              <a:ext cx="90478" cy="10408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3" name="Google Shape;263;h2cbbacd64be43ae2_0_189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98016" l="0" r="0" t="0"/>
            <a:stretch/>
          </p:blipFill>
          <p:spPr>
            <a:xfrm>
              <a:off x="9123970" y="2244860"/>
              <a:ext cx="2085413" cy="8995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4" name="Google Shape;264;h2cbbacd64be43ae2_0_189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0" l="0" r="97495" t="2229"/>
            <a:stretch/>
          </p:blipFill>
          <p:spPr>
            <a:xfrm rot="10800000">
              <a:off x="11109999" y="2197424"/>
              <a:ext cx="88851" cy="44617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h2cbbacd64be43ae2_0_189" title="Screenshot_20260924-220234.png"/>
            <p:cNvPicPr preferRelativeResize="0"/>
            <p:nvPr/>
          </p:nvPicPr>
          <p:blipFill rotWithShape="1">
            <a:blip r:embed="rId5">
              <a:alphaModFix/>
            </a:blip>
            <a:srcRect b="1784" l="0" r="0" t="6742"/>
            <a:stretch/>
          </p:blipFill>
          <p:spPr>
            <a:xfrm>
              <a:off x="9162825" y="2335075"/>
              <a:ext cx="1966650" cy="4270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6" name="Google Shape;266;h2cbbacd64be43ae2_0_189" title="Google-Pixel-6-PRO-control.sociounido.com.png"/>
            <p:cNvPicPr preferRelativeResize="0"/>
            <p:nvPr/>
          </p:nvPicPr>
          <p:blipFill rotWithShape="1">
            <a:blip r:embed="rId4">
              <a:alphaModFix/>
            </a:blip>
            <a:srcRect b="0" l="0" r="97495" t="0"/>
            <a:stretch/>
          </p:blipFill>
          <p:spPr>
            <a:xfrm>
              <a:off x="9124450" y="2237800"/>
              <a:ext cx="79524" cy="451387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1" name="Google Shape;27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45609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11"/>
          <p:cNvSpPr txBox="1"/>
          <p:nvPr/>
        </p:nvSpPr>
        <p:spPr>
          <a:xfrm>
            <a:off x="501450" y="427949"/>
            <a:ext cx="5238900" cy="52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2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"A team is a business at the end of the day, and the organizations must continue evolving digitally to remain competitive, both on the field and off." </a:t>
            </a:r>
            <a:endParaRPr sz="800"/>
          </a:p>
        </p:txBody>
      </p:sp>
      <p:sp>
        <p:nvSpPr>
          <p:cNvPr id="273" name="Google Shape;273;p11"/>
          <p:cNvSpPr txBox="1"/>
          <p:nvPr/>
        </p:nvSpPr>
        <p:spPr>
          <a:xfrm>
            <a:off x="571500" y="6299350"/>
            <a:ext cx="6172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DREW CRISP (LIVERPOOL FC)</a:t>
            </a:r>
            <a:endParaRPr/>
          </a:p>
        </p:txBody>
      </p:sp>
      <p:pic>
        <p:nvPicPr>
          <p:cNvPr id="274" name="Google Shape;27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3476" y="-131438"/>
            <a:ext cx="5528350" cy="620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9" name="Google Shape;279;p12"/>
          <p:cNvGrpSpPr/>
          <p:nvPr/>
        </p:nvGrpSpPr>
        <p:grpSpPr>
          <a:xfrm>
            <a:off x="571500" y="1524000"/>
            <a:ext cx="11049000" cy="4476750"/>
            <a:chOff x="571500" y="1524000"/>
            <a:chExt cx="11049000" cy="4476750"/>
          </a:xfrm>
        </p:grpSpPr>
        <p:grpSp>
          <p:nvGrpSpPr>
            <p:cNvPr id="280" name="Google Shape;280;p12"/>
            <p:cNvGrpSpPr/>
            <p:nvPr/>
          </p:nvGrpSpPr>
          <p:grpSpPr>
            <a:xfrm>
              <a:off x="571500" y="1524000"/>
              <a:ext cx="5334000" cy="2095500"/>
              <a:chOff x="0" y="0"/>
              <a:chExt cx="5334000" cy="2095500"/>
            </a:xfrm>
          </p:grpSpPr>
          <p:sp>
            <p:nvSpPr>
              <p:cNvPr id="281" name="Google Shape;281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8BD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2" name="Google Shape;282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0F2B4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" name="Google Shape;283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8BD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sz="3200">
                  <a:solidFill>
                    <a:srgbClr val="38BD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84" name="Google Shape;284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8BD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01</a:t>
                </a:r>
                <a:endParaRPr b="0" i="0" sz="2380">
                  <a:solidFill>
                    <a:srgbClr val="38BD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85" name="Google Shape;285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Motor predictivo de morosidad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86" name="Google Shape;286;p12"/>
            <p:cNvGrpSpPr/>
            <p:nvPr/>
          </p:nvGrpSpPr>
          <p:grpSpPr>
            <a:xfrm>
              <a:off x="6286500" y="1524000"/>
              <a:ext cx="5334000" cy="2095500"/>
              <a:chOff x="0" y="0"/>
              <a:chExt cx="5334000" cy="2095500"/>
            </a:xfrm>
          </p:grpSpPr>
          <p:sp>
            <p:nvSpPr>
              <p:cNvPr id="287" name="Google Shape;287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818C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8" name="Google Shape;288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20245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9" name="Google Shape;289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818C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account_balance</a:t>
                </a:r>
                <a:endParaRPr sz="3200">
                  <a:solidFill>
                    <a:srgbClr val="818C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90" name="Google Shape;290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818C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02</a:t>
                </a:r>
                <a:endParaRPr b="0" i="0" sz="2380">
                  <a:solidFill>
                    <a:srgbClr val="818C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91" name="Google Shape;291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Optimización de activos institucionales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92" name="Google Shape;292;p12"/>
            <p:cNvGrpSpPr/>
            <p:nvPr/>
          </p:nvGrpSpPr>
          <p:grpSpPr>
            <a:xfrm>
              <a:off x="571500" y="3905250"/>
              <a:ext cx="5334000" cy="2095500"/>
              <a:chOff x="0" y="0"/>
              <a:chExt cx="5334000" cy="2095500"/>
            </a:xfrm>
          </p:grpSpPr>
          <p:sp>
            <p:nvSpPr>
              <p:cNvPr id="293" name="Google Shape;293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F43F5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" name="Google Shape;294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3D172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5" name="Google Shape;295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F43F5E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psychology</a:t>
                </a:r>
                <a:endParaRPr sz="3200">
                  <a:solidFill>
                    <a:srgbClr val="F43F5E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96" name="Google Shape;296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F43F5E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03</a:t>
                </a:r>
                <a:endParaRPr b="0" i="0" sz="2380">
                  <a:solidFill>
                    <a:srgbClr val="F43F5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97" name="Google Shape;297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Interacción cognitiva sin fricción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98" name="Google Shape;298;p12"/>
            <p:cNvGrpSpPr/>
            <p:nvPr/>
          </p:nvGrpSpPr>
          <p:grpSpPr>
            <a:xfrm>
              <a:off x="6286500" y="3905250"/>
              <a:ext cx="5334000" cy="2095500"/>
              <a:chOff x="0" y="0"/>
              <a:chExt cx="5334000" cy="2095500"/>
            </a:xfrm>
          </p:grpSpPr>
          <p:sp>
            <p:nvSpPr>
              <p:cNvPr id="299" name="Google Shape;299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4D39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0" name="Google Shape;300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11332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1" name="Google Shape;301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phonelink_lock</a:t>
                </a:r>
                <a:endParaRPr sz="3200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302" name="Google Shape;302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4D399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04</a:t>
                </a:r>
                <a:endParaRPr b="0" i="0" sz="2380">
                  <a:solidFill>
                    <a:srgbClr val="34D399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303" name="Google Shape;303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Acceso inteligente TOTP 100% offline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304" name="Google Shape;304;p12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Ejes de innovación y disrupción</a:t>
            </a:r>
            <a:endParaRPr b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9" name="Google Shape;30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075" y="0"/>
            <a:ext cx="12192000" cy="6917125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13"/>
          <p:cNvSpPr txBox="1"/>
          <p:nvPr/>
        </p:nvSpPr>
        <p:spPr>
          <a:xfrm>
            <a:off x="4312225" y="0"/>
            <a:ext cx="3605700" cy="52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800" u="none" cap="none" strike="noStrike">
                <a:solidFill>
                  <a:srgbClr val="166534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Arquitectura</a:t>
            </a:r>
            <a:endParaRPr b="0" i="0" sz="3800" u="none" cap="none" strike="noStrike">
              <a:solidFill>
                <a:srgbClr val="166534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4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Atributos de calidad y resiliencia</a:t>
            </a:r>
            <a:endParaRPr b="0" i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17" name="Google Shape;317;p14"/>
          <p:cNvGrpSpPr/>
          <p:nvPr/>
        </p:nvGrpSpPr>
        <p:grpSpPr>
          <a:xfrm>
            <a:off x="571500" y="1524000"/>
            <a:ext cx="5334000" cy="2095500"/>
            <a:chOff x="0" y="0"/>
            <a:chExt cx="5334000" cy="2095500"/>
          </a:xfrm>
        </p:grpSpPr>
        <p:sp>
          <p:nvSpPr>
            <p:cNvPr id="318" name="Google Shape;318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59E0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11F0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59E0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endParaRPr b="0" i="0" sz="3200" u="none" strike="noStrike">
                <a:solidFill>
                  <a:srgbClr val="F59E0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21" name="Google Shape;321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Seguridad (Zero-Trust)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22" name="Google Shape;322;p14"/>
          <p:cNvGrpSpPr/>
          <p:nvPr/>
        </p:nvGrpSpPr>
        <p:grpSpPr>
          <a:xfrm>
            <a:off x="6286500" y="1524000"/>
            <a:ext cx="5334000" cy="2095500"/>
            <a:chOff x="0" y="0"/>
            <a:chExt cx="5334000" cy="2095500"/>
          </a:xfrm>
        </p:grpSpPr>
        <p:sp>
          <p:nvSpPr>
            <p:cNvPr id="323" name="Google Shape;323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0833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06B6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dns</a:t>
              </a:r>
              <a:endParaRPr b="0" i="0" sz="3200" u="none" strike="noStrike">
                <a:solidFill>
                  <a:srgbClr val="06B6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26" name="Google Shape;326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Escalabilidad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27" name="Google Shape;327;p14"/>
          <p:cNvGrpSpPr/>
          <p:nvPr/>
        </p:nvGrpSpPr>
        <p:grpSpPr>
          <a:xfrm>
            <a:off x="571500" y="3905250"/>
            <a:ext cx="5334000" cy="2095500"/>
            <a:chOff x="0" y="0"/>
            <a:chExt cx="5334000" cy="2095500"/>
          </a:xfrm>
        </p:grpSpPr>
        <p:sp>
          <p:nvSpPr>
            <p:cNvPr id="328" name="Google Shape;328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A855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B076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A855F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speed</a:t>
              </a:r>
              <a:endParaRPr b="0" i="0" sz="3200" u="none" strike="noStrike">
                <a:solidFill>
                  <a:srgbClr val="A855F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31" name="Google Shape;331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Rendimiento &amp; UX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32" name="Google Shape;332;p14"/>
          <p:cNvGrpSpPr/>
          <p:nvPr/>
        </p:nvGrpSpPr>
        <p:grpSpPr>
          <a:xfrm>
            <a:off x="6286500" y="3905250"/>
            <a:ext cx="5334000" cy="2095500"/>
            <a:chOff x="0" y="0"/>
            <a:chExt cx="5334000" cy="2095500"/>
          </a:xfrm>
        </p:grpSpPr>
        <p:sp>
          <p:nvSpPr>
            <p:cNvPr id="333" name="Google Shape;333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9731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43140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hub</a:t>
              </a:r>
              <a:endParaRPr b="0" i="0" sz="3200" u="none" strike="noStrike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36" name="Google Shape;336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Interoperabilidad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h6614320cb80fea18_0_2092"/>
          <p:cNvSpPr txBox="1"/>
          <p:nvPr/>
        </p:nvSpPr>
        <p:spPr>
          <a:xfrm>
            <a:off x="571500" y="476250"/>
            <a:ext cx="110490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lienzo Instituciona</a:t>
            </a:r>
            <a:r>
              <a:rPr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</a:t>
            </a:r>
            <a:endParaRPr i="0" sz="1800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42" name="Google Shape;342;h6614320cb80fea18_0_2092"/>
          <p:cNvGrpSpPr/>
          <p:nvPr/>
        </p:nvGrpSpPr>
        <p:grpSpPr>
          <a:xfrm>
            <a:off x="571500" y="1669894"/>
            <a:ext cx="3429000" cy="4649915"/>
            <a:chOff x="571500" y="2000250"/>
            <a:chExt cx="3429000" cy="4191000"/>
          </a:xfrm>
        </p:grpSpPr>
        <p:sp>
          <p:nvSpPr>
            <p:cNvPr id="343" name="Google Shape;343;h6614320cb80fea18_0_2092"/>
            <p:cNvSpPr/>
            <p:nvPr/>
          </p:nvSpPr>
          <p:spPr>
            <a:xfrm>
              <a:off x="57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h6614320cb80fea18_0_2092"/>
            <p:cNvSpPr/>
            <p:nvPr/>
          </p:nvSpPr>
          <p:spPr>
            <a:xfrm>
              <a:off x="87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" name="Google Shape;345;h6614320cb80fea18_0_2092"/>
            <p:cNvSpPr txBox="1"/>
            <p:nvPr/>
          </p:nvSpPr>
          <p:spPr>
            <a:xfrm>
              <a:off x="87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auto_awesome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46" name="Google Shape;346;h6614320cb80fea18_0_2092"/>
            <p:cNvSpPr txBox="1"/>
            <p:nvPr/>
          </p:nvSpPr>
          <p:spPr>
            <a:xfrm>
              <a:off x="876300" y="32194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Teoría de la Gestalt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47" name="Google Shape;347;h6614320cb80fea18_0_2092"/>
          <p:cNvGrpSpPr/>
          <p:nvPr/>
        </p:nvGrpSpPr>
        <p:grpSpPr>
          <a:xfrm>
            <a:off x="4381500" y="1669894"/>
            <a:ext cx="3429000" cy="4649915"/>
            <a:chOff x="4381500" y="2000250"/>
            <a:chExt cx="3429000" cy="4191000"/>
          </a:xfrm>
        </p:grpSpPr>
        <p:sp>
          <p:nvSpPr>
            <p:cNvPr id="348" name="Google Shape;348;h6614320cb80fea18_0_2092"/>
            <p:cNvSpPr/>
            <p:nvPr/>
          </p:nvSpPr>
          <p:spPr>
            <a:xfrm>
              <a:off x="438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h6614320cb80fea18_0_2092"/>
            <p:cNvSpPr/>
            <p:nvPr/>
          </p:nvSpPr>
          <p:spPr>
            <a:xfrm>
              <a:off x="468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h6614320cb80fea18_0_2092"/>
            <p:cNvSpPr txBox="1"/>
            <p:nvPr/>
          </p:nvSpPr>
          <p:spPr>
            <a:xfrm>
              <a:off x="468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palette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51" name="Google Shape;351;h6614320cb80fea18_0_2092"/>
            <p:cNvSpPr txBox="1"/>
            <p:nvPr/>
          </p:nvSpPr>
          <p:spPr>
            <a:xfrm>
              <a:off x="4572000" y="3219450"/>
              <a:ext cx="30699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Base </a:t>
              </a: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cromática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52" name="Google Shape;352;h6614320cb80fea18_0_2092"/>
          <p:cNvGrpSpPr/>
          <p:nvPr/>
        </p:nvGrpSpPr>
        <p:grpSpPr>
          <a:xfrm>
            <a:off x="8191500" y="1669894"/>
            <a:ext cx="3429000" cy="4649915"/>
            <a:chOff x="8191500" y="2000250"/>
            <a:chExt cx="3429000" cy="4191000"/>
          </a:xfrm>
        </p:grpSpPr>
        <p:sp>
          <p:nvSpPr>
            <p:cNvPr id="353" name="Google Shape;353;h6614320cb80fea18_0_2092"/>
            <p:cNvSpPr/>
            <p:nvPr/>
          </p:nvSpPr>
          <p:spPr>
            <a:xfrm>
              <a:off x="819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h6614320cb80fea18_0_2092"/>
            <p:cNvSpPr/>
            <p:nvPr/>
          </p:nvSpPr>
          <p:spPr>
            <a:xfrm>
              <a:off x="849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h6614320cb80fea18_0_2092"/>
            <p:cNvSpPr txBox="1"/>
            <p:nvPr/>
          </p:nvSpPr>
          <p:spPr>
            <a:xfrm>
              <a:off x="849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verified_user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56" name="Google Shape;356;h6614320cb80fea18_0_2092"/>
            <p:cNvSpPr txBox="1"/>
            <p:nvPr/>
          </p:nvSpPr>
          <p:spPr>
            <a:xfrm>
              <a:off x="8496300" y="31432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Claridad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inanciera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2200">
                <a:solidFill>
                  <a:srgbClr val="52525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1" name="Google Shape;361;h6614320cb80fea18_0_24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4475" y="3067050"/>
            <a:ext cx="96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h6614320cb80fea18_0_2451"/>
          <p:cNvSpPr txBox="1"/>
          <p:nvPr/>
        </p:nvSpPr>
        <p:spPr>
          <a:xfrm>
            <a:off x="587925" y="213500"/>
            <a:ext cx="4360800" cy="220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Estrategia </a:t>
            </a:r>
            <a:endParaRPr b="0" sz="40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 penetración</a:t>
            </a:r>
            <a:r>
              <a:rPr b="0" lang="en-US" sz="4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A1A1A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(Go-To-Market)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cxnSp>
        <p:nvCxnSpPr>
          <p:cNvPr id="363" name="Google Shape;363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flat" cmpd="sng" w="38100">
            <a:solidFill>
              <a:srgbClr val="27272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4" name="Google Shape;364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rnd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65" name="Google Shape;365;h6614320cb80fea18_0_2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38475" y="3524250"/>
            <a:ext cx="19200" cy="4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6" name="Google Shape;366;h6614320cb80fea18_0_24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47950" y="3124200"/>
            <a:ext cx="795300" cy="7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h6614320cb80fea18_0_2451"/>
          <p:cNvSpPr/>
          <p:nvPr/>
        </p:nvSpPr>
        <p:spPr>
          <a:xfrm>
            <a:off x="2952750" y="3429000"/>
            <a:ext cx="190500" cy="19050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h6614320cb80fea18_0_2451"/>
          <p:cNvSpPr txBox="1"/>
          <p:nvPr/>
        </p:nvSpPr>
        <p:spPr>
          <a:xfrm>
            <a:off x="666825" y="4000500"/>
            <a:ext cx="4762500" cy="26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0A5FA"/>
                </a:solidFill>
                <a:latin typeface="Montserrat"/>
                <a:ea typeface="Montserrat"/>
                <a:cs typeface="Montserrat"/>
                <a:sym typeface="Montserrat"/>
              </a:rPr>
              <a:t>FASE 1</a:t>
            </a:r>
            <a:endParaRPr sz="2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Nicho estratégico</a:t>
            </a:r>
            <a:endParaRPr sz="3000">
              <a:solidFill>
                <a:srgbClr val="D4D4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Cobertura objetivo:</a:t>
            </a:r>
            <a:endParaRPr sz="26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45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Primera B Metropolitana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Primera C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Federal A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9" name="Google Shape;369;h6614320cb80fea18_0_2451"/>
          <p:cNvSpPr txBox="1"/>
          <p:nvPr/>
        </p:nvSpPr>
        <p:spPr>
          <a:xfrm>
            <a:off x="6758025" y="477900"/>
            <a:ext cx="4762500" cy="251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Escalamiento</a:t>
            </a:r>
            <a:endParaRPr b="1" sz="4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9CA3A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Ligas de expansión:</a:t>
            </a:r>
            <a:endParaRPr sz="2600">
              <a:solidFill>
                <a:srgbClr val="9CA3A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450"/>
              </a:spcBef>
              <a:spcAft>
                <a:spcPts val="0"/>
              </a:spcAft>
              <a:buClr>
                <a:srgbClr val="34D399"/>
              </a:buClr>
              <a:buSzPts val="2600"/>
              <a:buFont typeface="Montserrat"/>
              <a:buChar char="●"/>
            </a:pPr>
            <a:r>
              <a:rPr lang="en-US" sz="26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Primera Nacional</a:t>
            </a:r>
            <a:endParaRPr sz="26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4D399"/>
              </a:buClr>
              <a:buSzPts val="2600"/>
              <a:buFont typeface="Montserrat"/>
              <a:buChar char="●"/>
            </a:pPr>
            <a:r>
              <a:rPr lang="en-US" sz="26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 Profesional</a:t>
            </a:r>
            <a:endParaRPr sz="26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b="1" lang="en-US" sz="1700">
                <a:solidFill>
                  <a:srgbClr val="34D399"/>
                </a:solidFill>
                <a:latin typeface="Montserrat"/>
                <a:ea typeface="Montserrat"/>
                <a:cs typeface="Montserrat"/>
                <a:sym typeface="Montserrat"/>
              </a:rPr>
              <a:t>FASE 2</a:t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370" name="Google Shape;370;h6614320cb80fea18_0_2451"/>
          <p:cNvGrpSpPr/>
          <p:nvPr/>
        </p:nvGrpSpPr>
        <p:grpSpPr>
          <a:xfrm>
            <a:off x="8743950" y="3124200"/>
            <a:ext cx="790725" cy="797700"/>
            <a:chOff x="8743950" y="3124200"/>
            <a:chExt cx="790725" cy="797700"/>
          </a:xfrm>
        </p:grpSpPr>
        <p:pic>
          <p:nvPicPr>
            <p:cNvPr id="371" name="Google Shape;371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743950" y="31242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2" name="Google Shape;372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 rot="10800000">
              <a:off x="9134475" y="31266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73" name="Google Shape;373;h6614320cb80fea18_0_2451"/>
            <p:cNvSpPr/>
            <p:nvPr/>
          </p:nvSpPr>
          <p:spPr>
            <a:xfrm>
              <a:off x="9044025" y="3428850"/>
              <a:ext cx="190500" cy="190500"/>
            </a:xfrm>
            <a:prstGeom prst="ellipse">
              <a:avLst/>
            </a:prstGeom>
            <a:solidFill>
              <a:srgbClr val="34D39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7"/>
          <p:cNvSpPr/>
          <p:nvPr/>
        </p:nvSpPr>
        <p:spPr>
          <a:xfrm>
            <a:off x="571500" y="1619250"/>
            <a:ext cx="3429000" cy="4572000"/>
          </a:xfrm>
          <a:prstGeom prst="roundRect">
            <a:avLst>
              <a:gd fmla="val 4444" name="adj"/>
            </a:avLst>
          </a:prstGeom>
          <a:solidFill>
            <a:srgbClr val="F8FAFC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7"/>
          <p:cNvSpPr txBox="1"/>
          <p:nvPr/>
        </p:nvSpPr>
        <p:spPr>
          <a:xfrm>
            <a:off x="571500" y="476250"/>
            <a:ext cx="110490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Pricing basado en el valor</a:t>
            </a:r>
            <a:endParaRPr b="0" sz="4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80" name="Google Shape;380;p17"/>
          <p:cNvGrpSpPr/>
          <p:nvPr/>
        </p:nvGrpSpPr>
        <p:grpSpPr>
          <a:xfrm>
            <a:off x="4381500" y="1619250"/>
            <a:ext cx="3429000" cy="4572000"/>
            <a:chOff x="0" y="0"/>
            <a:chExt cx="3429000" cy="4572000"/>
          </a:xfrm>
        </p:grpSpPr>
        <p:sp>
          <p:nvSpPr>
            <p:cNvPr id="381" name="Google Shape;381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" name="Google Shape;383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published_with_changes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84" name="Google Shape;384;p17"/>
            <p:cNvSpPr txBox="1"/>
            <p:nvPr/>
          </p:nvSpPr>
          <p:spPr>
            <a:xfrm>
              <a:off x="93300" y="1107600"/>
              <a:ext cx="3242400" cy="125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4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Suscripción híbrida</a:t>
              </a:r>
              <a:endParaRPr b="1" sz="404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385" name="Google Shape;385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86" name="Google Shape;386;p17"/>
            <p:cNvSpPr txBox="1"/>
            <p:nvPr/>
          </p:nvSpPr>
          <p:spPr>
            <a:xfrm>
              <a:off x="93300" y="2456850"/>
              <a:ext cx="3242400" cy="176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Abono mensual + tarifa variable por transacción</a:t>
              </a:r>
              <a:endParaRPr sz="3200">
                <a:solidFill>
                  <a:srgbClr val="0F172A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grpSp>
        <p:nvGrpSpPr>
          <p:cNvPr id="387" name="Google Shape;387;p17"/>
          <p:cNvGrpSpPr/>
          <p:nvPr/>
        </p:nvGrpSpPr>
        <p:grpSpPr>
          <a:xfrm>
            <a:off x="8191500" y="1619250"/>
            <a:ext cx="3429000" cy="4572000"/>
            <a:chOff x="0" y="0"/>
            <a:chExt cx="3429000" cy="4572000"/>
          </a:xfrm>
        </p:grpSpPr>
        <p:sp>
          <p:nvSpPr>
            <p:cNvPr id="388" name="Google Shape;388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campaign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91" name="Google Shape;391;p17"/>
            <p:cNvSpPr txBox="1"/>
            <p:nvPr/>
          </p:nvSpPr>
          <p:spPr>
            <a:xfrm>
              <a:off x="49350" y="1135650"/>
              <a:ext cx="3330300" cy="119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Marketplace CPA</a:t>
              </a:r>
              <a:endParaRPr b="1" sz="4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392" name="Google Shape;392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93" name="Google Shape;393;p17"/>
            <p:cNvSpPr txBox="1"/>
            <p:nvPr/>
          </p:nvSpPr>
          <p:spPr>
            <a:xfrm>
              <a:off x="228600" y="2508875"/>
              <a:ext cx="2971800" cy="1664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Monetización publicitaria en la aplicación móvil</a:t>
              </a:r>
              <a:endParaRPr sz="32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2300">
                <a:solidFill>
                  <a:srgbClr val="0F172A"/>
                </a:solidFill>
                <a:highlight>
                  <a:srgbClr val="FFFFFF"/>
                </a:highlight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394" name="Google Shape;394;p17"/>
          <p:cNvSpPr/>
          <p:nvPr/>
        </p:nvSpPr>
        <p:spPr>
          <a:xfrm>
            <a:off x="876300" y="1924050"/>
            <a:ext cx="609600" cy="609600"/>
          </a:xfrm>
          <a:prstGeom prst="roundRect">
            <a:avLst>
              <a:gd fmla="val 21875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7"/>
          <p:cNvSpPr txBox="1"/>
          <p:nvPr/>
        </p:nvSpPr>
        <p:spPr>
          <a:xfrm>
            <a:off x="876300" y="1967865"/>
            <a:ext cx="609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handshake</a:t>
            </a:r>
            <a:endParaRPr sz="3000">
              <a:solidFill>
                <a:srgbClr val="FFFFFF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396" name="Google Shape;396;p17"/>
          <p:cNvSpPr txBox="1"/>
          <p:nvPr/>
        </p:nvSpPr>
        <p:spPr>
          <a:xfrm>
            <a:off x="856275" y="2786988"/>
            <a:ext cx="2819400" cy="64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Setup Fee</a:t>
            </a:r>
            <a:endParaRPr b="1" sz="4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7" name="Google Shape;397;p17"/>
          <p:cNvSpPr txBox="1"/>
          <p:nvPr/>
        </p:nvSpPr>
        <p:spPr>
          <a:xfrm>
            <a:off x="876300" y="3543300"/>
            <a:ext cx="2819400" cy="11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Costo de configuración inicial</a:t>
            </a:r>
            <a:endParaRPr sz="3000">
              <a:solidFill>
                <a:srgbClr val="166534"/>
              </a:solidFill>
              <a:highlight>
                <a:srgbClr val="FFFFFF"/>
              </a:highlight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cxnSp>
        <p:nvCxnSpPr>
          <p:cNvPr id="398" name="Google Shape;398;p17"/>
          <p:cNvCxnSpPr/>
          <p:nvPr/>
        </p:nvCxnSpPr>
        <p:spPr>
          <a:xfrm>
            <a:off x="876300" y="3352800"/>
            <a:ext cx="2819400" cy="0"/>
          </a:xfrm>
          <a:prstGeom prst="straightConnector1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99" name="Google Shape;399;p17"/>
          <p:cNvGrpSpPr/>
          <p:nvPr/>
        </p:nvGrpSpPr>
        <p:grpSpPr>
          <a:xfrm>
            <a:off x="856239" y="5106872"/>
            <a:ext cx="2819470" cy="991318"/>
            <a:chOff x="856200" y="4344675"/>
            <a:chExt cx="1549500" cy="544800"/>
          </a:xfrm>
        </p:grpSpPr>
        <p:sp>
          <p:nvSpPr>
            <p:cNvPr id="400" name="Google Shape;400;p17"/>
            <p:cNvSpPr/>
            <p:nvPr/>
          </p:nvSpPr>
          <p:spPr>
            <a:xfrm>
              <a:off x="876300" y="4378875"/>
              <a:ext cx="1509300" cy="476400"/>
            </a:xfrm>
            <a:prstGeom prst="roundRect">
              <a:avLst>
                <a:gd fmla="val 50000" name="adj"/>
              </a:avLst>
            </a:prstGeom>
            <a:solidFill>
              <a:srgbClr val="DCFCE7"/>
            </a:solidFill>
            <a:ln cap="flat" cmpd="sng" w="17325">
              <a:solidFill>
                <a:srgbClr val="86EFA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547"/>
            </a:p>
          </p:txBody>
        </p:sp>
        <p:sp>
          <p:nvSpPr>
            <p:cNvPr id="401" name="Google Shape;401;p17"/>
            <p:cNvSpPr txBox="1"/>
            <p:nvPr/>
          </p:nvSpPr>
          <p:spPr>
            <a:xfrm>
              <a:off x="856200" y="4344675"/>
              <a:ext cx="1549500" cy="54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47">
                  <a:solidFill>
                    <a:srgbClr val="16653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100% BONIFICADO PARA PRIMEROS CLIENTES</a:t>
              </a:r>
              <a:endParaRPr b="1" sz="1547">
                <a:solidFill>
                  <a:srgbClr val="166534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h6614320cb80fea18_0_3040"/>
          <p:cNvSpPr txBox="1"/>
          <p:nvPr/>
        </p:nvSpPr>
        <p:spPr>
          <a:xfrm>
            <a:off x="762000" y="571500"/>
            <a:ext cx="10668000" cy="615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F7F9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Proyección financiera base</a:t>
            </a:r>
            <a:endParaRPr b="0" sz="4000">
              <a:solidFill>
                <a:srgbClr val="F7F9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07" name="Google Shape;407;h6614320cb80fea18_0_3040"/>
          <p:cNvSpPr/>
          <p:nvPr/>
        </p:nvSpPr>
        <p:spPr>
          <a:xfrm>
            <a:off x="762038" y="1524000"/>
            <a:ext cx="10667700" cy="4572000"/>
          </a:xfrm>
          <a:prstGeom prst="roundRect">
            <a:avLst>
              <a:gd fmla="val 4166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h6614320cb80fea18_0_3040"/>
          <p:cNvSpPr/>
          <p:nvPr/>
        </p:nvSpPr>
        <p:spPr>
          <a:xfrm>
            <a:off x="1261200" y="1919400"/>
            <a:ext cx="9669600" cy="6834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h6614320cb80fea18_0_3040"/>
          <p:cNvSpPr txBox="1"/>
          <p:nvPr/>
        </p:nvSpPr>
        <p:spPr>
          <a:xfrm>
            <a:off x="955200" y="2022900"/>
            <a:ext cx="10474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12% Penetración (10 Clubes)</a:t>
            </a:r>
            <a:endParaRPr b="1" sz="4200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0" name="Google Shape;410;h6614320cb80fea18_0_3040"/>
          <p:cNvSpPr txBox="1"/>
          <p:nvPr/>
        </p:nvSpPr>
        <p:spPr>
          <a:xfrm>
            <a:off x="1567095" y="3106950"/>
            <a:ext cx="40476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6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$</a:t>
            </a:r>
            <a:r>
              <a:rPr lang="en-US" sz="76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96</a:t>
            </a:r>
            <a:r>
              <a:rPr b="0" lang="en-US" sz="76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k</a:t>
            </a:r>
            <a:r>
              <a:rPr b="0" lang="en-US" sz="7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r>
              <a:rPr b="0" lang="en-US" sz="3600">
                <a:solidFill>
                  <a:srgbClr val="0284C7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USD</a:t>
            </a:r>
            <a:endParaRPr b="0" sz="76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411" name="Google Shape;411;h6614320cb80fea18_0_3040"/>
          <p:cNvGrpSpPr/>
          <p:nvPr/>
        </p:nvGrpSpPr>
        <p:grpSpPr>
          <a:xfrm>
            <a:off x="5957559" y="2848598"/>
            <a:ext cx="5699841" cy="1922811"/>
            <a:chOff x="5924559" y="2848598"/>
            <a:chExt cx="5699841" cy="1922811"/>
          </a:xfrm>
        </p:grpSpPr>
        <p:grpSp>
          <p:nvGrpSpPr>
            <p:cNvPr id="412" name="Google Shape;412;h6614320cb80fea18_0_3040"/>
            <p:cNvGrpSpPr/>
            <p:nvPr/>
          </p:nvGrpSpPr>
          <p:grpSpPr>
            <a:xfrm>
              <a:off x="5924559" y="2848598"/>
              <a:ext cx="1798701" cy="1922811"/>
              <a:chOff x="6953250" y="2857500"/>
              <a:chExt cx="762000" cy="814578"/>
            </a:xfrm>
          </p:grpSpPr>
          <p:sp>
            <p:nvSpPr>
              <p:cNvPr id="413" name="Google Shape;413;h6614320cb80fea18_0_3040"/>
              <p:cNvSpPr/>
              <p:nvPr/>
            </p:nvSpPr>
            <p:spPr>
              <a:xfrm>
                <a:off x="6953250" y="2857500"/>
                <a:ext cx="762000" cy="762000"/>
              </a:xfrm>
              <a:prstGeom prst="ellipse">
                <a:avLst/>
              </a:pr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4" name="Google Shape;414;h6614320cb80fea18_0_3040"/>
              <p:cNvSpPr txBox="1"/>
              <p:nvPr/>
            </p:nvSpPr>
            <p:spPr>
              <a:xfrm>
                <a:off x="6953250" y="2910078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8498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b="0" sz="8498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415" name="Google Shape;415;h6614320cb80fea18_0_3040"/>
            <p:cNvSpPr txBox="1"/>
            <p:nvPr/>
          </p:nvSpPr>
          <p:spPr>
            <a:xfrm>
              <a:off x="7899900" y="3128100"/>
              <a:ext cx="3724500" cy="136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330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+ Ingresos variables exponenciales</a:t>
              </a:r>
              <a:endParaRPr b="1" sz="333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416" name="Google Shape;416;h6614320cb80fea18_0_3040"/>
          <p:cNvSpPr txBox="1"/>
          <p:nvPr/>
        </p:nvSpPr>
        <p:spPr>
          <a:xfrm>
            <a:off x="3307650" y="5120700"/>
            <a:ext cx="55767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INGRESOS ANUALES</a:t>
            </a:r>
            <a:endParaRPr b="1" sz="33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9"/>
          <p:cNvSpPr txBox="1"/>
          <p:nvPr/>
        </p:nvSpPr>
        <p:spPr>
          <a:xfrm>
            <a:off x="3714750" y="952500"/>
            <a:ext cx="4762500" cy="153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DEMO</a:t>
            </a:r>
            <a:endParaRPr b="0" sz="10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22" name="Google Shape;422;p19"/>
          <p:cNvSpPr/>
          <p:nvPr/>
        </p:nvSpPr>
        <p:spPr>
          <a:xfrm>
            <a:off x="1597500" y="3025450"/>
            <a:ext cx="8997000" cy="238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9"/>
          <p:cNvSpPr txBox="1"/>
          <p:nvPr/>
        </p:nvSpPr>
        <p:spPr>
          <a:xfrm>
            <a:off x="4450500" y="4937700"/>
            <a:ext cx="3291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 ACCIÓN</a:t>
            </a:r>
            <a:endParaRPr b="1" sz="4200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24" name="Google Shape;424;p19" title="texto.png"/>
          <p:cNvPicPr preferRelativeResize="0"/>
          <p:nvPr/>
        </p:nvPicPr>
        <p:blipFill rotWithShape="1">
          <a:blip r:embed="rId3">
            <a:alphaModFix/>
          </a:blip>
          <a:srcRect b="23437" l="0" r="0" t="25288"/>
          <a:stretch/>
        </p:blipFill>
        <p:spPr>
          <a:xfrm>
            <a:off x="2099425" y="3574625"/>
            <a:ext cx="7993150" cy="136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h6594a2e70c4c9f3_22_113"/>
          <p:cNvSpPr txBox="1"/>
          <p:nvPr/>
        </p:nvSpPr>
        <p:spPr>
          <a:xfrm>
            <a:off x="666750" y="476250"/>
            <a:ext cx="10858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6015">
                <a:solidFill>
                  <a:srgbClr val="F8FA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Próximos pasos</a:t>
            </a:r>
            <a:endParaRPr b="0" sz="3795">
              <a:solidFill>
                <a:srgbClr val="94A3B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0" name="Google Shape;430;h6594a2e70c4c9f3_22_113"/>
          <p:cNvSpPr/>
          <p:nvPr/>
        </p:nvSpPr>
        <p:spPr>
          <a:xfrm>
            <a:off x="169050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431" name="Google Shape;431;h6594a2e70c4c9f3_22_113"/>
          <p:cNvSpPr/>
          <p:nvPr/>
        </p:nvSpPr>
        <p:spPr>
          <a:xfrm>
            <a:off x="373425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h6594a2e70c4c9f3_22_113"/>
          <p:cNvSpPr txBox="1"/>
          <p:nvPr/>
        </p:nvSpPr>
        <p:spPr>
          <a:xfrm>
            <a:off x="373425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01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33" name="Google Shape;433;h6594a2e70c4c9f3_22_113"/>
          <p:cNvPicPr preferRelativeResize="0"/>
          <p:nvPr/>
        </p:nvPicPr>
        <p:blipFill rotWithShape="1">
          <a:blip r:embed="rId3">
            <a:alphaModFix/>
          </a:blip>
          <a:srcRect b="1719" l="0" r="0" t="1728"/>
          <a:stretch/>
        </p:blipFill>
        <p:spPr>
          <a:xfrm>
            <a:off x="373425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h6594a2e70c4c9f3_22_113"/>
          <p:cNvSpPr txBox="1"/>
          <p:nvPr/>
        </p:nvSpPr>
        <p:spPr>
          <a:xfrm>
            <a:off x="373425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Protección intelectual</a:t>
            </a:r>
            <a:endParaRPr b="1" sz="24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5" name="Google Shape;435;h6594a2e70c4c9f3_22_113"/>
          <p:cNvSpPr/>
          <p:nvPr/>
        </p:nvSpPr>
        <p:spPr>
          <a:xfrm>
            <a:off x="2580674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h6594a2e70c4c9f3_22_113"/>
          <p:cNvSpPr/>
          <p:nvPr/>
        </p:nvSpPr>
        <p:spPr>
          <a:xfrm>
            <a:off x="2785049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h6594a2e70c4c9f3_22_113"/>
          <p:cNvSpPr txBox="1"/>
          <p:nvPr/>
        </p:nvSpPr>
        <p:spPr>
          <a:xfrm>
            <a:off x="2785050" y="2678275"/>
            <a:ext cx="4905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02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38" name="Google Shape;438;h6594a2e70c4c9f3_22_113"/>
          <p:cNvPicPr preferRelativeResize="0"/>
          <p:nvPr/>
        </p:nvPicPr>
        <p:blipFill rotWithShape="1">
          <a:blip r:embed="rId4">
            <a:alphaModFix/>
          </a:blip>
          <a:srcRect b="0" l="8567" r="8576" t="0"/>
          <a:stretch/>
        </p:blipFill>
        <p:spPr>
          <a:xfrm>
            <a:off x="2785049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h6594a2e70c4c9f3_22_113"/>
          <p:cNvSpPr txBox="1"/>
          <p:nvPr/>
        </p:nvSpPr>
        <p:spPr>
          <a:xfrm>
            <a:off x="2785049" y="3902495"/>
            <a:ext cx="17985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Gestión de grupo familiar</a:t>
            </a:r>
            <a:endParaRPr b="1" sz="24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0" name="Google Shape;440;h6594a2e70c4c9f3_22_113"/>
          <p:cNvSpPr/>
          <p:nvPr/>
        </p:nvSpPr>
        <p:spPr>
          <a:xfrm>
            <a:off x="4992298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h6594a2e70c4c9f3_22_113"/>
          <p:cNvSpPr/>
          <p:nvPr/>
        </p:nvSpPr>
        <p:spPr>
          <a:xfrm>
            <a:off x="5196673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h6594a2e70c4c9f3_22_113"/>
          <p:cNvSpPr txBox="1"/>
          <p:nvPr/>
        </p:nvSpPr>
        <p:spPr>
          <a:xfrm>
            <a:off x="5196676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03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43" name="Google Shape;443;h6594a2e70c4c9f3_22_113"/>
          <p:cNvSpPr txBox="1"/>
          <p:nvPr/>
        </p:nvSpPr>
        <p:spPr>
          <a:xfrm>
            <a:off x="5196673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Molinetes físicos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4" name="Google Shape;444;h6594a2e70c4c9f3_22_113"/>
          <p:cNvSpPr/>
          <p:nvPr/>
        </p:nvSpPr>
        <p:spPr>
          <a:xfrm>
            <a:off x="7403922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h6594a2e70c4c9f3_22_113"/>
          <p:cNvSpPr/>
          <p:nvPr/>
        </p:nvSpPr>
        <p:spPr>
          <a:xfrm>
            <a:off x="7608297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h6594a2e70c4c9f3_22_113"/>
          <p:cNvSpPr txBox="1"/>
          <p:nvPr/>
        </p:nvSpPr>
        <p:spPr>
          <a:xfrm>
            <a:off x="7608300" y="2678275"/>
            <a:ext cx="681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04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47" name="Google Shape;447;h6594a2e70c4c9f3_22_113"/>
          <p:cNvPicPr preferRelativeResize="0"/>
          <p:nvPr/>
        </p:nvPicPr>
        <p:blipFill rotWithShape="1">
          <a:blip r:embed="rId5">
            <a:alphaModFix/>
          </a:blip>
          <a:srcRect b="1719" l="0" r="0" t="1728"/>
          <a:stretch/>
        </p:blipFill>
        <p:spPr>
          <a:xfrm>
            <a:off x="7608297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h6594a2e70c4c9f3_22_113"/>
          <p:cNvSpPr txBox="1"/>
          <p:nvPr/>
        </p:nvSpPr>
        <p:spPr>
          <a:xfrm>
            <a:off x="7608297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Expansión</a:t>
            </a: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 financiera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9" name="Google Shape;449;h6594a2e70c4c9f3_22_113"/>
          <p:cNvSpPr/>
          <p:nvPr/>
        </p:nvSpPr>
        <p:spPr>
          <a:xfrm>
            <a:off x="9815546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450" name="Google Shape;450;h6594a2e70c4c9f3_22_113"/>
          <p:cNvSpPr/>
          <p:nvPr/>
        </p:nvSpPr>
        <p:spPr>
          <a:xfrm>
            <a:off x="10019921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h6594a2e70c4c9f3_22_113"/>
          <p:cNvSpPr txBox="1"/>
          <p:nvPr/>
        </p:nvSpPr>
        <p:spPr>
          <a:xfrm>
            <a:off x="10019927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05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52" name="Google Shape;452;h6594a2e70c4c9f3_22_113"/>
          <p:cNvPicPr preferRelativeResize="0"/>
          <p:nvPr/>
        </p:nvPicPr>
        <p:blipFill rotWithShape="1">
          <a:blip r:embed="rId6">
            <a:alphaModFix/>
          </a:blip>
          <a:srcRect b="6897" l="0" r="0" t="6897"/>
          <a:stretch/>
        </p:blipFill>
        <p:spPr>
          <a:xfrm>
            <a:off x="10019921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h6594a2e70c4c9f3_22_113"/>
          <p:cNvSpPr txBox="1"/>
          <p:nvPr/>
        </p:nvSpPr>
        <p:spPr>
          <a:xfrm>
            <a:off x="9983400" y="3945325"/>
            <a:ext cx="18717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Despliegue Nativo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454" name="Google Shape;454;h6594a2e70c4c9f3_22_1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165912" y="3188939"/>
            <a:ext cx="347664" cy="4801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59" name="Google Shape;45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21"/>
          <p:cNvSpPr txBox="1"/>
          <p:nvPr/>
        </p:nvSpPr>
        <p:spPr>
          <a:xfrm>
            <a:off x="-1383548" y="2056029"/>
            <a:ext cx="14959103" cy="2788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Entonces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, ¿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Por qu</a:t>
            </a:r>
            <a:r>
              <a:rPr b="1" lang="en-US" sz="82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é</a:t>
            </a:r>
            <a:endParaRPr b="1" sz="8236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7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    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sz="2305"/>
          </a:p>
        </p:txBody>
      </p:sp>
      <p:pic>
        <p:nvPicPr>
          <p:cNvPr id="461" name="Google Shape;461;p21" title="texto.png"/>
          <p:cNvPicPr preferRelativeResize="0"/>
          <p:nvPr/>
        </p:nvPicPr>
        <p:blipFill rotWithShape="1">
          <a:blip r:embed="rId4">
            <a:alphaModFix/>
          </a:blip>
          <a:srcRect b="23437" l="0" r="0" t="25288"/>
          <a:stretch/>
        </p:blipFill>
        <p:spPr>
          <a:xfrm>
            <a:off x="1496250" y="3603275"/>
            <a:ext cx="7728325" cy="131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/>
          <p:cNvSpPr txBox="1"/>
          <p:nvPr/>
        </p:nvSpPr>
        <p:spPr>
          <a:xfrm>
            <a:off x="295275" y="2857500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Porque…</a:t>
            </a:r>
            <a:endParaRPr b="1" i="0" sz="7500" u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1" name="Google Shape;47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