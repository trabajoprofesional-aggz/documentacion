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6858000" cy="9144000"/>
  <p:embeddedFontLst>
    <p:embeddedFont>
      <p:font typeface="Montserrat SemiBold"/>
      <p:regular r:id="rId31"/>
      <p:bold r:id="rId32"/>
      <p:italic r:id="rId33"/>
      <p:boldItalic r:id="rId34"/>
    </p:embeddedFont>
    <p:embeddedFont>
      <p:font typeface="Inter SemiBold"/>
      <p:regular r:id="rId35"/>
      <p:bold r:id="rId36"/>
      <p:italic r:id="rId37"/>
      <p:boldItalic r:id="rId38"/>
    </p:embeddedFont>
    <p:embeddedFont>
      <p:font typeface="Montserrat"/>
      <p:regular r:id="rId39"/>
      <p:bold r:id="rId40"/>
      <p:italic r:id="rId41"/>
      <p:boldItalic r:id="rId42"/>
    </p:embeddedFont>
    <p:embeddedFont>
      <p:font typeface="Inter"/>
      <p:regular r:id="rId43"/>
      <p:bold r:id="rId44"/>
      <p:italic r:id="rId45"/>
      <p:boldItalic r:id="rId46"/>
    </p:embeddedFont>
    <p:embeddedFont>
      <p:font typeface="Montserrat Medium"/>
      <p:regular r:id="rId47"/>
      <p:bold r:id="rId48"/>
      <p:italic r:id="rId49"/>
      <p:boldItalic r:id="rId50"/>
    </p:embeddedFont>
    <p:embeddedFont>
      <p:font typeface="Montserrat ExtraBold"/>
      <p:bold r:id="rId51"/>
      <p:boldItalic r:id="rId52"/>
    </p:embeddedFont>
    <p:embeddedFont>
      <p:font typeface="Inter Medium"/>
      <p:regular r:id="rId53"/>
      <p:bold r:id="rId54"/>
      <p:italic r:id="rId55"/>
      <p:boldItalic r:id="rId5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57" roundtripDataSignature="AMtx7mgNhL9m/1JATsCWqNxpnDyN9joV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bold.fntdata"/><Relationship Id="rId42" Type="http://schemas.openxmlformats.org/officeDocument/2006/relationships/font" Target="fonts/Montserrat-boldItalic.fntdata"/><Relationship Id="rId41" Type="http://schemas.openxmlformats.org/officeDocument/2006/relationships/font" Target="fonts/Montserrat-italic.fntdata"/><Relationship Id="rId44" Type="http://schemas.openxmlformats.org/officeDocument/2006/relationships/font" Target="fonts/Inter-bold.fntdata"/><Relationship Id="rId43" Type="http://schemas.openxmlformats.org/officeDocument/2006/relationships/font" Target="fonts/Inter-regular.fntdata"/><Relationship Id="rId46" Type="http://schemas.openxmlformats.org/officeDocument/2006/relationships/font" Target="fonts/Inter-boldItalic.fntdata"/><Relationship Id="rId45" Type="http://schemas.openxmlformats.org/officeDocument/2006/relationships/font" Target="fonts/Inter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Medium-bold.fntdata"/><Relationship Id="rId47" Type="http://schemas.openxmlformats.org/officeDocument/2006/relationships/font" Target="fonts/MontserratMedium-regular.fntdata"/><Relationship Id="rId49" Type="http://schemas.openxmlformats.org/officeDocument/2006/relationships/font" Target="fonts/Montserrat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SemiBold-regular.fntdata"/><Relationship Id="rId30" Type="http://schemas.openxmlformats.org/officeDocument/2006/relationships/slide" Target="slides/slide25.xml"/><Relationship Id="rId33" Type="http://schemas.openxmlformats.org/officeDocument/2006/relationships/font" Target="fonts/MontserratSemiBold-italic.fntdata"/><Relationship Id="rId32" Type="http://schemas.openxmlformats.org/officeDocument/2006/relationships/font" Target="fonts/MontserratSemiBold-bold.fntdata"/><Relationship Id="rId35" Type="http://schemas.openxmlformats.org/officeDocument/2006/relationships/font" Target="fonts/InterSemiBold-regular.fntdata"/><Relationship Id="rId34" Type="http://schemas.openxmlformats.org/officeDocument/2006/relationships/font" Target="fonts/MontserratSemiBold-boldItalic.fntdata"/><Relationship Id="rId37" Type="http://schemas.openxmlformats.org/officeDocument/2006/relationships/font" Target="fonts/InterSemiBold-italic.fntdata"/><Relationship Id="rId36" Type="http://schemas.openxmlformats.org/officeDocument/2006/relationships/font" Target="fonts/InterSemiBold-bold.fntdata"/><Relationship Id="rId39" Type="http://schemas.openxmlformats.org/officeDocument/2006/relationships/font" Target="fonts/Montserrat-regular.fntdata"/><Relationship Id="rId38" Type="http://schemas.openxmlformats.org/officeDocument/2006/relationships/font" Target="fonts/InterSemiBold-boldItalic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ExtraBold-bold.fntdata"/><Relationship Id="rId50" Type="http://schemas.openxmlformats.org/officeDocument/2006/relationships/font" Target="fonts/MontserratMedium-boldItalic.fntdata"/><Relationship Id="rId53" Type="http://schemas.openxmlformats.org/officeDocument/2006/relationships/font" Target="fonts/InterMedium-regular.fntdata"/><Relationship Id="rId52" Type="http://schemas.openxmlformats.org/officeDocument/2006/relationships/font" Target="fonts/MontserratExtraBold-boldItalic.fntdata"/><Relationship Id="rId11" Type="http://schemas.openxmlformats.org/officeDocument/2006/relationships/slide" Target="slides/slide6.xml"/><Relationship Id="rId55" Type="http://schemas.openxmlformats.org/officeDocument/2006/relationships/font" Target="fonts/InterMedium-italic.fntdata"/><Relationship Id="rId10" Type="http://schemas.openxmlformats.org/officeDocument/2006/relationships/slide" Target="slides/slide5.xml"/><Relationship Id="rId54" Type="http://schemas.openxmlformats.org/officeDocument/2006/relationships/font" Target="fonts/InterMedium-bold.fntdata"/><Relationship Id="rId13" Type="http://schemas.openxmlformats.org/officeDocument/2006/relationships/slide" Target="slides/slide8.xml"/><Relationship Id="rId57" Type="http://customschemas.google.com/relationships/presentationmetadata" Target="metadata"/><Relationship Id="rId12" Type="http://schemas.openxmlformats.org/officeDocument/2006/relationships/slide" Target="slides/slide7.xml"/><Relationship Id="rId56" Type="http://schemas.openxmlformats.org/officeDocument/2006/relationships/font" Target="fonts/InterMedium-bold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c478f6c840f279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h4c478f6c840f2799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h6614320cb80fea18_0_9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h6614320cb80fea18_0_9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h5dcf4a5e61b7b94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h5dcf4a5e61b7b94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h6614320cb80fea18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h6614320cb80fea18_0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h31d256953cabf977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h31d256953cabf977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h105005292c05e9d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h105005292c05e9d_1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2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4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4.png"/><Relationship Id="rId6" Type="http://schemas.openxmlformats.org/officeDocument/2006/relationships/image" Target="../media/image2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Relationship Id="rId5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Relationship Id="rId4" Type="http://schemas.openxmlformats.org/officeDocument/2006/relationships/image" Target="../media/image28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3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h4c478f6c840f2799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99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90" name="Google Shape;90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025" y="136700"/>
            <a:ext cx="11705955" cy="65846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295275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95200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 sz="1371"/>
          </a:p>
        </p:txBody>
      </p:sp>
      <p:sp>
        <p:nvSpPr>
          <p:cNvPr id="98" name="Google Shape;98;p3"/>
          <p:cNvSpPr txBox="1"/>
          <p:nvPr/>
        </p:nvSpPr>
        <p:spPr>
          <a:xfrm>
            <a:off x="357582" y="5170608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VENTA &amp; QA</a:t>
            </a:r>
            <a:endParaRPr sz="1371"/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9203" y="1495646"/>
            <a:ext cx="2332200" cy="2366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64059" y="1455321"/>
            <a:ext cx="2332200" cy="2367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5774" y="1455321"/>
            <a:ext cx="2332200" cy="2378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512" y="1443603"/>
            <a:ext cx="2355300" cy="2390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Google Shape;103;p3"/>
          <p:cNvSpPr txBox="1"/>
          <p:nvPr/>
        </p:nvSpPr>
        <p:spPr>
          <a:xfrm>
            <a:off x="3303487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3"/>
          <p:cNvSpPr txBox="1"/>
          <p:nvPr/>
        </p:nvSpPr>
        <p:spPr>
          <a:xfrm>
            <a:off x="3447489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311773" y="4019035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6374153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9423246" y="4034478"/>
            <a:ext cx="24135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401699" y="5180541"/>
            <a:ext cx="24951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09" name="Google Shape;109;p3" title="logo.png"/>
          <p:cNvPicPr preferRelativeResize="0"/>
          <p:nvPr/>
        </p:nvPicPr>
        <p:blipFill rotWithShape="1">
          <a:blip r:embed="rId8">
            <a:alphaModFix/>
          </a:blip>
          <a:srcRect b="0" l="4771" r="0" t="0"/>
          <a:stretch/>
        </p:blipFill>
        <p:spPr>
          <a:xfrm>
            <a:off x="9177876" y="5723250"/>
            <a:ext cx="3057325" cy="1168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3"/>
          <p:cNvCxnSpPr/>
          <p:nvPr/>
        </p:nvCxnSpPr>
        <p:spPr>
          <a:xfrm>
            <a:off x="795175" y="6378600"/>
            <a:ext cx="8294400" cy="114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11" name="Google Shape;111;p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" y="0"/>
            <a:ext cx="1213058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/>
          <p:cNvSpPr txBox="1"/>
          <p:nvPr/>
        </p:nvSpPr>
        <p:spPr>
          <a:xfrm>
            <a:off x="982325" y="2919850"/>
            <a:ext cx="102273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8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2286000" y="4489964"/>
            <a:ext cx="76200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4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</a:t>
            </a:r>
            <a:r>
              <a:rPr lang="en-US" sz="4400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deporte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19" name="Google Shape;11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500" y="109952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Los clubes pierden plata en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5" name="Google Shape;125;h6614320cb80fea18_0_582"/>
          <p:cNvGrpSpPr/>
          <p:nvPr/>
        </p:nvGrpSpPr>
        <p:grpSpPr>
          <a:xfrm>
            <a:off x="762000" y="1371700"/>
            <a:ext cx="3333900" cy="4819650"/>
            <a:chOff x="0" y="0"/>
            <a:chExt cx="3333900" cy="4191000"/>
          </a:xfrm>
        </p:grpSpPr>
        <p:sp>
          <p:nvSpPr>
            <p:cNvPr id="126" name="Google Shape;126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9" name="Google Shape;129;h6614320cb80fea18_0_582"/>
          <p:cNvGrpSpPr/>
          <p:nvPr/>
        </p:nvGrpSpPr>
        <p:grpSpPr>
          <a:xfrm>
            <a:off x="4429125" y="1371600"/>
            <a:ext cx="3333900" cy="4819650"/>
            <a:chOff x="0" y="0"/>
            <a:chExt cx="3333900" cy="4191000"/>
          </a:xfrm>
        </p:grpSpPr>
        <p:sp>
          <p:nvSpPr>
            <p:cNvPr id="130" name="Google Shape;130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100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3" name="Google Shape;133;h6614320cb80fea18_0_582"/>
          <p:cNvGrpSpPr/>
          <p:nvPr/>
        </p:nvGrpSpPr>
        <p:grpSpPr>
          <a:xfrm>
            <a:off x="8096250" y="1371700"/>
            <a:ext cx="3333900" cy="4819650"/>
            <a:chOff x="0" y="0"/>
            <a:chExt cx="3333900" cy="4191000"/>
          </a:xfrm>
        </p:grpSpPr>
        <p:sp>
          <p:nvSpPr>
            <p:cNvPr id="134" name="Google Shape;134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37" name="Google Shape;137;h6614320cb80fea18_0_5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8050" y="3283550"/>
            <a:ext cx="2896050" cy="282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h6614320cb80fea18_0_582"/>
          <p:cNvPicPr preferRelativeResize="0"/>
          <p:nvPr/>
        </p:nvPicPr>
        <p:blipFill rotWithShape="1">
          <a:blip r:embed="rId5">
            <a:alphaModFix/>
          </a:blip>
          <a:srcRect b="4073" l="13023" r="24368" t="9264"/>
          <a:stretch/>
        </p:blipFill>
        <p:spPr>
          <a:xfrm>
            <a:off x="980925" y="3356275"/>
            <a:ext cx="2896050" cy="267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h6614320cb80fea18_0_582"/>
          <p:cNvPicPr preferRelativeResize="0"/>
          <p:nvPr/>
        </p:nvPicPr>
        <p:blipFill rotWithShape="1">
          <a:blip r:embed="rId6">
            <a:alphaModFix/>
          </a:blip>
          <a:srcRect b="24024" l="0" r="0" t="0"/>
          <a:stretch/>
        </p:blipFill>
        <p:spPr>
          <a:xfrm>
            <a:off x="8315175" y="3319913"/>
            <a:ext cx="2896050" cy="274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4" name="Google Shape;14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146" name="Google Shape;146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147" name="Google Shape;14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h6614320cb80fea18_0_932"/>
          <p:cNvGrpSpPr/>
          <p:nvPr/>
        </p:nvGrpSpPr>
        <p:grpSpPr>
          <a:xfrm>
            <a:off x="762000" y="1619250"/>
            <a:ext cx="10668000" cy="1428900"/>
            <a:chOff x="762000" y="4857750"/>
            <a:chExt cx="10668000" cy="1428900"/>
          </a:xfrm>
        </p:grpSpPr>
        <p:grpSp>
          <p:nvGrpSpPr>
            <p:cNvPr id="153" name="Google Shape;153;h6614320cb80fea18_0_932"/>
            <p:cNvGrpSpPr/>
            <p:nvPr/>
          </p:nvGrpSpPr>
          <p:grpSpPr>
            <a:xfrm>
              <a:off x="762000" y="4857750"/>
              <a:ext cx="10668000" cy="1428900"/>
              <a:chOff x="762000" y="4857750"/>
              <a:chExt cx="10668000" cy="1428900"/>
            </a:xfrm>
          </p:grpSpPr>
          <p:sp>
            <p:nvSpPr>
              <p:cNvPr id="154" name="Google Shape;154;h6614320cb80fea18_0_932"/>
              <p:cNvSpPr/>
              <p:nvPr/>
            </p:nvSpPr>
            <p:spPr>
              <a:xfrm>
                <a:off x="762000" y="4857750"/>
                <a:ext cx="10668000" cy="1428900"/>
              </a:xfrm>
              <a:prstGeom prst="roundRect">
                <a:avLst>
                  <a:gd fmla="val 10666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h6614320cb80fea18_0_932"/>
              <p:cNvSpPr/>
              <p:nvPr/>
            </p:nvSpPr>
            <p:spPr>
              <a:xfrm>
                <a:off x="762000" y="4857750"/>
                <a:ext cx="76200" cy="1428900"/>
              </a:xfrm>
              <a:prstGeom prst="roundRect">
                <a:avLst>
                  <a:gd fmla="val 50000" name="adj"/>
                </a:avLst>
              </a:prstGeom>
              <a:solidFill>
                <a:srgbClr val="05966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h6614320cb80fea18_0_932"/>
              <p:cNvSpPr txBox="1"/>
              <p:nvPr/>
            </p:nvSpPr>
            <p:spPr>
              <a:xfrm>
                <a:off x="2218650" y="5000700"/>
                <a:ext cx="3867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3400">
                    <a:solidFill>
                      <a:srgbClr val="0F172A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Liga Profesional</a:t>
                </a:r>
                <a:endParaRPr b="1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7" name="Google Shape;157;h6614320cb80fea18_0_932"/>
              <p:cNvSpPr txBox="1"/>
              <p:nvPr/>
            </p:nvSpPr>
            <p:spPr>
              <a:xfrm>
                <a:off x="6353475" y="5000700"/>
                <a:ext cx="45021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400"/>
                  </a:spcAft>
                  <a:buNone/>
                </a:pPr>
                <a:r>
                  <a:rPr lang="en-US" sz="3000">
                    <a:solidFill>
                      <a:srgbClr val="334155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• Instituciones de élite</a:t>
                </a:r>
                <a:endParaRPr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58" name="Google Shape;158;h6614320cb80fea18_0_932"/>
            <p:cNvSpPr txBox="1"/>
            <p:nvPr/>
          </p:nvSpPr>
          <p:spPr>
            <a:xfrm>
              <a:off x="998225" y="5000700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</a:t>
              </a:r>
              <a:r>
                <a:rPr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</a:t>
              </a: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 </a:t>
              </a:r>
              <a:r>
                <a:rPr b="1" lang="en-US" sz="2000">
                  <a:solidFill>
                    <a:srgbClr val="0596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5966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</p:grpSp>
      <p:grpSp>
        <p:nvGrpSpPr>
          <p:cNvPr id="159" name="Google Shape;159;h6614320cb80fea18_0_932"/>
          <p:cNvGrpSpPr/>
          <p:nvPr/>
        </p:nvGrpSpPr>
        <p:grpSpPr>
          <a:xfrm>
            <a:off x="762000" y="4857750"/>
            <a:ext cx="10668000" cy="1428900"/>
            <a:chOff x="0" y="0"/>
            <a:chExt cx="10668000" cy="1428900"/>
          </a:xfrm>
        </p:grpSpPr>
        <p:sp>
          <p:nvSpPr>
            <p:cNvPr id="160" name="Google Shape;160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87 </a:t>
              </a:r>
              <a:r>
                <a:rPr b="1" lang="en-US" sz="2000">
                  <a:solidFill>
                    <a:srgbClr val="0284C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63" name="Google Shape;163;h6614320cb80fea18_0_932"/>
            <p:cNvSpPr txBox="1"/>
            <p:nvPr/>
          </p:nvSpPr>
          <p:spPr>
            <a:xfrm>
              <a:off x="1411050" y="142875"/>
              <a:ext cx="44172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Ascenso e Interior</a:t>
              </a:r>
              <a:endParaRPr b="1" sz="3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4" name="Google Shape;164;h6614320cb80fea18_0_932"/>
            <p:cNvSpPr txBox="1"/>
            <p:nvPr/>
          </p:nvSpPr>
          <p:spPr>
            <a:xfrm>
              <a:off x="5616150" y="142875"/>
              <a:ext cx="4613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Oportunidad clave de </a:t>
              </a:r>
              <a:b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masificación </a:t>
              </a:r>
              <a:endParaRPr sz="3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5" name="Google Shape;165;h6614320cb80fea18_0_932"/>
          <p:cNvSpPr txBox="1"/>
          <p:nvPr/>
        </p:nvSpPr>
        <p:spPr>
          <a:xfrm>
            <a:off x="762000" y="428625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7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 universo desatendido</a:t>
            </a:r>
            <a:endParaRPr b="0" sz="357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53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Más de 2 millones de socios en 153 instituciones deportivas</a:t>
            </a:r>
            <a:endParaRPr b="1" sz="253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66" name="Google Shape;166;h6614320cb80fea18_0_932"/>
          <p:cNvGrpSpPr/>
          <p:nvPr/>
        </p:nvGrpSpPr>
        <p:grpSpPr>
          <a:xfrm>
            <a:off x="762000" y="3238500"/>
            <a:ext cx="10668000" cy="1428900"/>
            <a:chOff x="762000" y="3238500"/>
            <a:chExt cx="10668000" cy="1428900"/>
          </a:xfrm>
        </p:grpSpPr>
        <p:sp>
          <p:nvSpPr>
            <p:cNvPr id="167" name="Google Shape;167;h6614320cb80fea18_0_932"/>
            <p:cNvSpPr/>
            <p:nvPr/>
          </p:nvSpPr>
          <p:spPr>
            <a:xfrm>
              <a:off x="762000" y="323850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h6614320cb80fea18_0_932"/>
            <p:cNvSpPr/>
            <p:nvPr/>
          </p:nvSpPr>
          <p:spPr>
            <a:xfrm>
              <a:off x="762000" y="323850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D9770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h6614320cb80fea18_0_932"/>
            <p:cNvSpPr txBox="1"/>
            <p:nvPr/>
          </p:nvSpPr>
          <p:spPr>
            <a:xfrm>
              <a:off x="1047750" y="33813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36 </a:t>
              </a:r>
              <a:r>
                <a:rPr b="1" lang="en-US" sz="2000">
                  <a:solidFill>
                    <a:srgbClr val="D97706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70" name="Google Shape;170;h6614320cb80fea18_0_932"/>
            <p:cNvSpPr txBox="1"/>
            <p:nvPr/>
          </p:nvSpPr>
          <p:spPr>
            <a:xfrm>
              <a:off x="2173050" y="3381450"/>
              <a:ext cx="43926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Primera Nacional</a:t>
              </a:r>
              <a:endParaRPr b="1" sz="3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71" name="Google Shape;171;h6614320cb80fea18_0_932"/>
            <p:cNvSpPr txBox="1"/>
            <p:nvPr/>
          </p:nvSpPr>
          <p:spPr>
            <a:xfrm>
              <a:off x="6365825" y="3381450"/>
              <a:ext cx="49707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Puente estratégico hacia</a:t>
              </a:r>
              <a:b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la máxima categoría</a:t>
              </a:r>
              <a:endParaRPr sz="3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72" name="Google Shape;172;h6614320cb80fea18_0_9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h5dcf4a5e61b7b943_0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h5dcf4a5e61b7b943_0_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186" name="Google Shape;186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7" name="Google Shape;187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88" name="Google Shape;18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h6614320cb80fea18_0_98"/>
          <p:cNvSpPr/>
          <p:nvPr/>
        </p:nvSpPr>
        <p:spPr>
          <a:xfrm>
            <a:off x="6096000" y="42862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h6614320cb80fea18_0_98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95" name="Google Shape;195;h6614320cb80fea18_0_98"/>
          <p:cNvGrpSpPr/>
          <p:nvPr/>
        </p:nvGrpSpPr>
        <p:grpSpPr>
          <a:xfrm>
            <a:off x="762000" y="1666875"/>
            <a:ext cx="4953000" cy="4572000"/>
            <a:chOff x="0" y="0"/>
            <a:chExt cx="4953000" cy="4572000"/>
          </a:xfrm>
        </p:grpSpPr>
        <p:sp>
          <p:nvSpPr>
            <p:cNvPr id="196" name="Google Shape;196;h6614320cb80fea18_0_98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h6614320cb80fea18_0_98"/>
            <p:cNvSpPr txBox="1"/>
            <p:nvPr/>
          </p:nvSpPr>
          <p:spPr>
            <a:xfrm>
              <a:off x="381000" y="3048000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</a:t>
              </a:r>
              <a:endParaRPr b="0" sz="38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198" name="Google Shape;198;h6614320cb80fea18_0_98"/>
          <p:cNvSpPr/>
          <p:nvPr/>
        </p:nvSpPr>
        <p:spPr>
          <a:xfrm>
            <a:off x="6096000" y="21907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h6614320cb80fea18_0_98"/>
          <p:cNvSpPr txBox="1"/>
          <p:nvPr/>
        </p:nvSpPr>
        <p:spPr>
          <a:xfrm>
            <a:off x="6096000" y="1666875"/>
            <a:ext cx="53340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Resultado:</a:t>
            </a:r>
            <a:endParaRPr b="0" sz="33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00" name="Google Shape;200;h6614320cb80fea18_0_98"/>
          <p:cNvSpPr/>
          <p:nvPr/>
        </p:nvSpPr>
        <p:spPr>
          <a:xfrm>
            <a:off x="6096000" y="2190750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h6614320cb80fea18_0_98"/>
          <p:cNvSpPr/>
          <p:nvPr/>
        </p:nvSpPr>
        <p:spPr>
          <a:xfrm>
            <a:off x="6502450" y="2587650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h6614320cb80fea18_0_98"/>
          <p:cNvSpPr txBox="1"/>
          <p:nvPr/>
        </p:nvSpPr>
        <p:spPr>
          <a:xfrm>
            <a:off x="6486525" y="25812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203" name="Google Shape;203;h6614320cb80fea18_0_98"/>
          <p:cNvSpPr txBox="1"/>
          <p:nvPr/>
        </p:nvSpPr>
        <p:spPr>
          <a:xfrm>
            <a:off x="7408551" y="2477100"/>
            <a:ext cx="38295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</a:t>
            </a: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untos de dolor institucionales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4" name="Google Shape;204;h6614320cb80fea18_0_98"/>
          <p:cNvSpPr/>
          <p:nvPr/>
        </p:nvSpPr>
        <p:spPr>
          <a:xfrm>
            <a:off x="6096000" y="4286250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h6614320cb80fea18_0_98"/>
          <p:cNvSpPr txBox="1"/>
          <p:nvPr/>
        </p:nvSpPr>
        <p:spPr>
          <a:xfrm>
            <a:off x="6486525" y="46767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206" name="Google Shape;206;h6614320cb80fea18_0_98"/>
          <p:cNvSpPr txBox="1"/>
          <p:nvPr/>
        </p:nvSpPr>
        <p:spPr>
          <a:xfrm>
            <a:off x="7408550" y="4429800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</a:t>
            </a: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UX / UI para minimizar la curva de aprendizaje</a:t>
            </a:r>
            <a:endParaRPr sz="28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7" name="Google Shape;207;h6614320cb80fea18_0_98"/>
          <p:cNvSpPr/>
          <p:nvPr/>
        </p:nvSpPr>
        <p:spPr>
          <a:xfrm>
            <a:off x="6502450" y="4683150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8" name="Google Shape;208;h6614320cb80fea18_0_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4750" y="1830625"/>
            <a:ext cx="2366075" cy="28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h6614320cb80fea18_0_98"/>
          <p:cNvPicPr preferRelativeResize="0"/>
          <p:nvPr/>
        </p:nvPicPr>
        <p:blipFill rotWithShape="1">
          <a:blip r:embed="rId5">
            <a:alphaModFix/>
          </a:blip>
          <a:srcRect b="6535" l="0" r="0" t="6334"/>
          <a:stretch/>
        </p:blipFill>
        <p:spPr>
          <a:xfrm>
            <a:off x="3472475" y="1926750"/>
            <a:ext cx="2139074" cy="2627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h31d256953cabf977_1_1"/>
          <p:cNvSpPr/>
          <p:nvPr/>
        </p:nvSpPr>
        <p:spPr>
          <a:xfrm>
            <a:off x="6026150" y="0"/>
            <a:ext cx="61659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h31d256953cabf977_1_1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025" y="2392200"/>
            <a:ext cx="5600159" cy="322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h31d256953cabf977_1_1" title="Macbook-Air-web.sociounido.com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3400" y="2342947"/>
            <a:ext cx="5771402" cy="3319704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h31d256953cabf977_1_1"/>
          <p:cNvSpPr txBox="1"/>
          <p:nvPr/>
        </p:nvSpPr>
        <p:spPr>
          <a:xfrm>
            <a:off x="571500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 INTERFACES 				</a:t>
            </a:r>
            <a:r>
              <a:rPr lang="en-US" sz="48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8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18" name="Google Shape;218;h31d256953cabf977_1_1"/>
          <p:cNvSpPr txBox="1"/>
          <p:nvPr/>
        </p:nvSpPr>
        <p:spPr>
          <a:xfrm>
            <a:off x="132400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CLARO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19" name="Google Shape;219;h31d256953cabf977_1_1"/>
          <p:cNvSpPr txBox="1"/>
          <p:nvPr/>
        </p:nvSpPr>
        <p:spPr>
          <a:xfrm>
            <a:off x="6288175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OSCURO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h105005292c05e9d_1_20"/>
          <p:cNvSpPr/>
          <p:nvPr/>
        </p:nvSpPr>
        <p:spPr>
          <a:xfrm>
            <a:off x="0" y="0"/>
            <a:ext cx="4065300" cy="68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h105005292c05e9d_1_20"/>
          <p:cNvSpPr/>
          <p:nvPr/>
        </p:nvSpPr>
        <p:spPr>
          <a:xfrm>
            <a:off x="8130700" y="0"/>
            <a:ext cx="40653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h105005292c05e9d_1_20"/>
          <p:cNvSpPr/>
          <p:nvPr/>
        </p:nvSpPr>
        <p:spPr>
          <a:xfrm>
            <a:off x="4065400" y="0"/>
            <a:ext cx="4089000" cy="6858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h105005292c05e9d_1_20" title="iPhone-14-PRO-app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5940" y="1457725"/>
            <a:ext cx="2155476" cy="4392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525" y="2197419"/>
            <a:ext cx="2020312" cy="439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3971" y="2237793"/>
            <a:ext cx="2085412" cy="453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7704" l="95661" r="0" t="0"/>
          <a:stretch/>
        </p:blipFill>
        <p:spPr>
          <a:xfrm>
            <a:off x="11118905" y="2237794"/>
            <a:ext cx="90478" cy="10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8016" l="0" r="0" t="0"/>
          <a:stretch/>
        </p:blipFill>
        <p:spPr>
          <a:xfrm>
            <a:off x="9123970" y="2244860"/>
            <a:ext cx="2085413" cy="8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2229"/>
          <a:stretch/>
        </p:blipFill>
        <p:spPr>
          <a:xfrm rot="10800000">
            <a:off x="11109999" y="2197424"/>
            <a:ext cx="88851" cy="446177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h105005292c05e9d_1_20"/>
          <p:cNvSpPr txBox="1"/>
          <p:nvPr/>
        </p:nvSpPr>
        <p:spPr>
          <a:xfrm>
            <a:off x="1673225" y="551975"/>
            <a:ext cx="8382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en-US" sz="4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4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4" name="Google Shape;234;h105005292c05e9d_1_20"/>
          <p:cNvSpPr txBox="1"/>
          <p:nvPr/>
        </p:nvSpPr>
        <p:spPr>
          <a:xfrm>
            <a:off x="406335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INTERFACES</a:t>
            </a:r>
            <a:endParaRPr b="0" i="0" sz="40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5" name="Google Shape;235;h105005292c05e9d_1_20"/>
          <p:cNvSpPr txBox="1"/>
          <p:nvPr/>
        </p:nvSpPr>
        <p:spPr>
          <a:xfrm>
            <a:off x="813070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0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6" name="Google Shape;236;h105005292c05e9d_1_20"/>
          <p:cNvSpPr txBox="1"/>
          <p:nvPr/>
        </p:nvSpPr>
        <p:spPr>
          <a:xfrm>
            <a:off x="9552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CONTROL DE ACCESO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7" name="Google Shape;237;h105005292c05e9d_1_20"/>
          <p:cNvSpPr txBox="1"/>
          <p:nvPr/>
        </p:nvSpPr>
        <p:spPr>
          <a:xfrm>
            <a:off x="4019938" y="6167275"/>
            <a:ext cx="4179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APLICACIÓN DE SOCIOS</a:t>
            </a:r>
            <a:endParaRPr b="0" i="0" sz="22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8" name="Google Shape;238;h105005292c05e9d_1_20"/>
          <p:cNvSpPr txBox="1"/>
          <p:nvPr/>
        </p:nvSpPr>
        <p:spPr>
          <a:xfrm>
            <a:off x="816987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BOTIN (TELEGRAM)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39" name="Google Shape;239;h105005292c05e9d_1_20" title="Screenshot_20260924-220234.png"/>
          <p:cNvPicPr preferRelativeResize="0"/>
          <p:nvPr/>
        </p:nvPicPr>
        <p:blipFill rotWithShape="1">
          <a:blip r:embed="rId5">
            <a:alphaModFix/>
          </a:blip>
          <a:srcRect b="1784" l="0" r="0" t="6742"/>
          <a:stretch/>
        </p:blipFill>
        <p:spPr>
          <a:xfrm>
            <a:off x="9162825" y="2335075"/>
            <a:ext cx="1966650" cy="4270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0"/>
          <a:stretch/>
        </p:blipFill>
        <p:spPr>
          <a:xfrm>
            <a:off x="9124450" y="2237800"/>
            <a:ext cx="79524" cy="451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5" name="Google Shape;24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56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1"/>
          <p:cNvSpPr txBox="1"/>
          <p:nvPr/>
        </p:nvSpPr>
        <p:spPr>
          <a:xfrm>
            <a:off x="501450" y="427949"/>
            <a:ext cx="5238900" cy="5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2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"A team is a business at the end of the day, and the organizations must continue evolving digitally to remain competitive, both on the field and off." </a:t>
            </a:r>
            <a:endParaRPr sz="800"/>
          </a:p>
        </p:txBody>
      </p:sp>
      <p:sp>
        <p:nvSpPr>
          <p:cNvPr id="247" name="Google Shape;247;p11"/>
          <p:cNvSpPr txBox="1"/>
          <p:nvPr/>
        </p:nvSpPr>
        <p:spPr>
          <a:xfrm>
            <a:off x="571500" y="6299350"/>
            <a:ext cx="61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DREW CRISP (LIVERPOOL FC)</a:t>
            </a:r>
            <a:endParaRPr/>
          </a:p>
        </p:txBody>
      </p:sp>
      <p:pic>
        <p:nvPicPr>
          <p:cNvPr id="248" name="Google Shape;24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476" y="-131438"/>
            <a:ext cx="5528350" cy="62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254" name="Google Shape;254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255" name="Google Shape;255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8" name="Google Shape;258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59" name="Google Shape;259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0" name="Google Shape;260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261" name="Google Shape;261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64" name="Google Shape;264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5" name="Google Shape;265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6" name="Google Shape;266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267" name="Google Shape;267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" name="Google Shape;269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70" name="Google Shape;270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71" name="Google Shape;271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72" name="Google Shape;272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273" name="Google Shape;273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" name="Google Shape;274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76" name="Google Shape;276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77" name="Google Shape;277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78" name="Google Shape;278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3" name="Google Shape;28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075" y="0"/>
            <a:ext cx="12192000" cy="691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3"/>
          <p:cNvSpPr txBox="1"/>
          <p:nvPr/>
        </p:nvSpPr>
        <p:spPr>
          <a:xfrm>
            <a:off x="4312225" y="0"/>
            <a:ext cx="3605700" cy="5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800" u="none" cap="none" strike="noStrike">
                <a:solidFill>
                  <a:srgbClr val="166534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Arquitectura</a:t>
            </a:r>
            <a:endParaRPr b="0" i="0" sz="3800" u="none" cap="none" strike="noStrike">
              <a:solidFill>
                <a:srgbClr val="166534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91" name="Google Shape;291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292" name="Google Shape;292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5" name="Google Shape;295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96" name="Google Shape;296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297" name="Google Shape;297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0" name="Google Shape;300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1" name="Google Shape;301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302" name="Google Shape;302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5" name="Google Shape;305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6" name="Google Shape;306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307" name="Google Shape;307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0" name="Google Shape;310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16" name="Google Shape;316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317" name="Google Shape;317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0" name="Google Shape;320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1" name="Google Shape;321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322" name="Google Shape;322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5" name="Google Shape;325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cromática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6" name="Google Shape;326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327" name="Google Shape;327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0" name="Google Shape;330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Claridad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inanciera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337" name="Google Shape;337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8" name="Google Shape;338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39" name="Google Shape;339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sz="3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26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3" name="Google Shape;343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4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26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344" name="Google Shape;344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345" name="Google Shape;345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6" name="Google Shape;346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7" name="Google Shape;347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54" name="Google Shape;354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355" name="Google Shape;355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8" name="Google Shape;358;p17"/>
            <p:cNvSpPr txBox="1"/>
            <p:nvPr/>
          </p:nvSpPr>
          <p:spPr>
            <a:xfrm>
              <a:off x="93300" y="1107600"/>
              <a:ext cx="3242400" cy="125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40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59" name="Google Shape;359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0" name="Google Shape;360;p17"/>
            <p:cNvSpPr txBox="1"/>
            <p:nvPr/>
          </p:nvSpPr>
          <p:spPr>
            <a:xfrm>
              <a:off x="93300" y="2456850"/>
              <a:ext cx="3242400" cy="176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+ tarifa variable por transacción</a:t>
              </a:r>
              <a:endParaRPr sz="32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361" name="Google Shape;361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362" name="Google Shape;362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65" name="Google Shape;365;p17"/>
            <p:cNvSpPr txBox="1"/>
            <p:nvPr/>
          </p:nvSpPr>
          <p:spPr>
            <a:xfrm>
              <a:off x="49350" y="1135650"/>
              <a:ext cx="3330300" cy="119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66" name="Google Shape;366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7" name="Google Shape;367;p17"/>
            <p:cNvSpPr txBox="1"/>
            <p:nvPr/>
          </p:nvSpPr>
          <p:spPr>
            <a:xfrm>
              <a:off x="228600" y="2508875"/>
              <a:ext cx="2971800" cy="166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368" name="Google Shape;368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370" name="Google Shape;370;p17"/>
          <p:cNvSpPr txBox="1"/>
          <p:nvPr/>
        </p:nvSpPr>
        <p:spPr>
          <a:xfrm>
            <a:off x="856275" y="2786988"/>
            <a:ext cx="2819400" cy="6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4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1" name="Google Shape;371;p17"/>
          <p:cNvSpPr txBox="1"/>
          <p:nvPr/>
        </p:nvSpPr>
        <p:spPr>
          <a:xfrm>
            <a:off x="876300" y="3543300"/>
            <a:ext cx="2819400" cy="11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endParaRPr sz="30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372" name="Google Shape;372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73" name="Google Shape;373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374" name="Google Shape;374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375" name="Google Shape;375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81" name="Google Shape;381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(10 Clubes)</a:t>
            </a:r>
            <a:endParaRPr b="1" sz="42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$48k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85" name="Google Shape;385;h6614320cb80fea18_0_3040"/>
          <p:cNvGrpSpPr/>
          <p:nvPr/>
        </p:nvGrpSpPr>
        <p:grpSpPr>
          <a:xfrm>
            <a:off x="5957559" y="2848598"/>
            <a:ext cx="5699841" cy="1922811"/>
            <a:chOff x="5924559" y="2848598"/>
            <a:chExt cx="5699841" cy="1922811"/>
          </a:xfrm>
        </p:grpSpPr>
        <p:grpSp>
          <p:nvGrpSpPr>
            <p:cNvPr id="386" name="Google Shape;386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387" name="Google Shape;387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8" name="Google Shape;388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89" name="Google Shape;389;h6614320cb80fea18_0_3040"/>
            <p:cNvSpPr txBox="1"/>
            <p:nvPr/>
          </p:nvSpPr>
          <p:spPr>
            <a:xfrm>
              <a:off x="7899900" y="3128100"/>
              <a:ext cx="37245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33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90" name="Google Shape;390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96" name="Google Shape;396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98" name="Google Shape;398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4" name="Google Shape;404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05" name="Google Shape;405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h6594a2e70c4c9f3_22_113"/>
          <p:cNvSpPr txBox="1"/>
          <p:nvPr/>
        </p:nvSpPr>
        <p:spPr>
          <a:xfrm>
            <a:off x="373425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07" name="Google Shape;407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h6594a2e70c4c9f3_22_113"/>
          <p:cNvSpPr txBox="1"/>
          <p:nvPr/>
        </p:nvSpPr>
        <p:spPr>
          <a:xfrm>
            <a:off x="2785050" y="2678275"/>
            <a:ext cx="4905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12" name="Google Shape;412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h6594a2e70c4c9f3_22_113"/>
          <p:cNvSpPr txBox="1"/>
          <p:nvPr/>
        </p:nvSpPr>
        <p:spPr>
          <a:xfrm>
            <a:off x="2785049" y="39024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h6594a2e70c4c9f3_22_113"/>
          <p:cNvSpPr txBox="1"/>
          <p:nvPr/>
        </p:nvSpPr>
        <p:spPr>
          <a:xfrm>
            <a:off x="5196676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17" name="Google Shape;417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8" name="Google Shape;418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h6594a2e70c4c9f3_22_113"/>
          <p:cNvSpPr txBox="1"/>
          <p:nvPr/>
        </p:nvSpPr>
        <p:spPr>
          <a:xfrm>
            <a:off x="7608300" y="2678275"/>
            <a:ext cx="681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21" name="Google Shape;421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Expansión</a:t>
            </a: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 financiera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3" name="Google Shape;423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24" name="Google Shape;424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h6594a2e70c4c9f3_22_113"/>
          <p:cNvSpPr txBox="1"/>
          <p:nvPr/>
        </p:nvSpPr>
        <p:spPr>
          <a:xfrm>
            <a:off x="10019927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26" name="Google Shape;426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h6594a2e70c4c9f3_22_113"/>
          <p:cNvSpPr txBox="1"/>
          <p:nvPr/>
        </p:nvSpPr>
        <p:spPr>
          <a:xfrm>
            <a:off x="9983400" y="3945325"/>
            <a:ext cx="18717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428" name="Google Shape;428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3" name="Google Shape;4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435" name="Google Shape;435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Google Shape;44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