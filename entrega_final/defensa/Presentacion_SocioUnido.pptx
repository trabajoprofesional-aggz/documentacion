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embeddedFontLst>
    <p:embeddedFont>
      <p:font typeface="Montserrat SemiBold"/>
      <p:regular r:id="rId30"/>
      <p:bold r:id="rId31"/>
      <p:italic r:id="rId32"/>
      <p:boldItalic r:id="rId33"/>
    </p:embeddedFont>
    <p:embeddedFont>
      <p:font typeface="Inter SemiBold"/>
      <p:regular r:id="rId34"/>
      <p:bold r:id="rId35"/>
      <p:italic r:id="rId36"/>
      <p:boldItalic r:id="rId37"/>
    </p:embeddedFont>
    <p:embeddedFont>
      <p:font typeface="Montserrat"/>
      <p:regular r:id="rId38"/>
      <p:bold r:id="rId39"/>
      <p:italic r:id="rId40"/>
      <p:boldItalic r:id="rId41"/>
    </p:embeddedFont>
    <p:embeddedFont>
      <p:font typeface="Inter"/>
      <p:regular r:id="rId42"/>
      <p:bold r:id="rId43"/>
      <p:italic r:id="rId44"/>
      <p:boldItalic r:id="rId45"/>
    </p:embeddedFont>
    <p:embeddedFont>
      <p:font typeface="Montserrat Medium"/>
      <p:regular r:id="rId46"/>
      <p:bold r:id="rId47"/>
      <p:italic r:id="rId48"/>
      <p:boldItalic r:id="rId49"/>
    </p:embeddedFont>
    <p:embeddedFont>
      <p:font typeface="Montserrat ExtraBold"/>
      <p:bold r:id="rId50"/>
      <p:boldItalic r:id="rId51"/>
    </p:embeddedFont>
    <p:embeddedFont>
      <p:font typeface="Inter Medium"/>
      <p:regular r:id="rId52"/>
      <p:bold r:id="rId53"/>
      <p:italic r:id="rId54"/>
      <p:boldItalic r:id="rId5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561">
          <p15:clr>
            <a:srgbClr val="A4A3A4"/>
          </p15:clr>
        </p15:guide>
        <p15:guide id="3" pos="5120">
          <p15:clr>
            <a:srgbClr val="747775"/>
          </p15:clr>
        </p15:guide>
        <p15:guide id="4" pos="7680">
          <p15:clr>
            <a:srgbClr val="747775"/>
          </p15:clr>
        </p15:guide>
        <p15:guide id="5">
          <p15:clr>
            <a:srgbClr val="747775"/>
          </p15:clr>
        </p15:guide>
      </p15:sldGuideLst>
    </p:ext>
    <p:ext uri="GoogleSlidesCustomDataVersion2">
      <go:slidesCustomData xmlns:go="http://customooxmlschemas.google.com/" r:id="rId56" roundtripDataSignature="AMtx7mih0ORxRMPTh7GDE9rVBf0fPECz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561"/>
        <p:guide pos="5120"/>
        <p:guide pos="7680"/>
        <p:guide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-italic.fntdata"/><Relationship Id="rId42" Type="http://schemas.openxmlformats.org/officeDocument/2006/relationships/font" Target="fonts/Inter-regular.fntdata"/><Relationship Id="rId41" Type="http://schemas.openxmlformats.org/officeDocument/2006/relationships/font" Target="fonts/Montserrat-boldItalic.fntdata"/><Relationship Id="rId44" Type="http://schemas.openxmlformats.org/officeDocument/2006/relationships/font" Target="fonts/Inter-italic.fntdata"/><Relationship Id="rId43" Type="http://schemas.openxmlformats.org/officeDocument/2006/relationships/font" Target="fonts/Inter-bold.fntdata"/><Relationship Id="rId46" Type="http://schemas.openxmlformats.org/officeDocument/2006/relationships/font" Target="fonts/MontserratMedium-regular.fntdata"/><Relationship Id="rId45" Type="http://schemas.openxmlformats.org/officeDocument/2006/relationships/font" Target="fonts/Inter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MontserratMedium-italic.fntdata"/><Relationship Id="rId47" Type="http://schemas.openxmlformats.org/officeDocument/2006/relationships/font" Target="fonts/MontserratMedium-bold.fntdata"/><Relationship Id="rId49" Type="http://schemas.openxmlformats.org/officeDocument/2006/relationships/font" Target="fonts/MontserratMedium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SemiBold-bold.fntdata"/><Relationship Id="rId30" Type="http://schemas.openxmlformats.org/officeDocument/2006/relationships/font" Target="fonts/MontserratSemiBold-regular.fntdata"/><Relationship Id="rId33" Type="http://schemas.openxmlformats.org/officeDocument/2006/relationships/font" Target="fonts/MontserratSemiBold-boldItalic.fntdata"/><Relationship Id="rId32" Type="http://schemas.openxmlformats.org/officeDocument/2006/relationships/font" Target="fonts/MontserratSemiBold-italic.fntdata"/><Relationship Id="rId35" Type="http://schemas.openxmlformats.org/officeDocument/2006/relationships/font" Target="fonts/InterSemiBold-bold.fntdata"/><Relationship Id="rId34" Type="http://schemas.openxmlformats.org/officeDocument/2006/relationships/font" Target="fonts/InterSemiBold-regular.fntdata"/><Relationship Id="rId37" Type="http://schemas.openxmlformats.org/officeDocument/2006/relationships/font" Target="fonts/InterSemiBold-boldItalic.fntdata"/><Relationship Id="rId36" Type="http://schemas.openxmlformats.org/officeDocument/2006/relationships/font" Target="fonts/InterSemiBold-italic.fntdata"/><Relationship Id="rId39" Type="http://schemas.openxmlformats.org/officeDocument/2006/relationships/font" Target="fonts/Montserrat-bold.fntdata"/><Relationship Id="rId38" Type="http://schemas.openxmlformats.org/officeDocument/2006/relationships/font" Target="fonts/Montserrat-regular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MontserratExtraBold-boldItalic.fntdata"/><Relationship Id="rId50" Type="http://schemas.openxmlformats.org/officeDocument/2006/relationships/font" Target="fonts/MontserratExtraBold-bold.fntdata"/><Relationship Id="rId53" Type="http://schemas.openxmlformats.org/officeDocument/2006/relationships/font" Target="fonts/InterMedium-bold.fntdata"/><Relationship Id="rId52" Type="http://schemas.openxmlformats.org/officeDocument/2006/relationships/font" Target="fonts/InterMedium-regular.fntdata"/><Relationship Id="rId11" Type="http://schemas.openxmlformats.org/officeDocument/2006/relationships/slide" Target="slides/slide6.xml"/><Relationship Id="rId55" Type="http://schemas.openxmlformats.org/officeDocument/2006/relationships/font" Target="fonts/InterMedium-boldItalic.fntdata"/><Relationship Id="rId10" Type="http://schemas.openxmlformats.org/officeDocument/2006/relationships/slide" Target="slides/slide5.xml"/><Relationship Id="rId54" Type="http://schemas.openxmlformats.org/officeDocument/2006/relationships/font" Target="fonts/InterMedium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56" Type="http://customschemas.google.com/relationships/presentationmetadata" Target="meta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6614320cb80fea18_0_5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h6614320cb80fea18_0_5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h6614320cb80fea18_0_9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h6614320cb80fea18_0_9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6614320cb80fea18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h6614320cb80fea18_0_9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h31d256953cabf977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h31d256953cabf977_1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h105005292c05e9d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h105005292c05e9d_1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h6614320cb80fea18_0_2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h6614320cb80fea18_0_20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h6614320cb80fea18_0_2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h6614320cb80fea18_0_24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h6614320cb80fea18_0_3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h6614320cb80fea18_0_30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h6594a2e70c4c9f3_22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h6594a2e70c4c9f3_22_1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8.png"/><Relationship Id="rId4" Type="http://schemas.openxmlformats.org/officeDocument/2006/relationships/image" Target="../media/image7.png"/><Relationship Id="rId9" Type="http://schemas.openxmlformats.org/officeDocument/2006/relationships/image" Target="../media/image10.jp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11.png"/><Relationship Id="rId8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image" Target="../media/image3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2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2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8.png"/><Relationship Id="rId4" Type="http://schemas.openxmlformats.org/officeDocument/2006/relationships/image" Target="../media/image1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3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6.png"/><Relationship Id="rId6" Type="http://schemas.openxmlformats.org/officeDocument/2006/relationships/image" Target="../media/image33.png"/><Relationship Id="rId7" Type="http://schemas.openxmlformats.org/officeDocument/2006/relationships/image" Target="../media/image3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78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/>
        </p:nvSpPr>
        <p:spPr>
          <a:xfrm>
            <a:off x="138900" y="2857500"/>
            <a:ext cx="117579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¿</a:t>
            </a:r>
            <a:r>
              <a:rPr b="1" lang="en-US" sz="6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 QUÉ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</a:t>
            </a:r>
            <a:r>
              <a:rPr b="1" lang="en-US" sz="7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/>
          </a:p>
        </p:txBody>
      </p:sp>
      <p:pic>
        <p:nvPicPr>
          <p:cNvPr id="90" name="Google Shape;90;p2" title="Gemini_Generated_Image_ys9g3ys9g3ys9g3y-removebg-preview.png"/>
          <p:cNvPicPr preferRelativeResize="0"/>
          <p:nvPr/>
        </p:nvPicPr>
        <p:blipFill rotWithShape="1">
          <a:blip r:embed="rId3">
            <a:alphaModFix/>
          </a:blip>
          <a:srcRect b="28660" l="0" r="0" t="26565"/>
          <a:stretch/>
        </p:blipFill>
        <p:spPr>
          <a:xfrm>
            <a:off x="5197650" y="3053461"/>
            <a:ext cx="5709299" cy="8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08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4843" y="2261145"/>
            <a:ext cx="2381250" cy="23812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/>
          <p:cNvSpPr txBox="1"/>
          <p:nvPr/>
        </p:nvSpPr>
        <p:spPr>
          <a:xfrm>
            <a:off x="295275" y="571500"/>
            <a:ext cx="11601450" cy="565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equipo</a:t>
            </a:r>
            <a:endParaRPr b="0" i="0" sz="4800" u="none" cap="none" strike="noStrike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98" name="Google Shape;98;p3"/>
          <p:cNvSpPr txBox="1"/>
          <p:nvPr/>
        </p:nvSpPr>
        <p:spPr>
          <a:xfrm>
            <a:off x="507801" y="4373396"/>
            <a:ext cx="2675334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Felipe Ascencio</a:t>
            </a:r>
            <a:endParaRPr/>
          </a:p>
        </p:txBody>
      </p:sp>
      <p:sp>
        <p:nvSpPr>
          <p:cNvPr id="99" name="Google Shape;99;p3"/>
          <p:cNvSpPr txBox="1"/>
          <p:nvPr/>
        </p:nvSpPr>
        <p:spPr>
          <a:xfrm>
            <a:off x="571500" y="5554873"/>
            <a:ext cx="2547937" cy="234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PREVENTA &amp; QA</a:t>
            </a:r>
            <a:endParaRPr/>
          </a:p>
        </p:txBody>
      </p:sp>
      <p:pic>
        <p:nvPicPr>
          <p:cNvPr id="100" name="Google Shape;10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4843" y="1802340"/>
            <a:ext cx="2381250" cy="2416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155903" y="1761164"/>
            <a:ext cx="2381250" cy="24167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22217" y="1761164"/>
            <a:ext cx="2381250" cy="24286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465069" y="1749199"/>
            <a:ext cx="2404711" cy="2440604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3"/>
          <p:cNvSpPr txBox="1"/>
          <p:nvPr/>
        </p:nvSpPr>
        <p:spPr>
          <a:xfrm>
            <a:off x="3341489" y="4373396"/>
            <a:ext cx="2675334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Axel Zielonka</a:t>
            </a:r>
            <a:endParaRPr b="1" i="0" sz="3600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3488531" y="5560409"/>
            <a:ext cx="2547937" cy="234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FRONTEND &amp; MARCA</a:t>
            </a:r>
            <a:endParaRPr b="0" i="0" sz="1800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6" name="Google Shape;106;p3"/>
          <p:cNvSpPr txBox="1"/>
          <p:nvPr/>
        </p:nvSpPr>
        <p:spPr>
          <a:xfrm>
            <a:off x="6175177" y="4378993"/>
            <a:ext cx="2675334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Martín Guerrero</a:t>
            </a:r>
            <a:endParaRPr b="1" i="0" sz="3600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6238873" y="5560409"/>
            <a:ext cx="2547937" cy="234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BACKEND &amp; IA</a:t>
            </a:r>
            <a:endParaRPr b="0" i="0" sz="1800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9114229" y="4394762"/>
            <a:ext cx="2464597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Lautaro Ghosn</a:t>
            </a:r>
            <a:endParaRPr b="1" i="0" sz="3600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9092227" y="5565016"/>
            <a:ext cx="2547937" cy="234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ARQUITECTURA &amp; DATOS</a:t>
            </a:r>
            <a:endParaRPr b="0" i="0" sz="1800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descr=", generada por IA" id="110" name="Google Shape;110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902" y="40888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5" name="Google Shape;11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6276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4"/>
          <p:cNvSpPr txBox="1"/>
          <p:nvPr/>
        </p:nvSpPr>
        <p:spPr>
          <a:xfrm>
            <a:off x="1865999" y="2253424"/>
            <a:ext cx="8460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6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punto de encuentro</a:t>
            </a:r>
            <a:endParaRPr b="1" i="0" sz="54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7" name="Google Shape;117;p4"/>
          <p:cNvSpPr txBox="1"/>
          <p:nvPr/>
        </p:nvSpPr>
        <p:spPr>
          <a:xfrm>
            <a:off x="2285975" y="3365914"/>
            <a:ext cx="7620000" cy="27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3600" u="none" cap="none" strike="noStrike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La pasión por el fútbol y la convicción absoluta de que la tecnología es la única vía para sanear y transformar la gestión de los clubes en Argentina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18" name="Google Shape;118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24475" y="596074"/>
            <a:ext cx="1143000" cy="11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h6614320cb80fea18_0_582"/>
          <p:cNvSpPr txBox="1"/>
          <p:nvPr/>
        </p:nvSpPr>
        <p:spPr>
          <a:xfrm>
            <a:off x="762000" y="428625"/>
            <a:ext cx="10784100" cy="1381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rPr>
              <a:t>Diagnóstico de Situación</a:t>
            </a:r>
            <a:endParaRPr b="1" sz="1300">
              <a:solidFill>
                <a:srgbClr val="E11D4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4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La fuga silenciosa</a:t>
            </a:r>
            <a:endParaRPr b="1" sz="1300">
              <a:solidFill>
                <a:srgbClr val="E11D4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Tres focos críticos de pérdida de ingresos y control en la gestión institucional</a:t>
            </a:r>
            <a:endParaRPr b="1" sz="1800">
              <a:solidFill>
                <a:srgbClr val="E11D4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24" name="Google Shape;124;h6614320cb80fea18_0_582"/>
          <p:cNvGrpSpPr/>
          <p:nvPr/>
        </p:nvGrpSpPr>
        <p:grpSpPr>
          <a:xfrm>
            <a:off x="762000" y="2000250"/>
            <a:ext cx="3333900" cy="4191000"/>
            <a:chOff x="0" y="0"/>
            <a:chExt cx="3333900" cy="4191000"/>
          </a:xfrm>
        </p:grpSpPr>
        <p:sp>
          <p:nvSpPr>
            <p:cNvPr id="125" name="Google Shape;125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money_off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01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Morosidad no detectada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Sin trazabilidad de cuotas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Acceso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permitido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a socios morosos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Pérdida continua de flujo de caj</a:t>
              </a:r>
              <a:r>
                <a:rPr lang="en-US" sz="19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 </a:t>
              </a:r>
              <a:endParaRPr sz="19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28" name="Google Shape;128;h6614320cb80fea18_0_582"/>
          <p:cNvGrpSpPr/>
          <p:nvPr/>
        </p:nvGrpSpPr>
        <p:grpSpPr>
          <a:xfrm>
            <a:off x="4429125" y="2000250"/>
            <a:ext cx="3333900" cy="4191000"/>
            <a:chOff x="0" y="0"/>
            <a:chExt cx="3333900" cy="4191000"/>
          </a:xfrm>
        </p:grpSpPr>
        <p:sp>
          <p:nvSpPr>
            <p:cNvPr id="129" name="Google Shape;129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02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Fraude perimetral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Ingresos no autorizados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Uso compartido de credenciales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Vulnerabilidad en el control de eventos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32" name="Google Shape;132;h6614320cb80fea18_0_582"/>
          <p:cNvGrpSpPr/>
          <p:nvPr/>
        </p:nvGrpSpPr>
        <p:grpSpPr>
          <a:xfrm>
            <a:off x="8096250" y="2000250"/>
            <a:ext cx="3333900" cy="4191000"/>
            <a:chOff x="0" y="0"/>
            <a:chExt cx="3333900" cy="4191000"/>
          </a:xfrm>
        </p:grpSpPr>
        <p:sp>
          <p:nvSpPr>
            <p:cNvPr id="133" name="Google Shape;133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domain_disabled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03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Activos subutilizados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Instalaciones y canchas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Horarios ociosos no monetizados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E11D48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Gestión manual de reservas </a:t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0" name="Google Shape;14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177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6"/>
          <p:cNvSpPr txBox="1"/>
          <p:nvPr/>
        </p:nvSpPr>
        <p:spPr>
          <a:xfrm>
            <a:off x="571500" y="924588"/>
            <a:ext cx="5238900" cy="44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 "No te avientes a hacer algo sin validarlo antes, sin saber que hay un mercado para ello." </a:t>
            </a:r>
            <a:endParaRPr/>
          </a:p>
        </p:txBody>
      </p:sp>
      <p:sp>
        <p:nvSpPr>
          <p:cNvPr id="142" name="Google Shape;142;p6"/>
          <p:cNvSpPr txBox="1"/>
          <p:nvPr/>
        </p:nvSpPr>
        <p:spPr>
          <a:xfrm>
            <a:off x="571500" y="5773809"/>
            <a:ext cx="3164758" cy="3159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F5F5F5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MARCUS DANTUS</a:t>
            </a:r>
            <a:endParaRPr/>
          </a:p>
        </p:txBody>
      </p:sp>
      <p:pic>
        <p:nvPicPr>
          <p:cNvPr id="143" name="Google Shape;14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7716" y="-71949"/>
            <a:ext cx="4980730" cy="70018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h6614320cb80fea18_0_932"/>
          <p:cNvSpPr txBox="1"/>
          <p:nvPr/>
        </p:nvSpPr>
        <p:spPr>
          <a:xfrm>
            <a:off x="762000" y="428625"/>
            <a:ext cx="10668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7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 universo desatendido</a:t>
            </a:r>
            <a:endParaRPr b="0" sz="357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3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Más de 2 millones de socios activos en 153 instituciones deportivas</a:t>
            </a:r>
            <a:endParaRPr sz="253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49" name="Google Shape;149;h6614320cb80fea18_0_932"/>
          <p:cNvGrpSpPr/>
          <p:nvPr/>
        </p:nvGrpSpPr>
        <p:grpSpPr>
          <a:xfrm>
            <a:off x="762000" y="1619250"/>
            <a:ext cx="10668000" cy="1428900"/>
            <a:chOff x="0" y="0"/>
            <a:chExt cx="10668000" cy="1428900"/>
          </a:xfrm>
        </p:grpSpPr>
        <p:sp>
          <p:nvSpPr>
            <p:cNvPr id="150" name="Google Shape;150;h6614320cb80fea18_0_932"/>
            <p:cNvSpPr/>
            <p:nvPr/>
          </p:nvSpPr>
          <p:spPr>
            <a:xfrm>
              <a:off x="0" y="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h6614320cb80fea18_0_932"/>
            <p:cNvSpPr/>
            <p:nvPr/>
          </p:nvSpPr>
          <p:spPr>
            <a:xfrm>
              <a:off x="0" y="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h6614320cb80fea18_0_932"/>
            <p:cNvSpPr txBox="1"/>
            <p:nvPr/>
          </p:nvSpPr>
          <p:spPr>
            <a:xfrm>
              <a:off x="285750" y="142875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87 </a:t>
              </a:r>
              <a:r>
                <a:rPr b="1" lang="en-US" sz="2000">
                  <a:solidFill>
                    <a:srgbClr val="0284C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53" name="Google Shape;153;h6614320cb80fea18_0_932"/>
            <p:cNvSpPr txBox="1"/>
            <p:nvPr/>
          </p:nvSpPr>
          <p:spPr>
            <a:xfrm>
              <a:off x="1544400" y="142875"/>
              <a:ext cx="18456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5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Ascenso e Interior</a:t>
              </a:r>
              <a:endParaRPr b="1" sz="25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54" name="Google Shape;154;h6614320cb80fea18_0_932"/>
            <p:cNvSpPr txBox="1"/>
            <p:nvPr/>
          </p:nvSpPr>
          <p:spPr>
            <a:xfrm>
              <a:off x="3762800" y="142875"/>
              <a:ext cx="6792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El segmento más grande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</a:t>
              </a: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Mayor déficit tecnológico y operaciones mayoritariamente manuales.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Oportunidad clave de masificación 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55" name="Google Shape;155;h6614320cb80fea18_0_932"/>
          <p:cNvGrpSpPr/>
          <p:nvPr/>
        </p:nvGrpSpPr>
        <p:grpSpPr>
          <a:xfrm>
            <a:off x="762000" y="3238500"/>
            <a:ext cx="10668000" cy="1428900"/>
            <a:chOff x="0" y="0"/>
            <a:chExt cx="10668000" cy="1428900"/>
          </a:xfrm>
        </p:grpSpPr>
        <p:sp>
          <p:nvSpPr>
            <p:cNvPr id="156" name="Google Shape;156;h6614320cb80fea18_0_932"/>
            <p:cNvSpPr/>
            <p:nvPr/>
          </p:nvSpPr>
          <p:spPr>
            <a:xfrm>
              <a:off x="0" y="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h6614320cb80fea18_0_932"/>
            <p:cNvSpPr/>
            <p:nvPr/>
          </p:nvSpPr>
          <p:spPr>
            <a:xfrm>
              <a:off x="0" y="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D9770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h6614320cb80fea18_0_932"/>
            <p:cNvSpPr txBox="1"/>
            <p:nvPr/>
          </p:nvSpPr>
          <p:spPr>
            <a:xfrm>
              <a:off x="285750" y="142875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36 </a:t>
              </a:r>
              <a:r>
                <a:rPr b="1" lang="en-US" sz="2000">
                  <a:solidFill>
                    <a:srgbClr val="D97706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59" name="Google Shape;159;h6614320cb80fea18_0_932"/>
            <p:cNvSpPr txBox="1"/>
            <p:nvPr/>
          </p:nvSpPr>
          <p:spPr>
            <a:xfrm>
              <a:off x="1544400" y="142950"/>
              <a:ext cx="148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5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Primera Nacional</a:t>
              </a:r>
              <a:endParaRPr b="1" sz="25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60" name="Google Shape;160;h6614320cb80fea18_0_932"/>
            <p:cNvSpPr txBox="1"/>
            <p:nvPr/>
          </p:nvSpPr>
          <p:spPr>
            <a:xfrm>
              <a:off x="3769600" y="142875"/>
              <a:ext cx="6441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Flujo constante de socios. Alta exigencia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Trazabilidad y cobro eficiente urgente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Puente estratégico hacia la máxima categoría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61" name="Google Shape;161;h6614320cb80fea18_0_932"/>
          <p:cNvGrpSpPr/>
          <p:nvPr/>
        </p:nvGrpSpPr>
        <p:grpSpPr>
          <a:xfrm>
            <a:off x="762000" y="4857750"/>
            <a:ext cx="10668000" cy="1428900"/>
            <a:chOff x="0" y="0"/>
            <a:chExt cx="10668000" cy="1428900"/>
          </a:xfrm>
        </p:grpSpPr>
        <p:sp>
          <p:nvSpPr>
            <p:cNvPr id="162" name="Google Shape;162;h6614320cb80fea18_0_932"/>
            <p:cNvSpPr/>
            <p:nvPr/>
          </p:nvSpPr>
          <p:spPr>
            <a:xfrm>
              <a:off x="0" y="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h6614320cb80fea18_0_932"/>
            <p:cNvSpPr/>
            <p:nvPr/>
          </p:nvSpPr>
          <p:spPr>
            <a:xfrm>
              <a:off x="0" y="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h6614320cb80fea18_0_932"/>
            <p:cNvSpPr txBox="1"/>
            <p:nvPr/>
          </p:nvSpPr>
          <p:spPr>
            <a:xfrm>
              <a:off x="1551675" y="142950"/>
              <a:ext cx="20211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5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Liga Profesional</a:t>
              </a:r>
              <a:endParaRPr b="1" sz="25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65" name="Google Shape;165;h6614320cb80fea18_0_932"/>
            <p:cNvSpPr txBox="1"/>
            <p:nvPr/>
          </p:nvSpPr>
          <p:spPr>
            <a:xfrm>
              <a:off x="3762925" y="142875"/>
              <a:ext cx="65241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Instituciones de élite con gran masa social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Requerimientos avanzados de control de acceso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400"/>
                </a:spcBef>
                <a:spcAft>
                  <a:spcPts val="0"/>
                </a:spcAft>
                <a:buNone/>
              </a:pPr>
              <a:r>
                <a:rPr lang="en-US" sz="2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Validación de marca y máxima visibilidad</a:t>
              </a:r>
              <a:endParaRPr sz="2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66" name="Google Shape;166;h6614320cb80fea18_0_932"/>
          <p:cNvSpPr txBox="1"/>
          <p:nvPr/>
        </p:nvSpPr>
        <p:spPr>
          <a:xfrm>
            <a:off x="998225" y="5000700"/>
            <a:ext cx="11253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38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r>
              <a:rPr lang="en-US" sz="38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</a:t>
            </a:r>
            <a:r>
              <a:rPr b="0" lang="en-US" sz="38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r>
              <a:rPr b="1" lang="en-US" sz="2000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CLUBES</a:t>
            </a:r>
            <a:endParaRPr b="0" sz="4200">
              <a:solidFill>
                <a:srgbClr val="059669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1" name="Google Shape;17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8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La brecha tecnológica</a:t>
            </a:r>
            <a:endParaRPr b="0" i="0" sz="4800" u="none" cap="none" strike="noStrike">
              <a:solidFill>
                <a:srgbClr val="F5F5F5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71425" y="2325690"/>
            <a:ext cx="52389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120+</a:t>
            </a:r>
            <a:endParaRPr/>
          </a:p>
        </p:txBody>
      </p:sp>
      <p:sp>
        <p:nvSpPr>
          <p:cNvPr id="174" name="Google Shape;174;p8"/>
          <p:cNvSpPr txBox="1"/>
          <p:nvPr/>
        </p:nvSpPr>
        <p:spPr>
          <a:xfrm>
            <a:off x="571500" y="4408140"/>
            <a:ext cx="52389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Clubes ignorados que operan a ciegas</a:t>
            </a:r>
            <a:endParaRPr i="0" sz="40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5" name="Google Shape;175;p8"/>
          <p:cNvSpPr txBox="1"/>
          <p:nvPr/>
        </p:nvSpPr>
        <p:spPr>
          <a:xfrm>
            <a:off x="6381675" y="3792540"/>
            <a:ext cx="52389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competidor principal solo abarca a ~25 instituciones de la élite.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76" name="Google Shape;17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675" y="1887540"/>
            <a:ext cx="5238750" cy="171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h6614320cb80fea18_0_98"/>
          <p:cNvSpPr/>
          <p:nvPr/>
        </p:nvSpPr>
        <p:spPr>
          <a:xfrm>
            <a:off x="6096000" y="4286250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0F9FF"/>
          </a:solidFill>
          <a:ln cap="flat" cmpd="sng" w="14300">
            <a:solidFill>
              <a:srgbClr val="C7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h6614320cb80fea18_0_98"/>
          <p:cNvSpPr txBox="1"/>
          <p:nvPr/>
        </p:nvSpPr>
        <p:spPr>
          <a:xfrm>
            <a:off x="762000" y="428625"/>
            <a:ext cx="106680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284C7"/>
                </a:solidFill>
                <a:latin typeface="Montserrat"/>
                <a:ea typeface="Montserrat"/>
                <a:cs typeface="Montserrat"/>
                <a:sym typeface="Montserrat"/>
              </a:rPr>
              <a:t>Directo en el territorio</a:t>
            </a:r>
            <a:endParaRPr b="1" sz="2200">
              <a:solidFill>
                <a:srgbClr val="0284C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Validación empírica</a:t>
            </a:r>
            <a:endParaRPr b="0" sz="42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183" name="Google Shape;183;h6614320cb80fea18_0_98"/>
          <p:cNvGrpSpPr/>
          <p:nvPr/>
        </p:nvGrpSpPr>
        <p:grpSpPr>
          <a:xfrm>
            <a:off x="762000" y="1666875"/>
            <a:ext cx="4953000" cy="4572000"/>
            <a:chOff x="0" y="0"/>
            <a:chExt cx="4953000" cy="4572000"/>
          </a:xfrm>
        </p:grpSpPr>
        <p:sp>
          <p:nvSpPr>
            <p:cNvPr id="184" name="Google Shape;184;h6614320cb80fea18_0_98"/>
            <p:cNvSpPr/>
            <p:nvPr/>
          </p:nvSpPr>
          <p:spPr>
            <a:xfrm>
              <a:off x="0" y="0"/>
              <a:ext cx="4953000" cy="4572000"/>
            </a:xfrm>
            <a:prstGeom prst="roundRect">
              <a:avLst>
                <a:gd fmla="val 5000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85" name="Google Shape;185;h6614320cb80fea18_0_9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85875" y="333375"/>
              <a:ext cx="2381400" cy="2381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6" name="Google Shape;186;h6614320cb80fea18_0_98"/>
            <p:cNvSpPr txBox="1"/>
            <p:nvPr/>
          </p:nvSpPr>
          <p:spPr>
            <a:xfrm>
              <a:off x="381000" y="3048000"/>
              <a:ext cx="41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1E293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Llevamos el MVP al terreno y realizamos sesiones de feedback</a:t>
              </a:r>
              <a:endParaRPr b="0" sz="2200">
                <a:solidFill>
                  <a:srgbClr val="1E293B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187" name="Google Shape;187;h6614320cb80fea18_0_98"/>
          <p:cNvSpPr/>
          <p:nvPr/>
        </p:nvSpPr>
        <p:spPr>
          <a:xfrm>
            <a:off x="6096000" y="2190750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EF2F2"/>
          </a:solidFill>
          <a:ln cap="flat" cmpd="sng" w="143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h6614320cb80fea18_0_98"/>
          <p:cNvSpPr txBox="1"/>
          <p:nvPr/>
        </p:nvSpPr>
        <p:spPr>
          <a:xfrm>
            <a:off x="6096000" y="1666875"/>
            <a:ext cx="53340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Resultado:</a:t>
            </a:r>
            <a:endParaRPr b="0" sz="26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89" name="Google Shape;189;h6614320cb80fea18_0_98"/>
          <p:cNvSpPr/>
          <p:nvPr/>
        </p:nvSpPr>
        <p:spPr>
          <a:xfrm>
            <a:off x="6096000" y="2190750"/>
            <a:ext cx="95400" cy="1572900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h6614320cb80fea18_0_98"/>
          <p:cNvSpPr/>
          <p:nvPr/>
        </p:nvSpPr>
        <p:spPr>
          <a:xfrm>
            <a:off x="6502450" y="2587650"/>
            <a:ext cx="815700" cy="779100"/>
          </a:xfrm>
          <a:prstGeom prst="ellipse">
            <a:avLst/>
          </a:prstGeom>
          <a:solidFill>
            <a:srgbClr val="EF4444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h6614320cb80fea18_0_98"/>
          <p:cNvSpPr txBox="1"/>
          <p:nvPr/>
        </p:nvSpPr>
        <p:spPr>
          <a:xfrm>
            <a:off x="6486525" y="2581275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DC2626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check_circle</a:t>
            </a:r>
            <a:endParaRPr/>
          </a:p>
        </p:txBody>
      </p:sp>
      <p:sp>
        <p:nvSpPr>
          <p:cNvPr id="192" name="Google Shape;192;h6614320cb80fea18_0_98"/>
          <p:cNvSpPr txBox="1"/>
          <p:nvPr/>
        </p:nvSpPr>
        <p:spPr>
          <a:xfrm>
            <a:off x="7408538" y="2477100"/>
            <a:ext cx="36150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Confirmación de los P</a:t>
            </a:r>
            <a:r>
              <a:rPr b="1" lang="en-US" sz="24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untos de Dolor Institucionales</a:t>
            </a:r>
            <a:endParaRPr sz="20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3" name="Google Shape;193;h6614320cb80fea18_0_98"/>
          <p:cNvSpPr/>
          <p:nvPr/>
        </p:nvSpPr>
        <p:spPr>
          <a:xfrm>
            <a:off x="6096000" y="4286250"/>
            <a:ext cx="136800" cy="1572900"/>
          </a:xfrm>
          <a:prstGeom prst="roundRect">
            <a:avLst>
              <a:gd fmla="val 50000" name="adj"/>
            </a:avLst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h6614320cb80fea18_0_98"/>
          <p:cNvSpPr txBox="1"/>
          <p:nvPr/>
        </p:nvSpPr>
        <p:spPr>
          <a:xfrm>
            <a:off x="6486525" y="4676775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ouch_app</a:t>
            </a:r>
            <a:endParaRPr/>
          </a:p>
        </p:txBody>
      </p:sp>
      <p:sp>
        <p:nvSpPr>
          <p:cNvPr id="195" name="Google Shape;195;h6614320cb80fea18_0_98"/>
          <p:cNvSpPr txBox="1"/>
          <p:nvPr/>
        </p:nvSpPr>
        <p:spPr>
          <a:xfrm>
            <a:off x="7408550" y="4429800"/>
            <a:ext cx="40959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Refinamiento de </a:t>
            </a:r>
            <a:r>
              <a:rPr b="1" lang="en-US" sz="24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UX / UI para minimizar la curva de aprendizaje</a:t>
            </a:r>
            <a:endParaRPr sz="24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6" name="Google Shape;196;h6614320cb80fea18_0_98"/>
          <p:cNvSpPr/>
          <p:nvPr/>
        </p:nvSpPr>
        <p:spPr>
          <a:xfrm>
            <a:off x="6502450" y="4683150"/>
            <a:ext cx="815700" cy="779100"/>
          </a:xfrm>
          <a:prstGeom prst="ellipse">
            <a:avLst/>
          </a:prstGeom>
          <a:solidFill>
            <a:srgbClr val="C7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97" name="Google Shape;197;h6614320cb80fea18_0_9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21200" y="1720012"/>
            <a:ext cx="4434598" cy="29631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h31d256953cabf977_1_1"/>
          <p:cNvSpPr/>
          <p:nvPr/>
        </p:nvSpPr>
        <p:spPr>
          <a:xfrm>
            <a:off x="6026150" y="0"/>
            <a:ext cx="6165900" cy="68580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3" name="Google Shape;203;h31d256953cabf977_1_1" title="Macbook-Air-web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025" y="2392200"/>
            <a:ext cx="5600159" cy="32211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h31d256953cabf977_1_1" title="Macbook-Air-web.sociounido.com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3400" y="2342947"/>
            <a:ext cx="5771402" cy="3319704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h31d256953cabf977_1_1"/>
          <p:cNvSpPr txBox="1"/>
          <p:nvPr/>
        </p:nvSpPr>
        <p:spPr>
          <a:xfrm>
            <a:off x="571500" y="571500"/>
            <a:ext cx="11601600" cy="6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 INTERFACES 				</a:t>
            </a:r>
            <a:r>
              <a:rPr lang="en-US" sz="48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INTEGRADAS</a:t>
            </a:r>
            <a:endParaRPr b="0" i="0" sz="48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06" name="Google Shape;206;h31d256953cabf977_1_1"/>
          <p:cNvSpPr txBox="1"/>
          <p:nvPr/>
        </p:nvSpPr>
        <p:spPr>
          <a:xfrm>
            <a:off x="132400" y="5973550"/>
            <a:ext cx="5771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WEB ADMIN - MODO CLARO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07" name="Google Shape;207;h31d256953cabf977_1_1"/>
          <p:cNvSpPr txBox="1"/>
          <p:nvPr/>
        </p:nvSpPr>
        <p:spPr>
          <a:xfrm>
            <a:off x="6288175" y="5973550"/>
            <a:ext cx="5771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WEB ADMIN - MODO OSCURO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h105005292c05e9d_1_20"/>
          <p:cNvSpPr/>
          <p:nvPr/>
        </p:nvSpPr>
        <p:spPr>
          <a:xfrm>
            <a:off x="0" y="0"/>
            <a:ext cx="4065300" cy="6858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h105005292c05e9d_1_20"/>
          <p:cNvSpPr/>
          <p:nvPr/>
        </p:nvSpPr>
        <p:spPr>
          <a:xfrm>
            <a:off x="8130700" y="0"/>
            <a:ext cx="4065300" cy="68580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h105005292c05e9d_1_20"/>
          <p:cNvSpPr/>
          <p:nvPr/>
        </p:nvSpPr>
        <p:spPr>
          <a:xfrm>
            <a:off x="4065400" y="0"/>
            <a:ext cx="4089000" cy="6858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" name="Google Shape;215;h105005292c05e9d_1_20" title="iPhone-14-PRO-app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85940" y="1457725"/>
            <a:ext cx="2155476" cy="43925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h105005292c05e9d_1_20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5525" y="2197419"/>
            <a:ext cx="2020312" cy="4392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h105005292c05e9d_1_20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23971" y="2237793"/>
            <a:ext cx="2085412" cy="4534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97704" l="95661" r="0" t="0"/>
          <a:stretch/>
        </p:blipFill>
        <p:spPr>
          <a:xfrm>
            <a:off x="11118905" y="2237794"/>
            <a:ext cx="90478" cy="104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98016" l="0" r="0" t="0"/>
          <a:stretch/>
        </p:blipFill>
        <p:spPr>
          <a:xfrm>
            <a:off x="9123970" y="2244860"/>
            <a:ext cx="2085413" cy="89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0" l="0" r="97495" t="2229"/>
          <a:stretch/>
        </p:blipFill>
        <p:spPr>
          <a:xfrm rot="10800000">
            <a:off x="11109999" y="2197424"/>
            <a:ext cx="88851" cy="44617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h105005292c05e9d_1_20"/>
          <p:cNvSpPr txBox="1"/>
          <p:nvPr/>
        </p:nvSpPr>
        <p:spPr>
          <a:xfrm>
            <a:off x="1673225" y="551975"/>
            <a:ext cx="8382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r>
              <a:rPr lang="en-US" sz="4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i="0" sz="4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22" name="Google Shape;222;h105005292c05e9d_1_20"/>
          <p:cNvSpPr txBox="1"/>
          <p:nvPr/>
        </p:nvSpPr>
        <p:spPr>
          <a:xfrm>
            <a:off x="4063350" y="586625"/>
            <a:ext cx="4065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F2F2F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INTERFACES</a:t>
            </a:r>
            <a:endParaRPr b="0" i="0" sz="4000" u="none" cap="none" strike="noStrike">
              <a:solidFill>
                <a:srgbClr val="F2F2F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23" name="Google Shape;223;h105005292c05e9d_1_20"/>
          <p:cNvSpPr txBox="1"/>
          <p:nvPr/>
        </p:nvSpPr>
        <p:spPr>
          <a:xfrm>
            <a:off x="8130700" y="586625"/>
            <a:ext cx="4065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INTEGRADAS</a:t>
            </a:r>
            <a:endParaRPr b="0" i="0" sz="40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24" name="Google Shape;224;h105005292c05e9d_1_20"/>
          <p:cNvSpPr txBox="1"/>
          <p:nvPr/>
        </p:nvSpPr>
        <p:spPr>
          <a:xfrm>
            <a:off x="95525" y="1726350"/>
            <a:ext cx="3993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CONTROL DE ACCESO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25" name="Google Shape;225;h105005292c05e9d_1_20"/>
          <p:cNvSpPr txBox="1"/>
          <p:nvPr/>
        </p:nvSpPr>
        <p:spPr>
          <a:xfrm>
            <a:off x="4019938" y="6167275"/>
            <a:ext cx="4179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2F2F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APLICACIÓN DE SOCIOS</a:t>
            </a:r>
            <a:endParaRPr b="0" i="0" sz="2200" u="none" cap="none" strike="noStrike">
              <a:solidFill>
                <a:srgbClr val="F2F2F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26" name="Google Shape;226;h105005292c05e9d_1_20"/>
          <p:cNvSpPr txBox="1"/>
          <p:nvPr/>
        </p:nvSpPr>
        <p:spPr>
          <a:xfrm>
            <a:off x="8169875" y="1726350"/>
            <a:ext cx="3993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BOTIN (TELEGRAM)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227" name="Google Shape;227;h105005292c05e9d_1_20" title="Screenshot_20260924-220234.png"/>
          <p:cNvPicPr preferRelativeResize="0"/>
          <p:nvPr/>
        </p:nvPicPr>
        <p:blipFill rotWithShape="1">
          <a:blip r:embed="rId5">
            <a:alphaModFix/>
          </a:blip>
          <a:srcRect b="1784" l="0" r="0" t="6742"/>
          <a:stretch/>
        </p:blipFill>
        <p:spPr>
          <a:xfrm>
            <a:off x="9162825" y="2335075"/>
            <a:ext cx="1966650" cy="4270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0" l="0" r="97495" t="0"/>
          <a:stretch/>
        </p:blipFill>
        <p:spPr>
          <a:xfrm>
            <a:off x="9124450" y="2237800"/>
            <a:ext cx="79524" cy="4513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3" name="Google Shape;23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45609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11"/>
          <p:cNvSpPr txBox="1"/>
          <p:nvPr/>
        </p:nvSpPr>
        <p:spPr>
          <a:xfrm>
            <a:off x="501450" y="427949"/>
            <a:ext cx="5238900" cy="52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2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"A team is a business at the end of the day, and the organizations must continue evolving digitally to remain competitive, both on the field and off." </a:t>
            </a:r>
            <a:endParaRPr sz="800"/>
          </a:p>
        </p:txBody>
      </p:sp>
      <p:sp>
        <p:nvSpPr>
          <p:cNvPr id="235" name="Google Shape;235;p11"/>
          <p:cNvSpPr txBox="1"/>
          <p:nvPr/>
        </p:nvSpPr>
        <p:spPr>
          <a:xfrm>
            <a:off x="571500" y="6299350"/>
            <a:ext cx="6172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DREW CRISP (LIVERPOOL FC)</a:t>
            </a:r>
            <a:endParaRPr/>
          </a:p>
        </p:txBody>
      </p:sp>
      <p:pic>
        <p:nvPicPr>
          <p:cNvPr id="236" name="Google Shape;236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3476" y="-131438"/>
            <a:ext cx="5528350" cy="620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1" name="Google Shape;241;p12"/>
          <p:cNvGrpSpPr/>
          <p:nvPr/>
        </p:nvGrpSpPr>
        <p:grpSpPr>
          <a:xfrm>
            <a:off x="571500" y="1524000"/>
            <a:ext cx="11049000" cy="4476750"/>
            <a:chOff x="571500" y="1524000"/>
            <a:chExt cx="11049000" cy="4476750"/>
          </a:xfrm>
        </p:grpSpPr>
        <p:grpSp>
          <p:nvGrpSpPr>
            <p:cNvPr id="242" name="Google Shape;242;p12"/>
            <p:cNvGrpSpPr/>
            <p:nvPr/>
          </p:nvGrpSpPr>
          <p:grpSpPr>
            <a:xfrm>
              <a:off x="571500" y="1524000"/>
              <a:ext cx="5334000" cy="2095500"/>
              <a:chOff x="0" y="0"/>
              <a:chExt cx="5334000" cy="2095500"/>
            </a:xfrm>
          </p:grpSpPr>
          <p:sp>
            <p:nvSpPr>
              <p:cNvPr id="243" name="Google Shape;243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8BD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" name="Google Shape;244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0F2B4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8BD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sz="3200">
                  <a:solidFill>
                    <a:srgbClr val="38BD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46" name="Google Shape;246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8BD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01</a:t>
                </a:r>
                <a:endParaRPr b="0" i="0" sz="2380">
                  <a:solidFill>
                    <a:srgbClr val="38BD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47" name="Google Shape;247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Motor predictivo de morosidad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48" name="Google Shape;248;p12"/>
            <p:cNvGrpSpPr/>
            <p:nvPr/>
          </p:nvGrpSpPr>
          <p:grpSpPr>
            <a:xfrm>
              <a:off x="6286500" y="1524000"/>
              <a:ext cx="5334000" cy="2095500"/>
              <a:chOff x="0" y="0"/>
              <a:chExt cx="5334000" cy="2095500"/>
            </a:xfrm>
          </p:grpSpPr>
          <p:sp>
            <p:nvSpPr>
              <p:cNvPr id="249" name="Google Shape;249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818C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" name="Google Shape;250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20245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818C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account_balance</a:t>
                </a:r>
                <a:endParaRPr sz="3200">
                  <a:solidFill>
                    <a:srgbClr val="818C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52" name="Google Shape;252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818C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02</a:t>
                </a:r>
                <a:endParaRPr b="0" i="0" sz="2380">
                  <a:solidFill>
                    <a:srgbClr val="818C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53" name="Google Shape;253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Optimización de activos institucionales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54" name="Google Shape;254;p12"/>
            <p:cNvGrpSpPr/>
            <p:nvPr/>
          </p:nvGrpSpPr>
          <p:grpSpPr>
            <a:xfrm>
              <a:off x="571500" y="3905250"/>
              <a:ext cx="5334000" cy="2095500"/>
              <a:chOff x="0" y="0"/>
              <a:chExt cx="5334000" cy="2095500"/>
            </a:xfrm>
          </p:grpSpPr>
          <p:sp>
            <p:nvSpPr>
              <p:cNvPr id="255" name="Google Shape;255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F43F5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3D172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F43F5E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psychology</a:t>
                </a:r>
                <a:endParaRPr sz="3200">
                  <a:solidFill>
                    <a:srgbClr val="F43F5E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58" name="Google Shape;258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F43F5E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03</a:t>
                </a:r>
                <a:endParaRPr b="0" i="0" sz="2380">
                  <a:solidFill>
                    <a:srgbClr val="F43F5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59" name="Google Shape;259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Interacción cognitiva sin fricción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60" name="Google Shape;260;p12"/>
            <p:cNvGrpSpPr/>
            <p:nvPr/>
          </p:nvGrpSpPr>
          <p:grpSpPr>
            <a:xfrm>
              <a:off x="6286500" y="3905250"/>
              <a:ext cx="5334000" cy="2095500"/>
              <a:chOff x="0" y="0"/>
              <a:chExt cx="5334000" cy="2095500"/>
            </a:xfrm>
          </p:grpSpPr>
          <p:sp>
            <p:nvSpPr>
              <p:cNvPr id="261" name="Google Shape;261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4D39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11332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" name="Google Shape;263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phonelink_lock</a:t>
                </a:r>
                <a:endParaRPr sz="3200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64" name="Google Shape;264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4D399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04</a:t>
                </a:r>
                <a:endParaRPr b="0" i="0" sz="2380">
                  <a:solidFill>
                    <a:srgbClr val="34D399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65" name="Google Shape;265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Acceso inteligente TOTP 100% offline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266" name="Google Shape;266;p12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Ejes de innovación y disrupción</a:t>
            </a:r>
            <a:endParaRPr b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1" name="Google Shape;27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13"/>
          <p:cNvSpPr txBox="1"/>
          <p:nvPr/>
        </p:nvSpPr>
        <p:spPr>
          <a:xfrm>
            <a:off x="492842" y="571499"/>
            <a:ext cx="11601450" cy="565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Arquitectura de microservicios</a:t>
            </a:r>
            <a:endParaRPr b="0" i="0" sz="4800" u="none" cap="none" strike="noStrike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273" name="Google Shape;27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8427" y="1491240"/>
            <a:ext cx="11795146" cy="47298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4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Atributos de calidad y resiliencia</a:t>
            </a:r>
            <a:endParaRPr b="0" i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279" name="Google Shape;279;p14"/>
          <p:cNvGrpSpPr/>
          <p:nvPr/>
        </p:nvGrpSpPr>
        <p:grpSpPr>
          <a:xfrm>
            <a:off x="571500" y="1524000"/>
            <a:ext cx="5334000" cy="2095500"/>
            <a:chOff x="0" y="0"/>
            <a:chExt cx="5334000" cy="2095500"/>
          </a:xfrm>
        </p:grpSpPr>
        <p:sp>
          <p:nvSpPr>
            <p:cNvPr id="280" name="Google Shape;280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59E0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11F0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59E0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endParaRPr b="0" i="0" sz="3200" u="none" strike="noStrike">
                <a:solidFill>
                  <a:srgbClr val="F59E0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83" name="Google Shape;283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Seguridad (Zero-Trust)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84" name="Google Shape;284;p14"/>
          <p:cNvGrpSpPr/>
          <p:nvPr/>
        </p:nvGrpSpPr>
        <p:grpSpPr>
          <a:xfrm>
            <a:off x="6286500" y="1524000"/>
            <a:ext cx="5334000" cy="2095500"/>
            <a:chOff x="0" y="0"/>
            <a:chExt cx="5334000" cy="2095500"/>
          </a:xfrm>
        </p:grpSpPr>
        <p:sp>
          <p:nvSpPr>
            <p:cNvPr id="285" name="Google Shape;285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0833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06B6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dns</a:t>
              </a:r>
              <a:endParaRPr b="0" i="0" sz="3200" u="none" strike="noStrike">
                <a:solidFill>
                  <a:srgbClr val="06B6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88" name="Google Shape;288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Escalabilidad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89" name="Google Shape;289;p14"/>
          <p:cNvGrpSpPr/>
          <p:nvPr/>
        </p:nvGrpSpPr>
        <p:grpSpPr>
          <a:xfrm>
            <a:off x="571500" y="3905250"/>
            <a:ext cx="5334000" cy="2095500"/>
            <a:chOff x="0" y="0"/>
            <a:chExt cx="5334000" cy="2095500"/>
          </a:xfrm>
        </p:grpSpPr>
        <p:sp>
          <p:nvSpPr>
            <p:cNvPr id="290" name="Google Shape;290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A855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B076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A855F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speed</a:t>
              </a:r>
              <a:endParaRPr b="0" i="0" sz="3200" u="none" strike="noStrike">
                <a:solidFill>
                  <a:srgbClr val="A855F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3" name="Google Shape;293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Rendimiento &amp; UX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94" name="Google Shape;294;p14"/>
          <p:cNvGrpSpPr/>
          <p:nvPr/>
        </p:nvGrpSpPr>
        <p:grpSpPr>
          <a:xfrm>
            <a:off x="6286500" y="3905250"/>
            <a:ext cx="5334000" cy="2095500"/>
            <a:chOff x="0" y="0"/>
            <a:chExt cx="5334000" cy="2095500"/>
          </a:xfrm>
        </p:grpSpPr>
        <p:sp>
          <p:nvSpPr>
            <p:cNvPr id="295" name="Google Shape;295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9731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43140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hub</a:t>
              </a:r>
              <a:endParaRPr b="0" i="0" sz="3200" u="none" strike="noStrike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8" name="Google Shape;298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Interoperabilidad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h6614320cb80fea18_0_2092"/>
          <p:cNvSpPr txBox="1"/>
          <p:nvPr/>
        </p:nvSpPr>
        <p:spPr>
          <a:xfrm>
            <a:off x="571500" y="476250"/>
            <a:ext cx="11049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lienzo Instituciona</a:t>
            </a:r>
            <a:r>
              <a:rPr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</a:t>
            </a:r>
            <a:endParaRPr i="0" sz="1800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04" name="Google Shape;304;h6614320cb80fea18_0_2092"/>
          <p:cNvGrpSpPr/>
          <p:nvPr/>
        </p:nvGrpSpPr>
        <p:grpSpPr>
          <a:xfrm>
            <a:off x="571500" y="1669894"/>
            <a:ext cx="3429000" cy="4649915"/>
            <a:chOff x="571500" y="2000250"/>
            <a:chExt cx="3429000" cy="4191000"/>
          </a:xfrm>
        </p:grpSpPr>
        <p:sp>
          <p:nvSpPr>
            <p:cNvPr id="305" name="Google Shape;305;h6614320cb80fea18_0_2092"/>
            <p:cNvSpPr/>
            <p:nvPr/>
          </p:nvSpPr>
          <p:spPr>
            <a:xfrm>
              <a:off x="57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h6614320cb80fea18_0_2092"/>
            <p:cNvSpPr/>
            <p:nvPr/>
          </p:nvSpPr>
          <p:spPr>
            <a:xfrm>
              <a:off x="87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h6614320cb80fea18_0_2092"/>
            <p:cNvSpPr txBox="1"/>
            <p:nvPr/>
          </p:nvSpPr>
          <p:spPr>
            <a:xfrm>
              <a:off x="87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auto_awesome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8" name="Google Shape;308;h6614320cb80fea18_0_2092"/>
            <p:cNvSpPr txBox="1"/>
            <p:nvPr/>
          </p:nvSpPr>
          <p:spPr>
            <a:xfrm>
              <a:off x="876300" y="32194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3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Teoría de la Gestalt</a:t>
              </a:r>
              <a:endParaRPr b="1" i="0" sz="3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</a:t>
              </a:r>
              <a:r>
                <a:rPr i="0"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structura ordenada, intuitiva y jerarquizada.</a:t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09" name="Google Shape;309;h6614320cb80fea18_0_2092"/>
          <p:cNvGrpSpPr/>
          <p:nvPr/>
        </p:nvGrpSpPr>
        <p:grpSpPr>
          <a:xfrm>
            <a:off x="4381500" y="1669894"/>
            <a:ext cx="3429000" cy="4649915"/>
            <a:chOff x="4381500" y="2000250"/>
            <a:chExt cx="3429000" cy="4191000"/>
          </a:xfrm>
        </p:grpSpPr>
        <p:sp>
          <p:nvSpPr>
            <p:cNvPr id="310" name="Google Shape;310;h6614320cb80fea18_0_2092"/>
            <p:cNvSpPr/>
            <p:nvPr/>
          </p:nvSpPr>
          <p:spPr>
            <a:xfrm>
              <a:off x="438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h6614320cb80fea18_0_2092"/>
            <p:cNvSpPr/>
            <p:nvPr/>
          </p:nvSpPr>
          <p:spPr>
            <a:xfrm>
              <a:off x="468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h6614320cb80fea18_0_2092"/>
            <p:cNvSpPr txBox="1"/>
            <p:nvPr/>
          </p:nvSpPr>
          <p:spPr>
            <a:xfrm>
              <a:off x="468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palette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13" name="Google Shape;313;h6614320cb80fea18_0_2092"/>
            <p:cNvSpPr txBox="1"/>
            <p:nvPr/>
          </p:nvSpPr>
          <p:spPr>
            <a:xfrm>
              <a:off x="4572000" y="3219450"/>
              <a:ext cx="30699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3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Base Acromática</a:t>
              </a:r>
              <a:endParaRPr b="1" i="0" sz="3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</a:t>
              </a:r>
              <a:r>
                <a:rPr i="0"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squema neutro 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sin </a:t>
              </a:r>
              <a:r>
                <a:rPr i="0"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distracciones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, 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enfocado 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en </a:t>
              </a:r>
              <a:r>
                <a:rPr i="0"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los datos fundamentales.</a:t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14" name="Google Shape;314;h6614320cb80fea18_0_2092"/>
          <p:cNvGrpSpPr/>
          <p:nvPr/>
        </p:nvGrpSpPr>
        <p:grpSpPr>
          <a:xfrm>
            <a:off x="8191500" y="1669894"/>
            <a:ext cx="3429000" cy="4649915"/>
            <a:chOff x="8191500" y="2000250"/>
            <a:chExt cx="3429000" cy="4191000"/>
          </a:xfrm>
        </p:grpSpPr>
        <p:sp>
          <p:nvSpPr>
            <p:cNvPr id="315" name="Google Shape;315;h6614320cb80fea18_0_2092"/>
            <p:cNvSpPr/>
            <p:nvPr/>
          </p:nvSpPr>
          <p:spPr>
            <a:xfrm>
              <a:off x="819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h6614320cb80fea18_0_2092"/>
            <p:cNvSpPr/>
            <p:nvPr/>
          </p:nvSpPr>
          <p:spPr>
            <a:xfrm>
              <a:off x="849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h6614320cb80fea18_0_2092"/>
            <p:cNvSpPr txBox="1"/>
            <p:nvPr/>
          </p:nvSpPr>
          <p:spPr>
            <a:xfrm>
              <a:off x="849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verified_user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18" name="Google Shape;318;h6614320cb80fea18_0_2092"/>
            <p:cNvSpPr txBox="1"/>
            <p:nvPr/>
          </p:nvSpPr>
          <p:spPr>
            <a:xfrm>
              <a:off x="8496300" y="31432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3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Transparencia Financiera</a:t>
              </a:r>
              <a:endParaRPr b="1" i="0" sz="3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Diseño sobrio que proyect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 </a:t>
              </a:r>
              <a:r>
                <a:rPr lang="en-US" sz="2200">
                  <a:solidFill>
                    <a:srgbClr val="52525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solidez, claridad institucional e integridad ante el usuario</a:t>
              </a:r>
              <a:endParaRPr sz="2200">
                <a:solidFill>
                  <a:srgbClr val="52525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323;h6614320cb80fea18_0_24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4475" y="3067050"/>
            <a:ext cx="96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h6614320cb80fea18_0_2451"/>
          <p:cNvSpPr txBox="1"/>
          <p:nvPr/>
        </p:nvSpPr>
        <p:spPr>
          <a:xfrm>
            <a:off x="587925" y="213500"/>
            <a:ext cx="4360800" cy="220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Estrategia </a:t>
            </a:r>
            <a:endParaRPr b="0" sz="40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 penetración</a:t>
            </a:r>
            <a:r>
              <a:rPr b="0" lang="en-US" sz="4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A1A1A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(Go-To-Market)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cxnSp>
        <p:nvCxnSpPr>
          <p:cNvPr id="325" name="Google Shape;325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flat" cmpd="sng" w="38100">
            <a:solidFill>
              <a:srgbClr val="27272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6" name="Google Shape;326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rnd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27" name="Google Shape;327;h6614320cb80fea18_0_2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38475" y="3524250"/>
            <a:ext cx="19200" cy="4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h6614320cb80fea18_0_24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47950" y="3124200"/>
            <a:ext cx="795300" cy="7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h6614320cb80fea18_0_2451"/>
          <p:cNvSpPr/>
          <p:nvPr/>
        </p:nvSpPr>
        <p:spPr>
          <a:xfrm>
            <a:off x="2952750" y="3429000"/>
            <a:ext cx="190500" cy="19050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h6614320cb80fea18_0_2451"/>
          <p:cNvSpPr txBox="1"/>
          <p:nvPr/>
        </p:nvSpPr>
        <p:spPr>
          <a:xfrm>
            <a:off x="666825" y="4000500"/>
            <a:ext cx="4762500" cy="26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0A5FA"/>
                </a:solidFill>
                <a:latin typeface="Montserrat"/>
                <a:ea typeface="Montserrat"/>
                <a:cs typeface="Montserrat"/>
                <a:sym typeface="Montserrat"/>
              </a:rPr>
              <a:t>FASE 1</a:t>
            </a:r>
            <a:endParaRPr sz="2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Nicho Estratégico</a:t>
            </a:r>
            <a:endParaRPr b="1" sz="3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4D4D8"/>
                </a:solidFill>
                <a:latin typeface="Montserrat"/>
                <a:ea typeface="Montserrat"/>
                <a:cs typeface="Montserrat"/>
                <a:sym typeface="Montserrat"/>
              </a:rPr>
              <a:t>Foco quirúrgico en </a:t>
            </a:r>
            <a:r>
              <a:rPr b="1"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87 clubes</a:t>
            </a:r>
            <a:endParaRPr sz="2000">
              <a:solidFill>
                <a:srgbClr val="D4D4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Cobertura Objetivo:</a:t>
            </a:r>
            <a:endParaRPr sz="18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49250" lvl="0" marL="457200" rtl="0" algn="l">
              <a:spcBef>
                <a:spcPts val="450"/>
              </a:spcBef>
              <a:spcAft>
                <a:spcPts val="0"/>
              </a:spcAft>
              <a:buClr>
                <a:srgbClr val="E4E4E7"/>
              </a:buClr>
              <a:buSzPts val="1900"/>
              <a:buFont typeface="Montserrat"/>
              <a:buChar char="●"/>
            </a:pPr>
            <a:r>
              <a:rPr lang="en-US" sz="1900">
                <a:solidFill>
                  <a:srgbClr val="E4E4E7"/>
                </a:solidFill>
                <a:latin typeface="Montserrat"/>
                <a:ea typeface="Montserrat"/>
                <a:cs typeface="Montserrat"/>
                <a:sym typeface="Montserrat"/>
              </a:rPr>
              <a:t>Primera B Metropolitana</a:t>
            </a:r>
            <a:endParaRPr sz="1900">
              <a:solidFill>
                <a:srgbClr val="E4E4E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9250" lvl="0" marL="457200" rtl="0" algn="l">
              <a:spcBef>
                <a:spcPts val="300"/>
              </a:spcBef>
              <a:spcAft>
                <a:spcPts val="0"/>
              </a:spcAft>
              <a:buClr>
                <a:srgbClr val="E4E4E7"/>
              </a:buClr>
              <a:buSzPts val="1900"/>
              <a:buFont typeface="Montserrat"/>
              <a:buChar char="●"/>
            </a:pPr>
            <a:r>
              <a:rPr lang="en-US" sz="1900">
                <a:solidFill>
                  <a:srgbClr val="E4E4E7"/>
                </a:solidFill>
                <a:latin typeface="Montserrat"/>
                <a:ea typeface="Montserrat"/>
                <a:cs typeface="Montserrat"/>
                <a:sym typeface="Montserrat"/>
              </a:rPr>
              <a:t>Primera C</a:t>
            </a:r>
            <a:endParaRPr sz="1900">
              <a:solidFill>
                <a:srgbClr val="E4E4E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49250" lvl="0" marL="457200" rtl="0" algn="l">
              <a:spcBef>
                <a:spcPts val="300"/>
              </a:spcBef>
              <a:spcAft>
                <a:spcPts val="0"/>
              </a:spcAft>
              <a:buClr>
                <a:srgbClr val="E4E4E7"/>
              </a:buClr>
              <a:buSzPts val="1900"/>
              <a:buFont typeface="Montserrat"/>
              <a:buChar char="●"/>
            </a:pPr>
            <a:r>
              <a:rPr lang="en-US" sz="1900">
                <a:solidFill>
                  <a:srgbClr val="E4E4E7"/>
                </a:solidFill>
                <a:latin typeface="Montserrat"/>
                <a:ea typeface="Montserrat"/>
                <a:cs typeface="Montserrat"/>
                <a:sym typeface="Montserrat"/>
              </a:rPr>
              <a:t>Federal A</a:t>
            </a:r>
            <a:endParaRPr sz="1900">
              <a:solidFill>
                <a:srgbClr val="E4E4E7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1" name="Google Shape;331;h6614320cb80fea18_0_2451"/>
          <p:cNvSpPr txBox="1"/>
          <p:nvPr/>
        </p:nvSpPr>
        <p:spPr>
          <a:xfrm>
            <a:off x="6758025" y="477900"/>
            <a:ext cx="4762500" cy="251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Escalamiento</a:t>
            </a:r>
            <a:endParaRPr b="1" sz="3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4D4D8"/>
                </a:solidFill>
                <a:latin typeface="Montserrat"/>
                <a:ea typeface="Montserrat"/>
                <a:cs typeface="Montserrat"/>
                <a:sym typeface="Montserrat"/>
              </a:rPr>
              <a:t>Capitalización de casos de éxito para penetrar orgánicamente.</a:t>
            </a:r>
            <a:endParaRPr sz="2000">
              <a:solidFill>
                <a:srgbClr val="D4D4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9CA3A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Ligas de Expansión:</a:t>
            </a:r>
            <a:endParaRPr sz="1800">
              <a:solidFill>
                <a:srgbClr val="9CA3A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49250" lvl="0" marL="457200" rtl="0" algn="l">
              <a:spcBef>
                <a:spcPts val="450"/>
              </a:spcBef>
              <a:spcAft>
                <a:spcPts val="0"/>
              </a:spcAft>
              <a:buClr>
                <a:srgbClr val="34D399"/>
              </a:buClr>
              <a:buSzPts val="1900"/>
              <a:buFont typeface="Montserrat"/>
              <a:buChar char="●"/>
            </a:pPr>
            <a:r>
              <a:rPr lang="en-US" sz="19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Primera Nacional</a:t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49250" lvl="0" marL="457200" rtl="0" algn="l">
              <a:spcBef>
                <a:spcPts val="300"/>
              </a:spcBef>
              <a:spcAft>
                <a:spcPts val="0"/>
              </a:spcAft>
              <a:buClr>
                <a:srgbClr val="34D399"/>
              </a:buClr>
              <a:buSzPts val="1900"/>
              <a:buFont typeface="Montserrat"/>
              <a:buChar char="●"/>
            </a:pPr>
            <a:r>
              <a:rPr lang="en-US" sz="19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 Profesional</a:t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700">
                <a:solidFill>
                  <a:srgbClr val="34D399"/>
                </a:solidFill>
                <a:latin typeface="Montserrat"/>
                <a:ea typeface="Montserrat"/>
                <a:cs typeface="Montserrat"/>
                <a:sym typeface="Montserrat"/>
              </a:rPr>
              <a:t>FASE 2</a:t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332" name="Google Shape;332;h6614320cb80fea18_0_2451"/>
          <p:cNvGrpSpPr/>
          <p:nvPr/>
        </p:nvGrpSpPr>
        <p:grpSpPr>
          <a:xfrm>
            <a:off x="8743950" y="3124200"/>
            <a:ext cx="790725" cy="797700"/>
            <a:chOff x="8743950" y="3124200"/>
            <a:chExt cx="790725" cy="797700"/>
          </a:xfrm>
        </p:grpSpPr>
        <p:pic>
          <p:nvPicPr>
            <p:cNvPr id="333" name="Google Shape;333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743950" y="31242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4" name="Google Shape;334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 rot="10800000">
              <a:off x="9134475" y="31266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5" name="Google Shape;335;h6614320cb80fea18_0_2451"/>
            <p:cNvSpPr/>
            <p:nvPr/>
          </p:nvSpPr>
          <p:spPr>
            <a:xfrm>
              <a:off x="9044025" y="3428850"/>
              <a:ext cx="190500" cy="190500"/>
            </a:xfrm>
            <a:prstGeom prst="ellipse">
              <a:avLst/>
            </a:prstGeom>
            <a:solidFill>
              <a:srgbClr val="34D39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7"/>
          <p:cNvSpPr/>
          <p:nvPr/>
        </p:nvSpPr>
        <p:spPr>
          <a:xfrm>
            <a:off x="571500" y="1619250"/>
            <a:ext cx="3429000" cy="4572000"/>
          </a:xfrm>
          <a:prstGeom prst="roundRect">
            <a:avLst>
              <a:gd fmla="val 4444" name="adj"/>
            </a:avLst>
          </a:prstGeom>
          <a:solidFill>
            <a:srgbClr val="F8FAFC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7"/>
          <p:cNvSpPr txBox="1"/>
          <p:nvPr/>
        </p:nvSpPr>
        <p:spPr>
          <a:xfrm>
            <a:off x="571500" y="476250"/>
            <a:ext cx="110490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Pricing basado en el valor</a:t>
            </a:r>
            <a:endParaRPr b="0" sz="4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42" name="Google Shape;342;p17"/>
          <p:cNvGrpSpPr/>
          <p:nvPr/>
        </p:nvGrpSpPr>
        <p:grpSpPr>
          <a:xfrm>
            <a:off x="4381500" y="1619250"/>
            <a:ext cx="3429000" cy="4572000"/>
            <a:chOff x="0" y="0"/>
            <a:chExt cx="3429000" cy="4572000"/>
          </a:xfrm>
        </p:grpSpPr>
        <p:sp>
          <p:nvSpPr>
            <p:cNvPr id="343" name="Google Shape;343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" name="Google Shape;345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published_with_changes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46" name="Google Shape;346;p17"/>
            <p:cNvSpPr txBox="1"/>
            <p:nvPr/>
          </p:nvSpPr>
          <p:spPr>
            <a:xfrm>
              <a:off x="304800" y="1123950"/>
              <a:ext cx="2882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4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Suscripción Híbrida</a:t>
              </a:r>
              <a:endParaRPr b="1" sz="244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47" name="Google Shape;347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48" name="Google Shape;348;p17"/>
            <p:cNvSpPr txBox="1"/>
            <p:nvPr/>
          </p:nvSpPr>
          <p:spPr>
            <a:xfrm>
              <a:off x="304800" y="1924050"/>
              <a:ext cx="2819400" cy="234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Abono mensual fijo + tarifas variables por cantidad de transacciones realizadas por la aplicación</a:t>
              </a:r>
              <a:endParaRPr sz="2300">
                <a:solidFill>
                  <a:srgbClr val="0F172A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grpSp>
        <p:nvGrpSpPr>
          <p:cNvPr id="349" name="Google Shape;349;p17"/>
          <p:cNvGrpSpPr/>
          <p:nvPr/>
        </p:nvGrpSpPr>
        <p:grpSpPr>
          <a:xfrm>
            <a:off x="8191500" y="1619250"/>
            <a:ext cx="3429000" cy="4572000"/>
            <a:chOff x="0" y="0"/>
            <a:chExt cx="3429000" cy="4572000"/>
          </a:xfrm>
        </p:grpSpPr>
        <p:sp>
          <p:nvSpPr>
            <p:cNvPr id="350" name="Google Shape;350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" name="Google Shape;351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campaign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53" name="Google Shape;353;p17"/>
            <p:cNvSpPr txBox="1"/>
            <p:nvPr/>
          </p:nvSpPr>
          <p:spPr>
            <a:xfrm>
              <a:off x="304800" y="1123950"/>
              <a:ext cx="2819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Marketplace CPA</a:t>
              </a:r>
              <a:endParaRPr b="1" sz="2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54" name="Google Shape;354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55" name="Google Shape;355;p17"/>
            <p:cNvSpPr txBox="1"/>
            <p:nvPr/>
          </p:nvSpPr>
          <p:spPr>
            <a:xfrm>
              <a:off x="304800" y="1924050"/>
              <a:ext cx="2819400" cy="234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Monetización publicitaria en la aplicación móvil</a:t>
              </a:r>
              <a:endParaRPr sz="23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300">
                <a:solidFill>
                  <a:srgbClr val="0F172A"/>
                </a:solidFill>
                <a:highlight>
                  <a:srgbClr val="FFFFFF"/>
                </a:highlight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356" name="Google Shape;356;p17"/>
          <p:cNvSpPr/>
          <p:nvPr/>
        </p:nvSpPr>
        <p:spPr>
          <a:xfrm>
            <a:off x="876300" y="1924050"/>
            <a:ext cx="609600" cy="609600"/>
          </a:xfrm>
          <a:prstGeom prst="roundRect">
            <a:avLst>
              <a:gd fmla="val 21875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7"/>
          <p:cNvSpPr txBox="1"/>
          <p:nvPr/>
        </p:nvSpPr>
        <p:spPr>
          <a:xfrm>
            <a:off x="876300" y="1967865"/>
            <a:ext cx="609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handshake</a:t>
            </a:r>
            <a:endParaRPr sz="3000">
              <a:solidFill>
                <a:srgbClr val="FFFFFF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358" name="Google Shape;358;p17"/>
          <p:cNvSpPr txBox="1"/>
          <p:nvPr/>
        </p:nvSpPr>
        <p:spPr>
          <a:xfrm>
            <a:off x="876300" y="2743200"/>
            <a:ext cx="28194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Setup Fee</a:t>
            </a:r>
            <a:endParaRPr b="1" sz="24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59" name="Google Shape;359;p17"/>
          <p:cNvSpPr txBox="1"/>
          <p:nvPr/>
        </p:nvSpPr>
        <p:spPr>
          <a:xfrm>
            <a:off x="876300" y="3543300"/>
            <a:ext cx="2819400" cy="9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23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Costo de configuración inicial</a:t>
            </a:r>
            <a:r>
              <a:rPr lang="en-US" sz="23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 de la plataforma</a:t>
            </a:r>
            <a:endParaRPr sz="2100">
              <a:solidFill>
                <a:srgbClr val="166534"/>
              </a:solidFill>
              <a:highlight>
                <a:srgbClr val="FFFFFF"/>
              </a:highlight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360" name="Google Shape;360;p17"/>
          <p:cNvCxnSpPr/>
          <p:nvPr/>
        </p:nvCxnSpPr>
        <p:spPr>
          <a:xfrm>
            <a:off x="876300" y="3352800"/>
            <a:ext cx="2819400" cy="0"/>
          </a:xfrm>
          <a:prstGeom prst="straightConnector1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61" name="Google Shape;361;p17"/>
          <p:cNvGrpSpPr/>
          <p:nvPr/>
        </p:nvGrpSpPr>
        <p:grpSpPr>
          <a:xfrm>
            <a:off x="856239" y="5106872"/>
            <a:ext cx="2819470" cy="991318"/>
            <a:chOff x="856200" y="4344675"/>
            <a:chExt cx="1549500" cy="544800"/>
          </a:xfrm>
        </p:grpSpPr>
        <p:sp>
          <p:nvSpPr>
            <p:cNvPr id="362" name="Google Shape;362;p17"/>
            <p:cNvSpPr/>
            <p:nvPr/>
          </p:nvSpPr>
          <p:spPr>
            <a:xfrm>
              <a:off x="876300" y="4378875"/>
              <a:ext cx="1509300" cy="476400"/>
            </a:xfrm>
            <a:prstGeom prst="roundRect">
              <a:avLst>
                <a:gd fmla="val 50000" name="adj"/>
              </a:avLst>
            </a:prstGeom>
            <a:solidFill>
              <a:srgbClr val="DCFCE7"/>
            </a:solidFill>
            <a:ln cap="flat" cmpd="sng" w="17325">
              <a:solidFill>
                <a:srgbClr val="86EFA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547"/>
            </a:p>
          </p:txBody>
        </p:sp>
        <p:sp>
          <p:nvSpPr>
            <p:cNvPr id="363" name="Google Shape;363;p17"/>
            <p:cNvSpPr txBox="1"/>
            <p:nvPr/>
          </p:nvSpPr>
          <p:spPr>
            <a:xfrm>
              <a:off x="856200" y="4344675"/>
              <a:ext cx="1549500" cy="54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47">
                  <a:solidFill>
                    <a:srgbClr val="16653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100% BONIFICADO PARA PRIMEROS CLIENTES</a:t>
              </a:r>
              <a:endParaRPr b="1" sz="1547">
                <a:solidFill>
                  <a:srgbClr val="166534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h6614320cb80fea18_0_3040"/>
          <p:cNvSpPr txBox="1"/>
          <p:nvPr/>
        </p:nvSpPr>
        <p:spPr>
          <a:xfrm>
            <a:off x="762000" y="571500"/>
            <a:ext cx="10668000" cy="615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F7F9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Proyección financiera base</a:t>
            </a:r>
            <a:endParaRPr b="0" sz="4000">
              <a:solidFill>
                <a:srgbClr val="F7F9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69" name="Google Shape;369;h6614320cb80fea18_0_3040"/>
          <p:cNvSpPr/>
          <p:nvPr/>
        </p:nvSpPr>
        <p:spPr>
          <a:xfrm>
            <a:off x="762038" y="1524000"/>
            <a:ext cx="10667700" cy="4572000"/>
          </a:xfrm>
          <a:prstGeom prst="roundRect">
            <a:avLst>
              <a:gd fmla="val 4166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h6614320cb80fea18_0_3040"/>
          <p:cNvSpPr/>
          <p:nvPr/>
        </p:nvSpPr>
        <p:spPr>
          <a:xfrm>
            <a:off x="1261200" y="1919400"/>
            <a:ext cx="9669600" cy="6834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h6614320cb80fea18_0_3040"/>
          <p:cNvSpPr txBox="1"/>
          <p:nvPr/>
        </p:nvSpPr>
        <p:spPr>
          <a:xfrm>
            <a:off x="955200" y="2022900"/>
            <a:ext cx="10474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12% Penetración conservadora (10 Clubes)</a:t>
            </a:r>
            <a:endParaRPr b="1" sz="3400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2" name="Google Shape;372;h6614320cb80fea18_0_3040"/>
          <p:cNvSpPr txBox="1"/>
          <p:nvPr/>
        </p:nvSpPr>
        <p:spPr>
          <a:xfrm>
            <a:off x="1567095" y="3106950"/>
            <a:ext cx="40476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6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$48k</a:t>
            </a:r>
            <a:r>
              <a:rPr b="0" lang="en-US" sz="7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r>
              <a:rPr b="0" lang="en-US" sz="3600">
                <a:solidFill>
                  <a:srgbClr val="0284C7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USD</a:t>
            </a:r>
            <a:endParaRPr b="0" sz="76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73" name="Google Shape;373;h6614320cb80fea18_0_3040"/>
          <p:cNvGrpSpPr/>
          <p:nvPr/>
        </p:nvGrpSpPr>
        <p:grpSpPr>
          <a:xfrm>
            <a:off x="5957559" y="2848598"/>
            <a:ext cx="4667241" cy="1922811"/>
            <a:chOff x="5924559" y="2848598"/>
            <a:chExt cx="4667241" cy="1922811"/>
          </a:xfrm>
        </p:grpSpPr>
        <p:grpSp>
          <p:nvGrpSpPr>
            <p:cNvPr id="374" name="Google Shape;374;h6614320cb80fea18_0_3040"/>
            <p:cNvGrpSpPr/>
            <p:nvPr/>
          </p:nvGrpSpPr>
          <p:grpSpPr>
            <a:xfrm>
              <a:off x="5924559" y="2848598"/>
              <a:ext cx="1798701" cy="1922811"/>
              <a:chOff x="6953250" y="2857500"/>
              <a:chExt cx="762000" cy="814578"/>
            </a:xfrm>
          </p:grpSpPr>
          <p:sp>
            <p:nvSpPr>
              <p:cNvPr id="375" name="Google Shape;375;h6614320cb80fea18_0_3040"/>
              <p:cNvSpPr/>
              <p:nvPr/>
            </p:nvSpPr>
            <p:spPr>
              <a:xfrm>
                <a:off x="6953250" y="2857500"/>
                <a:ext cx="762000" cy="762000"/>
              </a:xfrm>
              <a:prstGeom prst="ellipse">
                <a:avLst/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" name="Google Shape;376;h6614320cb80fea18_0_3040"/>
              <p:cNvSpPr txBox="1"/>
              <p:nvPr/>
            </p:nvSpPr>
            <p:spPr>
              <a:xfrm>
                <a:off x="6953250" y="2910078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8498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b="0" sz="8498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377" name="Google Shape;377;h6614320cb80fea18_0_3040"/>
            <p:cNvSpPr txBox="1"/>
            <p:nvPr/>
          </p:nvSpPr>
          <p:spPr>
            <a:xfrm>
              <a:off x="7899900" y="3128100"/>
              <a:ext cx="2691900" cy="136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730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+ Ingresos variables exponenciales</a:t>
              </a:r>
              <a:endParaRPr b="1" sz="273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78" name="Google Shape;378;h6614320cb80fea18_0_3040"/>
          <p:cNvSpPr txBox="1"/>
          <p:nvPr/>
        </p:nvSpPr>
        <p:spPr>
          <a:xfrm>
            <a:off x="3307650" y="5120700"/>
            <a:ext cx="55767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INGRESOS ANUALES</a:t>
            </a:r>
            <a:endParaRPr b="1" sz="3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9"/>
          <p:cNvSpPr txBox="1"/>
          <p:nvPr/>
        </p:nvSpPr>
        <p:spPr>
          <a:xfrm>
            <a:off x="3714750" y="952500"/>
            <a:ext cx="4762500" cy="153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DEMO</a:t>
            </a:r>
            <a:endParaRPr b="0" sz="10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84" name="Google Shape;384;p19"/>
          <p:cNvSpPr/>
          <p:nvPr/>
        </p:nvSpPr>
        <p:spPr>
          <a:xfrm>
            <a:off x="1597500" y="3025450"/>
            <a:ext cx="8997000" cy="238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9"/>
          <p:cNvSpPr txBox="1"/>
          <p:nvPr/>
        </p:nvSpPr>
        <p:spPr>
          <a:xfrm>
            <a:off x="4450500" y="4937700"/>
            <a:ext cx="3291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 ACCIÓN</a:t>
            </a:r>
            <a:endParaRPr b="1" sz="4200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86" name="Google Shape;386;p19" title="texto.png"/>
          <p:cNvPicPr preferRelativeResize="0"/>
          <p:nvPr/>
        </p:nvPicPr>
        <p:blipFill rotWithShape="1">
          <a:blip r:embed="rId3">
            <a:alphaModFix/>
          </a:blip>
          <a:srcRect b="23437" l="0" r="0" t="25288"/>
          <a:stretch/>
        </p:blipFill>
        <p:spPr>
          <a:xfrm>
            <a:off x="2099425" y="3574625"/>
            <a:ext cx="7993150" cy="136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h6594a2e70c4c9f3_22_113"/>
          <p:cNvSpPr txBox="1"/>
          <p:nvPr/>
        </p:nvSpPr>
        <p:spPr>
          <a:xfrm>
            <a:off x="666750" y="476250"/>
            <a:ext cx="10858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6015">
                <a:solidFill>
                  <a:srgbClr val="F8FA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Próximos pasos</a:t>
            </a:r>
            <a:endParaRPr b="0" sz="3795">
              <a:solidFill>
                <a:srgbClr val="94A3B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2" name="Google Shape;392;h6594a2e70c4c9f3_22_113"/>
          <p:cNvSpPr/>
          <p:nvPr/>
        </p:nvSpPr>
        <p:spPr>
          <a:xfrm>
            <a:off x="169050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393" name="Google Shape;393;h6594a2e70c4c9f3_22_113"/>
          <p:cNvSpPr/>
          <p:nvPr/>
        </p:nvSpPr>
        <p:spPr>
          <a:xfrm>
            <a:off x="373425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h6594a2e70c4c9f3_22_113"/>
          <p:cNvSpPr txBox="1"/>
          <p:nvPr/>
        </p:nvSpPr>
        <p:spPr>
          <a:xfrm>
            <a:off x="373425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87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01</a:t>
            </a:r>
            <a:endParaRPr b="0" sz="1287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395" name="Google Shape;395;h6594a2e70c4c9f3_22_113"/>
          <p:cNvPicPr preferRelativeResize="0"/>
          <p:nvPr/>
        </p:nvPicPr>
        <p:blipFill rotWithShape="1">
          <a:blip r:embed="rId3">
            <a:alphaModFix/>
          </a:blip>
          <a:srcRect b="1719" l="0" r="0" t="1728"/>
          <a:stretch/>
        </p:blipFill>
        <p:spPr>
          <a:xfrm>
            <a:off x="373425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h6594a2e70c4c9f3_22_113"/>
          <p:cNvSpPr txBox="1"/>
          <p:nvPr/>
        </p:nvSpPr>
        <p:spPr>
          <a:xfrm>
            <a:off x="373425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Protección Intelectual</a:t>
            </a:r>
            <a:endParaRPr b="1" sz="19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7" name="Google Shape;397;h6594a2e70c4c9f3_22_113"/>
          <p:cNvSpPr/>
          <p:nvPr/>
        </p:nvSpPr>
        <p:spPr>
          <a:xfrm>
            <a:off x="2580674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h6594a2e70c4c9f3_22_113"/>
          <p:cNvSpPr/>
          <p:nvPr/>
        </p:nvSpPr>
        <p:spPr>
          <a:xfrm>
            <a:off x="2785049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h6594a2e70c4c9f3_22_113"/>
          <p:cNvSpPr txBox="1"/>
          <p:nvPr/>
        </p:nvSpPr>
        <p:spPr>
          <a:xfrm>
            <a:off x="2785049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87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02</a:t>
            </a:r>
            <a:endParaRPr b="0" sz="1287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00" name="Google Shape;400;h6594a2e70c4c9f3_22_113"/>
          <p:cNvPicPr preferRelativeResize="0"/>
          <p:nvPr/>
        </p:nvPicPr>
        <p:blipFill rotWithShape="1">
          <a:blip r:embed="rId4">
            <a:alphaModFix/>
          </a:blip>
          <a:srcRect b="0" l="8567" r="8576" t="0"/>
          <a:stretch/>
        </p:blipFill>
        <p:spPr>
          <a:xfrm>
            <a:off x="2785049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h6594a2e70c4c9f3_22_113"/>
          <p:cNvSpPr txBox="1"/>
          <p:nvPr/>
        </p:nvSpPr>
        <p:spPr>
          <a:xfrm>
            <a:off x="2785049" y="3945395"/>
            <a:ext cx="17985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Gestión de Grupo Familiar</a:t>
            </a:r>
            <a:endParaRPr b="1" sz="19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2" name="Google Shape;402;h6594a2e70c4c9f3_22_113"/>
          <p:cNvSpPr/>
          <p:nvPr/>
        </p:nvSpPr>
        <p:spPr>
          <a:xfrm>
            <a:off x="4992298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h6594a2e70c4c9f3_22_113"/>
          <p:cNvSpPr/>
          <p:nvPr/>
        </p:nvSpPr>
        <p:spPr>
          <a:xfrm>
            <a:off x="5196673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h6594a2e70c4c9f3_22_113"/>
          <p:cNvSpPr txBox="1"/>
          <p:nvPr/>
        </p:nvSpPr>
        <p:spPr>
          <a:xfrm>
            <a:off x="5196673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87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03</a:t>
            </a:r>
            <a:endParaRPr b="0" sz="1287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05" name="Google Shape;405;h6594a2e70c4c9f3_22_113"/>
          <p:cNvSpPr txBox="1"/>
          <p:nvPr/>
        </p:nvSpPr>
        <p:spPr>
          <a:xfrm>
            <a:off x="5196673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19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Molinetes Físicos</a:t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6" name="Google Shape;406;h6594a2e70c4c9f3_22_113"/>
          <p:cNvSpPr/>
          <p:nvPr/>
        </p:nvSpPr>
        <p:spPr>
          <a:xfrm>
            <a:off x="7403922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h6594a2e70c4c9f3_22_113"/>
          <p:cNvSpPr/>
          <p:nvPr/>
        </p:nvSpPr>
        <p:spPr>
          <a:xfrm>
            <a:off x="7608297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h6594a2e70c4c9f3_22_113"/>
          <p:cNvSpPr txBox="1"/>
          <p:nvPr/>
        </p:nvSpPr>
        <p:spPr>
          <a:xfrm>
            <a:off x="7608297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87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04</a:t>
            </a:r>
            <a:endParaRPr b="0" sz="1287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09" name="Google Shape;409;h6594a2e70c4c9f3_22_113"/>
          <p:cNvPicPr preferRelativeResize="0"/>
          <p:nvPr/>
        </p:nvPicPr>
        <p:blipFill rotWithShape="1">
          <a:blip r:embed="rId5">
            <a:alphaModFix/>
          </a:blip>
          <a:srcRect b="1719" l="0" r="0" t="1728"/>
          <a:stretch/>
        </p:blipFill>
        <p:spPr>
          <a:xfrm>
            <a:off x="7608297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h6594a2e70c4c9f3_22_113"/>
          <p:cNvSpPr txBox="1"/>
          <p:nvPr/>
        </p:nvSpPr>
        <p:spPr>
          <a:xfrm>
            <a:off x="7608297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19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Enrutamiento Financiero</a:t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1" name="Google Shape;411;h6594a2e70c4c9f3_22_113"/>
          <p:cNvSpPr/>
          <p:nvPr/>
        </p:nvSpPr>
        <p:spPr>
          <a:xfrm>
            <a:off x="9815546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412" name="Google Shape;412;h6594a2e70c4c9f3_22_113"/>
          <p:cNvSpPr/>
          <p:nvPr/>
        </p:nvSpPr>
        <p:spPr>
          <a:xfrm>
            <a:off x="10019921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h6594a2e70c4c9f3_22_113"/>
          <p:cNvSpPr txBox="1"/>
          <p:nvPr/>
        </p:nvSpPr>
        <p:spPr>
          <a:xfrm>
            <a:off x="10019921" y="2678274"/>
            <a:ext cx="408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87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05</a:t>
            </a:r>
            <a:endParaRPr b="0" sz="1287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14" name="Google Shape;414;h6594a2e70c4c9f3_22_113"/>
          <p:cNvPicPr preferRelativeResize="0"/>
          <p:nvPr/>
        </p:nvPicPr>
        <p:blipFill rotWithShape="1">
          <a:blip r:embed="rId6">
            <a:alphaModFix/>
          </a:blip>
          <a:srcRect b="6897" l="0" r="0" t="6897"/>
          <a:stretch/>
        </p:blipFill>
        <p:spPr>
          <a:xfrm>
            <a:off x="10019921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h6594a2e70c4c9f3_22_113"/>
          <p:cNvSpPr txBox="1"/>
          <p:nvPr/>
        </p:nvSpPr>
        <p:spPr>
          <a:xfrm>
            <a:off x="10019921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19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Despliegue Nativo</a:t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416" name="Google Shape;416;h6594a2e70c4c9f3_22_1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165912" y="3188939"/>
            <a:ext cx="347664" cy="4801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21" name="Google Shape;4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21"/>
          <p:cNvSpPr txBox="1"/>
          <p:nvPr/>
        </p:nvSpPr>
        <p:spPr>
          <a:xfrm>
            <a:off x="-1383548" y="2056029"/>
            <a:ext cx="14959103" cy="2788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Entonces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, ¿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Por qu</a:t>
            </a:r>
            <a:r>
              <a:rPr b="1" lang="en-US" sz="82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é</a:t>
            </a:r>
            <a:endParaRPr b="1" sz="8236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7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    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sz="2305"/>
          </a:p>
        </p:txBody>
      </p:sp>
      <p:pic>
        <p:nvPicPr>
          <p:cNvPr id="423" name="Google Shape;423;p21" title="texto.png"/>
          <p:cNvPicPr preferRelativeResize="0"/>
          <p:nvPr/>
        </p:nvPicPr>
        <p:blipFill rotWithShape="1">
          <a:blip r:embed="rId4">
            <a:alphaModFix/>
          </a:blip>
          <a:srcRect b="23437" l="0" r="0" t="25288"/>
          <a:stretch/>
        </p:blipFill>
        <p:spPr>
          <a:xfrm>
            <a:off x="1496250" y="3603275"/>
            <a:ext cx="7728325" cy="131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2"/>
          <p:cNvSpPr txBox="1"/>
          <p:nvPr/>
        </p:nvSpPr>
        <p:spPr>
          <a:xfrm>
            <a:off x="295275" y="2857500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Porque…</a:t>
            </a:r>
            <a:endParaRPr b="1" i="0" sz="7500" u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3" name="Google Shape;43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