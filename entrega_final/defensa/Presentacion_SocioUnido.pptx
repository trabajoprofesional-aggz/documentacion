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Play"/>
      <p:regular r:id="rId41"/>
      <p:bold r:id="rId42"/>
    </p:embeddedFont>
    <p:embeddedFont>
      <p:font typeface="Inter SemiBold"/>
      <p:regular r:id="rId43"/>
      <p:bold r:id="rId44"/>
      <p:italic r:id="rId45"/>
      <p:boldItalic r:id="rId46"/>
    </p:embeddedFont>
    <p:embeddedFont>
      <p:font typeface="Montserrat"/>
      <p:regular r:id="rId47"/>
      <p:bold r:id="rId48"/>
      <p:italic r:id="rId49"/>
      <p:boldItalic r:id="rId50"/>
    </p:embeddedFont>
    <p:embeddedFont>
      <p:font typeface="Inter"/>
      <p:regular r:id="rId51"/>
      <p:bold r:id="rId52"/>
      <p:italic r:id="rId53"/>
      <p:boldItalic r:id="rId54"/>
    </p:embeddedFont>
    <p:embeddedFont>
      <p:font typeface="Montserrat Medium"/>
      <p:regular r:id="rId55"/>
      <p:bold r:id="rId56"/>
      <p:italic r:id="rId57"/>
      <p:boldItalic r:id="rId58"/>
    </p:embeddedFont>
    <p:embeddedFont>
      <p:font typeface="Montserrat ExtraBold"/>
      <p:bold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561">
          <p15:clr>
            <a:srgbClr val="A4A3A4"/>
          </p15:clr>
        </p15:guide>
        <p15:guide id="3" pos="5120">
          <p15:clr>
            <a:srgbClr val="747775"/>
          </p15:clr>
        </p15:guide>
        <p15:guide id="4" pos="7680">
          <p15:clr>
            <a:srgbClr val="747775"/>
          </p15:clr>
        </p15:guide>
        <p15:guide id="5">
          <p15:clr>
            <a:srgbClr val="747775"/>
          </p15:clr>
        </p15:guide>
      </p15:sldGuideLst>
    </p:ext>
    <p:ext uri="GoogleSlidesCustomDataVersion2">
      <go:slidesCustomData xmlns:go="http://customooxmlschemas.google.com/" r:id="rId65" roundtripDataSignature="AMtx7miuJVndT2YZqvvGiJC1gh0DCg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561"/>
        <p:guide pos="5120"/>
        <p:guide pos="7680"/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boldItalic.fntdata"/><Relationship Id="rId42" Type="http://schemas.openxmlformats.org/officeDocument/2006/relationships/font" Target="fonts/Play-bold.fntdata"/><Relationship Id="rId41" Type="http://schemas.openxmlformats.org/officeDocument/2006/relationships/font" Target="fonts/Play-regular.fntdata"/><Relationship Id="rId44" Type="http://schemas.openxmlformats.org/officeDocument/2006/relationships/font" Target="fonts/InterSemiBold-bold.fntdata"/><Relationship Id="rId43" Type="http://schemas.openxmlformats.org/officeDocument/2006/relationships/font" Target="fonts/InterSemiBold-regular.fntdata"/><Relationship Id="rId46" Type="http://schemas.openxmlformats.org/officeDocument/2006/relationships/font" Target="fonts/InterSemiBold-boldItalic.fntdata"/><Relationship Id="rId45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ontserrat-bold.fntdata"/><Relationship Id="rId47" Type="http://schemas.openxmlformats.org/officeDocument/2006/relationships/font" Target="fonts/Montserrat-regular.fntdata"/><Relationship Id="rId49" Type="http://schemas.openxmlformats.org/officeDocument/2006/relationships/font" Target="fonts/Montserra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MontserratSemiBold-regular.fntdata"/><Relationship Id="rId36" Type="http://schemas.openxmlformats.org/officeDocument/2006/relationships/slide" Target="slides/slide30.xml"/><Relationship Id="rId39" Type="http://schemas.openxmlformats.org/officeDocument/2006/relationships/font" Target="fonts/MontserratSemiBold-italic.fntdata"/><Relationship Id="rId38" Type="http://schemas.openxmlformats.org/officeDocument/2006/relationships/font" Target="fonts/MontserratSemiBold-bold.fntdata"/><Relationship Id="rId62" Type="http://schemas.openxmlformats.org/officeDocument/2006/relationships/font" Target="fonts/InterMedium-bold.fntdata"/><Relationship Id="rId61" Type="http://schemas.openxmlformats.org/officeDocument/2006/relationships/font" Target="fonts/InterMedium-regular.fntdata"/><Relationship Id="rId20" Type="http://schemas.openxmlformats.org/officeDocument/2006/relationships/slide" Target="slides/slide14.xml"/><Relationship Id="rId64" Type="http://schemas.openxmlformats.org/officeDocument/2006/relationships/font" Target="fonts/InterMedium-boldItalic.fntdata"/><Relationship Id="rId63" Type="http://schemas.openxmlformats.org/officeDocument/2006/relationships/font" Target="fonts/InterMedium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MontserratExtraBold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nter-regular.fntdata"/><Relationship Id="rId50" Type="http://schemas.openxmlformats.org/officeDocument/2006/relationships/font" Target="fonts/Montserrat-boldItalic.fntdata"/><Relationship Id="rId53" Type="http://schemas.openxmlformats.org/officeDocument/2006/relationships/font" Target="fonts/Inter-italic.fntdata"/><Relationship Id="rId52" Type="http://schemas.openxmlformats.org/officeDocument/2006/relationships/font" Target="fonts/Inter-bold.fntdata"/><Relationship Id="rId11" Type="http://schemas.openxmlformats.org/officeDocument/2006/relationships/slide" Target="slides/slide5.xml"/><Relationship Id="rId55" Type="http://schemas.openxmlformats.org/officeDocument/2006/relationships/font" Target="fonts/MontserratMedium-regular.fntdata"/><Relationship Id="rId10" Type="http://schemas.openxmlformats.org/officeDocument/2006/relationships/slide" Target="slides/slide4.xml"/><Relationship Id="rId54" Type="http://schemas.openxmlformats.org/officeDocument/2006/relationships/font" Target="fonts/Inter-boldItalic.fntdata"/><Relationship Id="rId13" Type="http://schemas.openxmlformats.org/officeDocument/2006/relationships/slide" Target="slides/slide7.xml"/><Relationship Id="rId57" Type="http://schemas.openxmlformats.org/officeDocument/2006/relationships/font" Target="fonts/MontserratMedium-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Medium-bold.fntdata"/><Relationship Id="rId15" Type="http://schemas.openxmlformats.org/officeDocument/2006/relationships/slide" Target="slides/slide9.xml"/><Relationship Id="rId59" Type="http://schemas.openxmlformats.org/officeDocument/2006/relationships/font" Target="fonts/MontserratExtraBold-bold.fntdata"/><Relationship Id="rId14" Type="http://schemas.openxmlformats.org/officeDocument/2006/relationships/slide" Target="slides/slide8.xml"/><Relationship Id="rId58" Type="http://schemas.openxmlformats.org/officeDocument/2006/relationships/font" Target="fonts/Montserrat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4c478f6c840f279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4c478f6c840f279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6614320cb80fea18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h6614320cb80fea18_0_5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2cbbacd64be43a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2cbbacd64be43ae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5dcf4a5e61b7b94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5dcf4a5e61b7b94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2cbbacd64be43ae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h2cbbacd64be43ae2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2cbbacd64be43ae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h2cbbacd64be43ae2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2cbbacd64be43ae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h2cbbacd64be43ae2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2cbbacd64be43ae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h2cbbacd64be43ae2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2cbbacd64be43ae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h2cbbacd64be43ae2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2cbbacd64be43ae2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h2cbbacd64be43ae2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52211feb925dae3c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h52211feb925dae3c_1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h661f2e6144e1f62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h661f2e6144e1f622_0_3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h661f2e6144e1f62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h661f2e6144e1f622_0_11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661f2e6144e1f62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h661f2e6144e1f622_0_21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6614320cb80fea18_0_2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h6614320cb80fea18_0_20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h6614320cb80fea18_0_2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h6614320cb80fea18_0_24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h6614320cb80fea18_0_3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h6614320cb80fea18_0_30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h6594a2e70c4c9f3_2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h6594a2e70c4c9f3_22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661f2e6144e1f622_0_546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h661f2e6144e1f622_0_546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h661f2e6144e1f622_0_546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661f2e6144e1f622_0_550"/>
          <p:cNvSpPr txBox="1"/>
          <p:nvPr>
            <p:ph type="ctrTitle"/>
          </p:nvPr>
        </p:nvSpPr>
        <p:spPr>
          <a:xfrm>
            <a:off x="685818" y="2130425"/>
            <a:ext cx="77727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h661f2e6144e1f622_0_550"/>
          <p:cNvSpPr txBox="1"/>
          <p:nvPr>
            <p:ph idx="1" type="subTitle"/>
          </p:nvPr>
        </p:nvSpPr>
        <p:spPr>
          <a:xfrm>
            <a:off x="1371637" y="3886200"/>
            <a:ext cx="64011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h661f2e6144e1f622_0_550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h661f2e6144e1f622_0_550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h661f2e6144e1f622_0_550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661f2e6144e1f622_0_556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h661f2e6144e1f622_0_556"/>
          <p:cNvSpPr txBox="1"/>
          <p:nvPr>
            <p:ph idx="1" type="body"/>
          </p:nvPr>
        </p:nvSpPr>
        <p:spPr>
          <a:xfrm>
            <a:off x="457212" y="1600200"/>
            <a:ext cx="8229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h661f2e6144e1f622_0_556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h661f2e6144e1f622_0_556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h661f2e6144e1f622_0_556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661f2e6144e1f622_0_562"/>
          <p:cNvSpPr txBox="1"/>
          <p:nvPr>
            <p:ph type="title"/>
          </p:nvPr>
        </p:nvSpPr>
        <p:spPr>
          <a:xfrm>
            <a:off x="722332" y="4406900"/>
            <a:ext cx="77727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h661f2e6144e1f622_0_562"/>
          <p:cNvSpPr txBox="1"/>
          <p:nvPr>
            <p:ph idx="1" type="body"/>
          </p:nvPr>
        </p:nvSpPr>
        <p:spPr>
          <a:xfrm>
            <a:off x="722332" y="2906713"/>
            <a:ext cx="7772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h661f2e6144e1f622_0_562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h661f2e6144e1f622_0_562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h661f2e6144e1f622_0_562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661f2e6144e1f622_0_568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h661f2e6144e1f622_0_568"/>
          <p:cNvSpPr txBox="1"/>
          <p:nvPr>
            <p:ph idx="1" type="body"/>
          </p:nvPr>
        </p:nvSpPr>
        <p:spPr>
          <a:xfrm>
            <a:off x="457212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h661f2e6144e1f622_0_568"/>
          <p:cNvSpPr txBox="1"/>
          <p:nvPr>
            <p:ph idx="2" type="body"/>
          </p:nvPr>
        </p:nvSpPr>
        <p:spPr>
          <a:xfrm>
            <a:off x="4648324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h661f2e6144e1f622_0_568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h661f2e6144e1f622_0_568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h661f2e6144e1f622_0_568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661f2e6144e1f622_0_575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h661f2e6144e1f622_0_575"/>
          <p:cNvSpPr txBox="1"/>
          <p:nvPr>
            <p:ph idx="1" type="body"/>
          </p:nvPr>
        </p:nvSpPr>
        <p:spPr>
          <a:xfrm>
            <a:off x="457212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h661f2e6144e1f622_0_575"/>
          <p:cNvSpPr txBox="1"/>
          <p:nvPr>
            <p:ph idx="2" type="body"/>
          </p:nvPr>
        </p:nvSpPr>
        <p:spPr>
          <a:xfrm>
            <a:off x="457212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h661f2e6144e1f622_0_575"/>
          <p:cNvSpPr txBox="1"/>
          <p:nvPr>
            <p:ph idx="3" type="body"/>
          </p:nvPr>
        </p:nvSpPr>
        <p:spPr>
          <a:xfrm>
            <a:off x="4645149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h661f2e6144e1f622_0_575"/>
          <p:cNvSpPr txBox="1"/>
          <p:nvPr>
            <p:ph idx="4" type="body"/>
          </p:nvPr>
        </p:nvSpPr>
        <p:spPr>
          <a:xfrm>
            <a:off x="4645149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h661f2e6144e1f622_0_575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h661f2e6144e1f622_0_575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h661f2e6144e1f622_0_575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661f2e6144e1f622_0_584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h661f2e6144e1f622_0_584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h661f2e6144e1f622_0_584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h661f2e6144e1f622_0_584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661f2e6144e1f622_0_589"/>
          <p:cNvSpPr txBox="1"/>
          <p:nvPr>
            <p:ph type="title"/>
          </p:nvPr>
        </p:nvSpPr>
        <p:spPr>
          <a:xfrm>
            <a:off x="457212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h661f2e6144e1f622_0_589"/>
          <p:cNvSpPr txBox="1"/>
          <p:nvPr>
            <p:ph idx="1" type="body"/>
          </p:nvPr>
        </p:nvSpPr>
        <p:spPr>
          <a:xfrm>
            <a:off x="3575145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h661f2e6144e1f622_0_589"/>
          <p:cNvSpPr txBox="1"/>
          <p:nvPr>
            <p:ph idx="2" type="body"/>
          </p:nvPr>
        </p:nvSpPr>
        <p:spPr>
          <a:xfrm>
            <a:off x="457212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h661f2e6144e1f622_0_589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h661f2e6144e1f622_0_589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h661f2e6144e1f622_0_589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661f2e6144e1f622_0_596"/>
          <p:cNvSpPr txBox="1"/>
          <p:nvPr>
            <p:ph type="title"/>
          </p:nvPr>
        </p:nvSpPr>
        <p:spPr>
          <a:xfrm>
            <a:off x="1792336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h661f2e6144e1f622_0_596"/>
          <p:cNvSpPr/>
          <p:nvPr>
            <p:ph idx="2" type="pic"/>
          </p:nvPr>
        </p:nvSpPr>
        <p:spPr>
          <a:xfrm>
            <a:off x="1792336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661f2e6144e1f622_0_596"/>
          <p:cNvSpPr txBox="1"/>
          <p:nvPr>
            <p:ph idx="1" type="body"/>
          </p:nvPr>
        </p:nvSpPr>
        <p:spPr>
          <a:xfrm>
            <a:off x="1792336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h661f2e6144e1f622_0_596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h661f2e6144e1f622_0_596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h661f2e6144e1f622_0_596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61f2e6144e1f622_0_603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h661f2e6144e1f622_0_603"/>
          <p:cNvSpPr txBox="1"/>
          <p:nvPr>
            <p:ph idx="1" type="body"/>
          </p:nvPr>
        </p:nvSpPr>
        <p:spPr>
          <a:xfrm rot="5400000">
            <a:off x="2309032" y="-251700"/>
            <a:ext cx="4526100" cy="82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h661f2e6144e1f622_0_603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h661f2e6144e1f622_0_603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h661f2e6144e1f622_0_603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661f2e6144e1f622_0_609"/>
          <p:cNvSpPr txBox="1"/>
          <p:nvPr>
            <p:ph type="title"/>
          </p:nvPr>
        </p:nvSpPr>
        <p:spPr>
          <a:xfrm rot="5400000">
            <a:off x="4732582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h661f2e6144e1f622_0_609"/>
          <p:cNvSpPr txBox="1"/>
          <p:nvPr>
            <p:ph idx="1" type="body"/>
          </p:nvPr>
        </p:nvSpPr>
        <p:spPr>
          <a:xfrm rot="5400000">
            <a:off x="541373" y="190338"/>
            <a:ext cx="5851500" cy="6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h661f2e6144e1f622_0_609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h661f2e6144e1f622_0_609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h661f2e6144e1f622_0_609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61f2e6144e1f622_0_540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h661f2e6144e1f622_0_540"/>
          <p:cNvSpPr txBox="1"/>
          <p:nvPr>
            <p:ph idx="1" type="body"/>
          </p:nvPr>
        </p:nvSpPr>
        <p:spPr>
          <a:xfrm>
            <a:off x="457212" y="1600200"/>
            <a:ext cx="8229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h661f2e6144e1f622_0_540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h661f2e6144e1f622_0_540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h661f2e6144e1f622_0_540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0" Type="http://schemas.openxmlformats.org/officeDocument/2006/relationships/image" Target="../media/image15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47.png"/><Relationship Id="rId13" Type="http://schemas.openxmlformats.org/officeDocument/2006/relationships/image" Target="../media/image46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9" Type="http://schemas.openxmlformats.org/officeDocument/2006/relationships/image" Target="../media/image38.png"/><Relationship Id="rId15" Type="http://schemas.openxmlformats.org/officeDocument/2006/relationships/image" Target="../media/image54.png"/><Relationship Id="rId14" Type="http://schemas.openxmlformats.org/officeDocument/2006/relationships/image" Target="../media/image50.png"/><Relationship Id="rId17" Type="http://schemas.openxmlformats.org/officeDocument/2006/relationships/image" Target="../media/image56.png"/><Relationship Id="rId16" Type="http://schemas.openxmlformats.org/officeDocument/2006/relationships/image" Target="../media/image52.png"/><Relationship Id="rId5" Type="http://schemas.openxmlformats.org/officeDocument/2006/relationships/image" Target="../media/image43.png"/><Relationship Id="rId6" Type="http://schemas.openxmlformats.org/officeDocument/2006/relationships/image" Target="../media/image48.png"/><Relationship Id="rId18" Type="http://schemas.openxmlformats.org/officeDocument/2006/relationships/image" Target="../media/image53.png"/><Relationship Id="rId7" Type="http://schemas.openxmlformats.org/officeDocument/2006/relationships/image" Target="../media/image39.png"/><Relationship Id="rId8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8.png"/><Relationship Id="rId4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Relationship Id="rId4" Type="http://schemas.openxmlformats.org/officeDocument/2006/relationships/image" Target="../media/image59.png"/><Relationship Id="rId5" Type="http://schemas.openxmlformats.org/officeDocument/2006/relationships/image" Target="../media/image71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6.png"/><Relationship Id="rId4" Type="http://schemas.openxmlformats.org/officeDocument/2006/relationships/image" Target="../media/image63.png"/><Relationship Id="rId5" Type="http://schemas.openxmlformats.org/officeDocument/2006/relationships/image" Target="../media/image72.png"/><Relationship Id="rId6" Type="http://schemas.openxmlformats.org/officeDocument/2006/relationships/image" Target="../media/image6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3.png"/><Relationship Id="rId4" Type="http://schemas.openxmlformats.org/officeDocument/2006/relationships/image" Target="../media/image66.png"/><Relationship Id="rId5" Type="http://schemas.openxmlformats.org/officeDocument/2006/relationships/image" Target="../media/image75.png"/><Relationship Id="rId6" Type="http://schemas.openxmlformats.org/officeDocument/2006/relationships/image" Target="../media/image74.png"/><Relationship Id="rId7" Type="http://schemas.openxmlformats.org/officeDocument/2006/relationships/image" Target="../media/image7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7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h4c478f6c840f2799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78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138900" y="2857500"/>
            <a:ext cx="11757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¿</a:t>
            </a:r>
            <a:r>
              <a:rPr b="1" lang="en-US" sz="6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 QUÉ</a:t>
            </a:r>
            <a:r>
              <a:rPr b="1" i="0" lang="en-US" sz="7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</a:t>
            </a:r>
            <a:r>
              <a:rPr b="1" lang="en-US"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7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/>
          </a:p>
        </p:txBody>
      </p:sp>
      <p:pic>
        <p:nvPicPr>
          <p:cNvPr id="165" name="Google Shape;165;p2" title="Gemini_Generated_Image_ys9g3ys9g3ys9g3y-removebg-preview.png"/>
          <p:cNvPicPr preferRelativeResize="0"/>
          <p:nvPr/>
        </p:nvPicPr>
        <p:blipFill rotWithShape="1">
          <a:blip r:embed="rId3">
            <a:alphaModFix/>
          </a:blip>
          <a:srcRect b="28660" l="0" r="0" t="26565"/>
          <a:stretch/>
        </p:blipFill>
        <p:spPr>
          <a:xfrm>
            <a:off x="5197650" y="3053461"/>
            <a:ext cx="5709299" cy="8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025" y="136700"/>
            <a:ext cx="11705955" cy="658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 txBox="1"/>
          <p:nvPr/>
        </p:nvSpPr>
        <p:spPr>
          <a:xfrm>
            <a:off x="295275" y="571500"/>
            <a:ext cx="11601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El equipo</a:t>
            </a:r>
            <a:endParaRPr b="0" i="0" sz="4800" u="none" cap="none" strike="noStrike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295200" y="4013554"/>
            <a:ext cx="26199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26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Felipe Ascencio</a:t>
            </a:r>
            <a:endParaRPr sz="1371"/>
          </a:p>
        </p:txBody>
      </p:sp>
      <p:sp>
        <p:nvSpPr>
          <p:cNvPr id="173" name="Google Shape;173;p3"/>
          <p:cNvSpPr txBox="1"/>
          <p:nvPr/>
        </p:nvSpPr>
        <p:spPr>
          <a:xfrm>
            <a:off x="357582" y="5170608"/>
            <a:ext cx="24951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3" u="none" cap="none" strike="noStrike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VENTA &amp; QA</a:t>
            </a:r>
            <a:endParaRPr sz="1371"/>
          </a:p>
        </p:txBody>
      </p:sp>
      <p:pic>
        <p:nvPicPr>
          <p:cNvPr id="174" name="Google Shape;17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203" y="1495646"/>
            <a:ext cx="2332200" cy="2366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5" name="Google Shape;17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59" y="1455321"/>
            <a:ext cx="2332200" cy="2367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6" name="Google Shape;17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5774" y="1455321"/>
            <a:ext cx="2332200" cy="2378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7" name="Google Shape;17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4512" y="1443603"/>
            <a:ext cx="2355300" cy="2390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8" name="Google Shape;178;p3"/>
          <p:cNvSpPr txBox="1"/>
          <p:nvPr/>
        </p:nvSpPr>
        <p:spPr>
          <a:xfrm>
            <a:off x="3303487" y="4013554"/>
            <a:ext cx="26199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26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Axel Zielonka</a:t>
            </a:r>
            <a:endParaRPr b="1" i="0" sz="3526" u="none" cap="none" strike="noStrike">
              <a:solidFill>
                <a:srgbClr val="11111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3447489" y="5176030"/>
            <a:ext cx="24951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3" u="none" cap="none" strike="noStrike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FRONTEND &amp; MARCA</a:t>
            </a:r>
            <a:endParaRPr b="0" i="0" sz="1763" u="none" cap="none" strike="noStrike">
              <a:solidFill>
                <a:srgbClr val="11111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6311773" y="4019035"/>
            <a:ext cx="26199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26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Martín Guerrero</a:t>
            </a:r>
            <a:endParaRPr b="1" i="0" sz="3526" u="none" cap="none" strike="noStrike">
              <a:solidFill>
                <a:srgbClr val="11111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6374153" y="5176030"/>
            <a:ext cx="24951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3" u="none" cap="none" strike="noStrike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BACKEND &amp; IA</a:t>
            </a:r>
            <a:endParaRPr b="0" i="0" sz="1763" u="none" cap="none" strike="noStrike">
              <a:solidFill>
                <a:srgbClr val="11111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9423246" y="4034478"/>
            <a:ext cx="24135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26" u="none" cap="none" strike="noStrik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Lautaro Ghosn</a:t>
            </a:r>
            <a:endParaRPr b="1" i="0" sz="3526" u="none" cap="none" strike="noStrike">
              <a:solidFill>
                <a:srgbClr val="11111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9401699" y="5180541"/>
            <a:ext cx="24951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3" u="none" cap="none" strike="noStrike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rPr>
              <a:t>ARQUITECTURA &amp; DATOS</a:t>
            </a:r>
            <a:endParaRPr b="0" i="0" sz="1763" u="none" cap="none" strike="noStrike">
              <a:solidFill>
                <a:srgbClr val="11111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84" name="Google Shape;184;p3" title="logo.png"/>
          <p:cNvPicPr preferRelativeResize="0"/>
          <p:nvPr/>
        </p:nvPicPr>
        <p:blipFill rotWithShape="1">
          <a:blip r:embed="rId8">
            <a:alphaModFix/>
          </a:blip>
          <a:srcRect b="0" l="4771" r="0" t="0"/>
          <a:stretch/>
        </p:blipFill>
        <p:spPr>
          <a:xfrm>
            <a:off x="9177876" y="5723250"/>
            <a:ext cx="3057325" cy="116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3"/>
          <p:cNvCxnSpPr/>
          <p:nvPr/>
        </p:nvCxnSpPr>
        <p:spPr>
          <a:xfrm>
            <a:off x="795175" y="6378600"/>
            <a:ext cx="8294400" cy="114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6" name="Google Shape;186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" y="0"/>
            <a:ext cx="1213058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021" y="0"/>
            <a:ext cx="1213058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276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 txBox="1"/>
          <p:nvPr/>
        </p:nvSpPr>
        <p:spPr>
          <a:xfrm>
            <a:off x="982325" y="2919850"/>
            <a:ext cx="10227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El punto de encuentro</a:t>
            </a:r>
            <a:endParaRPr b="1" i="0" sz="5800" u="none" cap="none" strike="noStrike">
              <a:solidFill>
                <a:srgbClr val="F5F5F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2286000" y="4489964"/>
            <a:ext cx="7620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400" u="none" cap="none" strike="noStrike">
                <a:solidFill>
                  <a:srgbClr val="BFBFB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pasión por el </a:t>
            </a:r>
            <a:r>
              <a:rPr lang="en-US" sz="4400">
                <a:solidFill>
                  <a:srgbClr val="BFBFB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deporte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95" name="Google Shape;1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1099524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6614320cb80fea18_0_582"/>
          <p:cNvSpPr txBox="1"/>
          <p:nvPr/>
        </p:nvSpPr>
        <p:spPr>
          <a:xfrm>
            <a:off x="381000" y="428625"/>
            <a:ext cx="11430000" cy="13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Plata que los clubes dejan de ganar</a:t>
            </a:r>
            <a:endParaRPr b="1" sz="1800">
              <a:solidFill>
                <a:srgbClr val="E11D4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1" name="Google Shape;201;h6614320cb80fea18_0_582"/>
          <p:cNvGrpSpPr/>
          <p:nvPr/>
        </p:nvGrpSpPr>
        <p:grpSpPr>
          <a:xfrm>
            <a:off x="762000" y="1371700"/>
            <a:ext cx="3333900" cy="4819650"/>
            <a:chOff x="0" y="0"/>
            <a:chExt cx="3333900" cy="4191000"/>
          </a:xfrm>
        </p:grpSpPr>
        <p:sp>
          <p:nvSpPr>
            <p:cNvPr id="202" name="Google Shape;202;h6614320cb80fea18_0_582"/>
            <p:cNvSpPr/>
            <p:nvPr/>
          </p:nvSpPr>
          <p:spPr>
            <a:xfrm>
              <a:off x="0" y="0"/>
              <a:ext cx="3333900" cy="4191000"/>
            </a:xfrm>
            <a:prstGeom prst="roundRect">
              <a:avLst>
                <a:gd fmla="val 457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h6614320cb80fea18_0_582"/>
            <p:cNvSpPr/>
            <p:nvPr/>
          </p:nvSpPr>
          <p:spPr>
            <a:xfrm>
              <a:off x="0" y="0"/>
              <a:ext cx="3333900" cy="38100"/>
            </a:xfrm>
            <a:prstGeom prst="roundRect">
              <a:avLst>
                <a:gd fmla="val 5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h6614320cb80fea18_0_582"/>
            <p:cNvSpPr txBox="1"/>
            <p:nvPr/>
          </p:nvSpPr>
          <p:spPr>
            <a:xfrm>
              <a:off x="285750" y="285750"/>
              <a:ext cx="27624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E11D48"/>
                  </a:solidFill>
                  <a:highlight>
                    <a:srgbClr val="FFE4E6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money_off</a:t>
              </a:r>
              <a:r>
                <a:rPr b="0" lang="en-US" sz="2800">
                  <a:solidFill>
                    <a:srgbClr val="E11D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b="0" lang="en-US" sz="2200">
                  <a:solidFill>
                    <a:srgbClr val="E11D4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b="0" sz="2800">
                <a:solidFill>
                  <a:srgbClr val="E11D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Morosidad no detectada</a:t>
              </a:r>
              <a:endParaRPr b="0" sz="3500">
                <a:solidFill>
                  <a:srgbClr val="E11D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rgbClr val="E11D4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5" name="Google Shape;205;h6614320cb80fea18_0_582"/>
          <p:cNvGrpSpPr/>
          <p:nvPr/>
        </p:nvGrpSpPr>
        <p:grpSpPr>
          <a:xfrm>
            <a:off x="4429125" y="1371600"/>
            <a:ext cx="3333900" cy="4819650"/>
            <a:chOff x="0" y="0"/>
            <a:chExt cx="3333900" cy="4191000"/>
          </a:xfrm>
        </p:grpSpPr>
        <p:sp>
          <p:nvSpPr>
            <p:cNvPr id="206" name="Google Shape;206;h6614320cb80fea18_0_582"/>
            <p:cNvSpPr/>
            <p:nvPr/>
          </p:nvSpPr>
          <p:spPr>
            <a:xfrm>
              <a:off x="0" y="0"/>
              <a:ext cx="3333900" cy="4191000"/>
            </a:xfrm>
            <a:prstGeom prst="roundRect">
              <a:avLst>
                <a:gd fmla="val 457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h6614320cb80fea18_0_582"/>
            <p:cNvSpPr/>
            <p:nvPr/>
          </p:nvSpPr>
          <p:spPr>
            <a:xfrm>
              <a:off x="0" y="0"/>
              <a:ext cx="3333900" cy="38100"/>
            </a:xfrm>
            <a:prstGeom prst="roundRect">
              <a:avLst>
                <a:gd fmla="val 5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h6614320cb80fea18_0_582"/>
            <p:cNvSpPr txBox="1"/>
            <p:nvPr/>
          </p:nvSpPr>
          <p:spPr>
            <a:xfrm>
              <a:off x="285750" y="285750"/>
              <a:ext cx="27624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E11D48"/>
                  </a:solidFill>
                  <a:highlight>
                    <a:srgbClr val="FFE4E6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r>
                <a:rPr b="0" lang="en-US" sz="2800">
                  <a:solidFill>
                    <a:srgbClr val="E11D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b="0" lang="en-US" sz="2200">
                  <a:solidFill>
                    <a:srgbClr val="E11D4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b="0" sz="2800">
                <a:solidFill>
                  <a:srgbClr val="E11D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Fraude perimetral</a:t>
              </a:r>
              <a:endParaRPr b="0" sz="3500">
                <a:solidFill>
                  <a:srgbClr val="E11D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1000"/>
                </a:spcAft>
                <a:buNone/>
              </a:pPr>
              <a:r>
                <a:t/>
              </a:r>
              <a:endParaRPr sz="2000">
                <a:solidFill>
                  <a:srgbClr val="E11D4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9" name="Google Shape;209;h6614320cb80fea18_0_582"/>
          <p:cNvGrpSpPr/>
          <p:nvPr/>
        </p:nvGrpSpPr>
        <p:grpSpPr>
          <a:xfrm>
            <a:off x="8096250" y="1371700"/>
            <a:ext cx="3333900" cy="4819650"/>
            <a:chOff x="0" y="0"/>
            <a:chExt cx="3333900" cy="4191000"/>
          </a:xfrm>
        </p:grpSpPr>
        <p:sp>
          <p:nvSpPr>
            <p:cNvPr id="210" name="Google Shape;210;h6614320cb80fea18_0_582"/>
            <p:cNvSpPr/>
            <p:nvPr/>
          </p:nvSpPr>
          <p:spPr>
            <a:xfrm>
              <a:off x="0" y="0"/>
              <a:ext cx="3333900" cy="4191000"/>
            </a:xfrm>
            <a:prstGeom prst="roundRect">
              <a:avLst>
                <a:gd fmla="val 457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h6614320cb80fea18_0_582"/>
            <p:cNvSpPr/>
            <p:nvPr/>
          </p:nvSpPr>
          <p:spPr>
            <a:xfrm>
              <a:off x="0" y="0"/>
              <a:ext cx="3333900" cy="38100"/>
            </a:xfrm>
            <a:prstGeom prst="roundRect">
              <a:avLst>
                <a:gd fmla="val 5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h6614320cb80fea18_0_582"/>
            <p:cNvSpPr txBox="1"/>
            <p:nvPr/>
          </p:nvSpPr>
          <p:spPr>
            <a:xfrm>
              <a:off x="285750" y="285750"/>
              <a:ext cx="27624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E11D48"/>
                  </a:solidFill>
                  <a:highlight>
                    <a:srgbClr val="FFE4E6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domain_disabled</a:t>
              </a:r>
              <a:r>
                <a:rPr b="0" lang="en-US" sz="2800">
                  <a:solidFill>
                    <a:srgbClr val="E11D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b="0" lang="en-US" sz="2200">
                  <a:solidFill>
                    <a:srgbClr val="E11D4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03</a:t>
              </a:r>
              <a:endParaRPr b="0" sz="2800">
                <a:solidFill>
                  <a:srgbClr val="E11D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Activos subutilizados</a:t>
              </a:r>
              <a:endParaRPr b="0" sz="3500">
                <a:solidFill>
                  <a:srgbClr val="E11D4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E11D4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13" name="Google Shape;213;h6614320cb80fea18_0_5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050" y="3283550"/>
            <a:ext cx="2896050" cy="282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h6614320cb80fea18_0_582"/>
          <p:cNvPicPr preferRelativeResize="0"/>
          <p:nvPr/>
        </p:nvPicPr>
        <p:blipFill rotWithShape="1">
          <a:blip r:embed="rId5">
            <a:alphaModFix/>
          </a:blip>
          <a:srcRect b="4073" l="13023" r="24368" t="9264"/>
          <a:stretch/>
        </p:blipFill>
        <p:spPr>
          <a:xfrm>
            <a:off x="980925" y="3356275"/>
            <a:ext cx="2896050" cy="267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h6614320cb80fea18_0_582"/>
          <p:cNvPicPr preferRelativeResize="0"/>
          <p:nvPr/>
        </p:nvPicPr>
        <p:blipFill rotWithShape="1">
          <a:blip r:embed="rId6">
            <a:alphaModFix/>
          </a:blip>
          <a:srcRect b="24024" l="0" r="0" t="0"/>
          <a:stretch/>
        </p:blipFill>
        <p:spPr>
          <a:xfrm>
            <a:off x="8315175" y="3319913"/>
            <a:ext cx="2896050" cy="274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77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6"/>
          <p:cNvSpPr txBox="1"/>
          <p:nvPr/>
        </p:nvSpPr>
        <p:spPr>
          <a:xfrm>
            <a:off x="571500" y="924588"/>
            <a:ext cx="5238900" cy="44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8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 "No te avientes a hacer algo sin validarlo antes, sin saber que hay un mercado para ello." 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571500" y="5773809"/>
            <a:ext cx="3164758" cy="315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3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5F5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MARCUS DANTUS</a:t>
            </a:r>
            <a:endParaRPr/>
          </a:p>
        </p:txBody>
      </p:sp>
      <p:pic>
        <p:nvPicPr>
          <p:cNvPr id="223" name="Google Shape;2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7716" y="-71949"/>
            <a:ext cx="4980730" cy="7001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2cbbacd64be43ae2_0_0"/>
          <p:cNvSpPr/>
          <p:nvPr/>
        </p:nvSpPr>
        <p:spPr>
          <a:xfrm>
            <a:off x="655320" y="1417319"/>
            <a:ext cx="10881300" cy="480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h2cbbacd64be43ae2_0_0"/>
          <p:cNvSpPr txBox="1"/>
          <p:nvPr/>
        </p:nvSpPr>
        <p:spPr>
          <a:xfrm>
            <a:off x="658368" y="362795"/>
            <a:ext cx="7598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1F3F"/>
                </a:solidFill>
                <a:latin typeface="Montserrat"/>
                <a:ea typeface="Montserrat"/>
                <a:cs typeface="Montserrat"/>
                <a:sym typeface="Montserrat"/>
              </a:rPr>
              <a:t>Un universo desatendido</a:t>
            </a:r>
            <a:endParaRPr b="1" i="0" sz="4400" u="none" cap="none" strike="noStrike">
              <a:solidFill>
                <a:srgbClr val="08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view_slide_1_pie.png" id="230" name="Google Shape;230;h2cbbacd64be43ae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576" y="1526202"/>
            <a:ext cx="4582876" cy="458285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h2cbbacd64be43ae2_0_0"/>
          <p:cNvSpPr txBox="1"/>
          <p:nvPr/>
        </p:nvSpPr>
        <p:spPr>
          <a:xfrm>
            <a:off x="2062237" y="2994990"/>
            <a:ext cx="129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81F3F"/>
                </a:solidFill>
                <a:latin typeface="Montserrat"/>
                <a:ea typeface="Montserrat"/>
                <a:cs typeface="Montserrat"/>
                <a:sym typeface="Montserrat"/>
              </a:rPr>
              <a:t>153</a:t>
            </a:r>
            <a:endParaRPr/>
          </a:p>
        </p:txBody>
      </p:sp>
      <p:sp>
        <p:nvSpPr>
          <p:cNvPr id="232" name="Google Shape;232;h2cbbacd64be43ae2_0_0"/>
          <p:cNvSpPr txBox="1"/>
          <p:nvPr/>
        </p:nvSpPr>
        <p:spPr>
          <a:xfrm>
            <a:off x="2113533" y="3842936"/>
            <a:ext cx="119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B6C7E"/>
                </a:solidFill>
                <a:latin typeface="Montserrat"/>
                <a:ea typeface="Montserrat"/>
                <a:cs typeface="Montserrat"/>
                <a:sym typeface="Montserrat"/>
              </a:rPr>
              <a:t>clubes</a:t>
            </a:r>
            <a:endParaRPr b="0" i="0" sz="2400" u="none" cap="none" strike="noStrike">
              <a:solidFill>
                <a:srgbClr val="5B6C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h2cbbacd64be43ae2_0_0"/>
          <p:cNvSpPr txBox="1"/>
          <p:nvPr/>
        </p:nvSpPr>
        <p:spPr>
          <a:xfrm>
            <a:off x="4892058" y="1682725"/>
            <a:ext cx="6267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A67E"/>
                </a:solidFill>
                <a:latin typeface="Montserrat"/>
                <a:ea typeface="Montserrat"/>
                <a:cs typeface="Montserrat"/>
                <a:sym typeface="Montserrat"/>
              </a:rPr>
              <a:t>Mercado inicial</a:t>
            </a:r>
            <a:endParaRPr b="1" i="0" sz="4000" u="none" cap="none" strike="noStrike">
              <a:solidFill>
                <a:srgbClr val="00A6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h2cbbacd64be43ae2_0_0"/>
          <p:cNvSpPr txBox="1"/>
          <p:nvPr/>
        </p:nvSpPr>
        <p:spPr>
          <a:xfrm>
            <a:off x="4892040" y="2353021"/>
            <a:ext cx="2746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81F3F"/>
                </a:solidFill>
                <a:latin typeface="Montserrat"/>
                <a:ea typeface="Montserrat"/>
                <a:cs typeface="Montserrat"/>
                <a:sym typeface="Montserrat"/>
              </a:rPr>
              <a:t>87 clubes</a:t>
            </a:r>
            <a:endParaRPr b="1" i="0" sz="4000" u="none" cap="none" strike="noStrike">
              <a:solidFill>
                <a:srgbClr val="08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h2cbbacd64be43ae2_0_0"/>
          <p:cNvSpPr txBox="1"/>
          <p:nvPr/>
        </p:nvSpPr>
        <p:spPr>
          <a:xfrm>
            <a:off x="4892040" y="3071082"/>
            <a:ext cx="6343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A67E"/>
                </a:solidFill>
                <a:latin typeface="Montserrat"/>
                <a:ea typeface="Montserrat"/>
                <a:cs typeface="Montserrat"/>
                <a:sym typeface="Montserrat"/>
              </a:rPr>
              <a:t>≈ 57% del universo de clubes</a:t>
            </a:r>
            <a:endParaRPr b="1" i="0" sz="3600" u="none" cap="none" strike="noStrike">
              <a:solidFill>
                <a:srgbClr val="00A6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h2cbbacd64be43ae2_0_0"/>
          <p:cNvSpPr/>
          <p:nvPr/>
        </p:nvSpPr>
        <p:spPr>
          <a:xfrm>
            <a:off x="4892040" y="4194048"/>
            <a:ext cx="5623500" cy="13800"/>
          </a:xfrm>
          <a:prstGeom prst="rect">
            <a:avLst/>
          </a:prstGeom>
          <a:solidFill>
            <a:srgbClr val="DEE6E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h2cbbacd64be43ae2_0_0"/>
          <p:cNvSpPr txBox="1"/>
          <p:nvPr/>
        </p:nvSpPr>
        <p:spPr>
          <a:xfrm>
            <a:off x="4892040" y="4197872"/>
            <a:ext cx="536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B6C7E"/>
                </a:solidFill>
                <a:latin typeface="Montserrat"/>
                <a:ea typeface="Montserrat"/>
                <a:cs typeface="Montserrat"/>
                <a:sym typeface="Montserrat"/>
              </a:rPr>
              <a:t>Fuera del alcance inicial</a:t>
            </a:r>
            <a:endParaRPr b="1" i="0" sz="3200" u="none" cap="none" strike="noStrike">
              <a:solidFill>
                <a:srgbClr val="5B6C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h2cbbacd64be43ae2_0_0"/>
          <p:cNvSpPr txBox="1"/>
          <p:nvPr/>
        </p:nvSpPr>
        <p:spPr>
          <a:xfrm>
            <a:off x="4892040" y="4678486"/>
            <a:ext cx="266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81F3F"/>
                </a:solidFill>
                <a:latin typeface="Montserrat"/>
                <a:ea typeface="Montserrat"/>
                <a:cs typeface="Montserrat"/>
                <a:sym typeface="Montserrat"/>
              </a:rPr>
              <a:t>66 </a:t>
            </a:r>
            <a:r>
              <a:rPr b="1" i="0" lang="en-US" sz="4000" u="none" cap="none" strike="noStrike">
                <a:solidFill>
                  <a:srgbClr val="081F3F"/>
                </a:solidFill>
                <a:latin typeface="Montserrat"/>
                <a:ea typeface="Montserrat"/>
                <a:cs typeface="Montserrat"/>
                <a:sym typeface="Montserrat"/>
              </a:rPr>
              <a:t>clubes</a:t>
            </a:r>
            <a:endParaRPr b="1" i="0" sz="3600" u="none" cap="none" strike="noStrike">
              <a:solidFill>
                <a:srgbClr val="08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h2cbbacd64be43ae2_0_0"/>
          <p:cNvSpPr txBox="1"/>
          <p:nvPr/>
        </p:nvSpPr>
        <p:spPr>
          <a:xfrm>
            <a:off x="4892040" y="5331278"/>
            <a:ext cx="28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83559"/>
                </a:solidFill>
                <a:latin typeface="Montserrat"/>
                <a:ea typeface="Montserrat"/>
                <a:cs typeface="Montserrat"/>
                <a:sym typeface="Montserrat"/>
              </a:rPr>
              <a:t>1ª y 2ª División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5dcf4a5e61b7b943_0_3"/>
          <p:cNvSpPr/>
          <p:nvPr/>
        </p:nvSpPr>
        <p:spPr>
          <a:xfrm>
            <a:off x="658368" y="1417320"/>
            <a:ext cx="10881300" cy="480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view_slide_2_pie.png" id="245" name="Google Shape;245;h5dcf4a5e61b7b943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804" y="1241791"/>
            <a:ext cx="4922521" cy="492252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h5dcf4a5e61b7b943_0_3"/>
          <p:cNvSpPr txBox="1"/>
          <p:nvPr/>
        </p:nvSpPr>
        <p:spPr>
          <a:xfrm>
            <a:off x="1721486" y="2823479"/>
            <a:ext cx="2153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1F3F"/>
                </a:solidFill>
                <a:latin typeface="Montserrat"/>
                <a:ea typeface="Montserrat"/>
                <a:cs typeface="Montserrat"/>
                <a:sym typeface="Montserrat"/>
              </a:rPr>
              <a:t>30.870</a:t>
            </a:r>
            <a:endParaRPr/>
          </a:p>
        </p:txBody>
      </p:sp>
      <p:sp>
        <p:nvSpPr>
          <p:cNvPr id="247" name="Google Shape;247;h5dcf4a5e61b7b943_0_3"/>
          <p:cNvSpPr txBox="1"/>
          <p:nvPr/>
        </p:nvSpPr>
        <p:spPr>
          <a:xfrm>
            <a:off x="1454368" y="3582662"/>
            <a:ext cx="26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6C7E"/>
                </a:solidFill>
                <a:latin typeface="Montserrat"/>
                <a:ea typeface="Montserrat"/>
                <a:cs typeface="Montserrat"/>
                <a:sym typeface="Montserrat"/>
              </a:rPr>
              <a:t>Clientes potenciales</a:t>
            </a:r>
            <a:endParaRPr b="1" i="0" sz="1800" u="none" cap="none" strike="noStrike">
              <a:solidFill>
                <a:srgbClr val="5B6C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h5dcf4a5e61b7b943_0_3"/>
          <p:cNvSpPr txBox="1"/>
          <p:nvPr/>
        </p:nvSpPr>
        <p:spPr>
          <a:xfrm>
            <a:off x="1885158" y="3879731"/>
            <a:ext cx="1726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A67E"/>
                </a:solidFill>
                <a:latin typeface="Montserrat"/>
                <a:ea typeface="Montserrat"/>
                <a:cs typeface="Montserrat"/>
                <a:sym typeface="Montserrat"/>
              </a:rPr>
              <a:t>99,2%</a:t>
            </a:r>
            <a:endParaRPr/>
          </a:p>
        </p:txBody>
      </p:sp>
      <p:sp>
        <p:nvSpPr>
          <p:cNvPr id="249" name="Google Shape;249;h5dcf4a5e61b7b943_0_3"/>
          <p:cNvSpPr txBox="1"/>
          <p:nvPr/>
        </p:nvSpPr>
        <p:spPr>
          <a:xfrm>
            <a:off x="4937760" y="1691862"/>
            <a:ext cx="606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A67E"/>
                </a:solidFill>
                <a:latin typeface="Montserrat"/>
                <a:ea typeface="Montserrat"/>
                <a:cs typeface="Montserrat"/>
                <a:sym typeface="Montserrat"/>
              </a:rPr>
              <a:t>Mercado objetivo ampliado</a:t>
            </a:r>
            <a:endParaRPr b="1" i="0" sz="3200" u="none" cap="none" strike="noStrike">
              <a:solidFill>
                <a:srgbClr val="00A67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h5dcf4a5e61b7b943_0_3"/>
          <p:cNvSpPr txBox="1"/>
          <p:nvPr/>
        </p:nvSpPr>
        <p:spPr>
          <a:xfrm>
            <a:off x="4937760" y="2175042"/>
            <a:ext cx="1923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81F3F"/>
                </a:solidFill>
                <a:latin typeface="Montserrat"/>
                <a:ea typeface="Montserrat"/>
                <a:cs typeface="Montserrat"/>
                <a:sym typeface="Montserrat"/>
              </a:rPr>
              <a:t>≈ 30.870</a:t>
            </a:r>
            <a:endParaRPr/>
          </a:p>
        </p:txBody>
      </p:sp>
      <p:sp>
        <p:nvSpPr>
          <p:cNvPr id="251" name="Google Shape;251;h5dcf4a5e61b7b943_0_3"/>
          <p:cNvSpPr txBox="1"/>
          <p:nvPr/>
        </p:nvSpPr>
        <p:spPr>
          <a:xfrm>
            <a:off x="4937760" y="2664471"/>
            <a:ext cx="497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83559"/>
                </a:solidFill>
                <a:latin typeface="Montserrat"/>
                <a:ea typeface="Montserrat"/>
                <a:cs typeface="Montserrat"/>
                <a:sym typeface="Montserrat"/>
              </a:rPr>
              <a:t>instituciones y complejos</a:t>
            </a:r>
            <a:endParaRPr b="1" i="0" sz="2800" u="none" cap="none" strike="noStrike">
              <a:solidFill>
                <a:srgbClr val="1835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h5dcf4a5e61b7b943_0_3"/>
          <p:cNvSpPr/>
          <p:nvPr/>
        </p:nvSpPr>
        <p:spPr>
          <a:xfrm>
            <a:off x="4892040" y="3310128"/>
            <a:ext cx="6513300" cy="612600"/>
          </a:xfrm>
          <a:prstGeom prst="roundRect">
            <a:avLst>
              <a:gd fmla="val 16667" name="adj"/>
            </a:avLst>
          </a:prstGeom>
          <a:solidFill>
            <a:srgbClr val="F5F8FB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h5dcf4a5e61b7b943_0_3"/>
          <p:cNvSpPr txBox="1"/>
          <p:nvPr/>
        </p:nvSpPr>
        <p:spPr>
          <a:xfrm>
            <a:off x="4884422" y="3322030"/>
            <a:ext cx="152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A67E"/>
                </a:solidFill>
                <a:latin typeface="Montserrat"/>
                <a:ea typeface="Montserrat"/>
                <a:cs typeface="Montserrat"/>
                <a:sym typeface="Montserrat"/>
              </a:rPr>
              <a:t>≈ 480</a:t>
            </a:r>
            <a:endParaRPr/>
          </a:p>
        </p:txBody>
      </p:sp>
      <p:sp>
        <p:nvSpPr>
          <p:cNvPr id="254" name="Google Shape;254;h5dcf4a5e61b7b943_0_3"/>
          <p:cNvSpPr txBox="1"/>
          <p:nvPr/>
        </p:nvSpPr>
        <p:spPr>
          <a:xfrm>
            <a:off x="6531833" y="3382155"/>
            <a:ext cx="283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83559"/>
                </a:solidFill>
                <a:latin typeface="Montserrat"/>
                <a:ea typeface="Montserrat"/>
                <a:cs typeface="Montserrat"/>
                <a:sym typeface="Montserrat"/>
              </a:rPr>
              <a:t>Clubes de fútbol</a:t>
            </a:r>
            <a:endParaRPr b="1" i="0" sz="2400" u="none" cap="none" strike="noStrike">
              <a:solidFill>
                <a:srgbClr val="1835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h5dcf4a5e61b7b943_0_3"/>
          <p:cNvSpPr/>
          <p:nvPr/>
        </p:nvSpPr>
        <p:spPr>
          <a:xfrm>
            <a:off x="4892039" y="4050791"/>
            <a:ext cx="6513300" cy="612600"/>
          </a:xfrm>
          <a:prstGeom prst="roundRect">
            <a:avLst>
              <a:gd fmla="val 16667" name="adj"/>
            </a:avLst>
          </a:prstGeom>
          <a:solidFill>
            <a:srgbClr val="F5F8FB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h5dcf4a5e61b7b943_0_3"/>
          <p:cNvSpPr txBox="1"/>
          <p:nvPr/>
        </p:nvSpPr>
        <p:spPr>
          <a:xfrm>
            <a:off x="4864823" y="4062828"/>
            <a:ext cx="206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97CF"/>
                </a:solidFill>
                <a:latin typeface="Montserrat"/>
                <a:ea typeface="Montserrat"/>
                <a:cs typeface="Montserrat"/>
                <a:sym typeface="Montserrat"/>
              </a:rPr>
              <a:t>≈ 21.500</a:t>
            </a:r>
            <a:endParaRPr/>
          </a:p>
        </p:txBody>
      </p:sp>
      <p:sp>
        <p:nvSpPr>
          <p:cNvPr id="257" name="Google Shape;257;h5dcf4a5e61b7b943_0_3"/>
          <p:cNvSpPr txBox="1"/>
          <p:nvPr/>
        </p:nvSpPr>
        <p:spPr>
          <a:xfrm>
            <a:off x="6843891" y="4137767"/>
            <a:ext cx="45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83559"/>
                </a:solidFill>
                <a:latin typeface="Montserrat"/>
                <a:ea typeface="Montserrat"/>
                <a:cs typeface="Montserrat"/>
                <a:sym typeface="Montserrat"/>
              </a:rPr>
              <a:t>C. Sociales/Multideportivos</a:t>
            </a:r>
            <a:endParaRPr b="1" i="0" sz="2400" u="none" cap="none" strike="noStrike">
              <a:solidFill>
                <a:srgbClr val="1835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h5dcf4a5e61b7b943_0_3"/>
          <p:cNvSpPr/>
          <p:nvPr/>
        </p:nvSpPr>
        <p:spPr>
          <a:xfrm>
            <a:off x="4892040" y="4791456"/>
            <a:ext cx="6513300" cy="612600"/>
          </a:xfrm>
          <a:prstGeom prst="roundRect">
            <a:avLst>
              <a:gd fmla="val 16667" name="adj"/>
            </a:avLst>
          </a:prstGeom>
          <a:solidFill>
            <a:srgbClr val="F5F8FB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h5dcf4a5e61b7b943_0_3"/>
          <p:cNvSpPr txBox="1"/>
          <p:nvPr/>
        </p:nvSpPr>
        <p:spPr>
          <a:xfrm>
            <a:off x="4892040" y="4769235"/>
            <a:ext cx="193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7E00"/>
                </a:solidFill>
                <a:latin typeface="Montserrat"/>
                <a:ea typeface="Montserrat"/>
                <a:cs typeface="Montserrat"/>
                <a:sym typeface="Montserrat"/>
              </a:rPr>
              <a:t>≈ 8.890</a:t>
            </a:r>
            <a:endParaRPr/>
          </a:p>
        </p:txBody>
      </p:sp>
      <p:sp>
        <p:nvSpPr>
          <p:cNvPr id="260" name="Google Shape;260;h5dcf4a5e61b7b943_0_3"/>
          <p:cNvSpPr txBox="1"/>
          <p:nvPr/>
        </p:nvSpPr>
        <p:spPr>
          <a:xfrm>
            <a:off x="6822377" y="4878430"/>
            <a:ext cx="469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83559"/>
                </a:solidFill>
                <a:latin typeface="Montserrat"/>
                <a:ea typeface="Montserrat"/>
                <a:cs typeface="Montserrat"/>
                <a:sym typeface="Montserrat"/>
              </a:rPr>
              <a:t>Barrios privados y countries</a:t>
            </a:r>
            <a:endParaRPr/>
          </a:p>
        </p:txBody>
      </p:sp>
      <p:sp>
        <p:nvSpPr>
          <p:cNvPr id="261" name="Google Shape;261;h5dcf4a5e61b7b943_0_3"/>
          <p:cNvSpPr txBox="1"/>
          <p:nvPr/>
        </p:nvSpPr>
        <p:spPr>
          <a:xfrm>
            <a:off x="658375" y="362800"/>
            <a:ext cx="7798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1F3F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b="1" lang="en-US" sz="4400">
                <a:solidFill>
                  <a:srgbClr val="081F3F"/>
                </a:solidFill>
                <a:latin typeface="Montserrat"/>
                <a:ea typeface="Montserrat"/>
                <a:cs typeface="Montserrat"/>
                <a:sym typeface="Montserrat"/>
              </a:rPr>
              <a:t>horizonte sin fronteras</a:t>
            </a:r>
            <a:endParaRPr b="1" i="0" sz="4400" u="none" cap="none" strike="noStrike">
              <a:solidFill>
                <a:srgbClr val="081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2" name="Google Shape;262;h5dcf4a5e61b7b943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4491" y="5521547"/>
            <a:ext cx="1115987" cy="6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h5dcf4a5e61b7b943_0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5268" y="5521550"/>
            <a:ext cx="1115975" cy="6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h5dcf4a5e61b7b943_0_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6043" y="5520475"/>
            <a:ext cx="1115975" cy="6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h5dcf4a5e61b7b943_0_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46818" y="5526470"/>
            <a:ext cx="1115974" cy="6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h5dcf4a5e61b7b943_0_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57593" y="5532100"/>
            <a:ext cx="1115974" cy="6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h5dcf4a5e61b7b943_0_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57418" y="5528900"/>
            <a:ext cx="1115975" cy="6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 txBox="1"/>
          <p:nvPr/>
        </p:nvSpPr>
        <p:spPr>
          <a:xfrm>
            <a:off x="571500" y="571500"/>
            <a:ext cx="11601450" cy="58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5F5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La brecha tecnológica</a:t>
            </a:r>
            <a:endParaRPr b="0" i="0" sz="4800" u="none" cap="none" strike="noStrike">
              <a:solidFill>
                <a:srgbClr val="F5F5F5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571425" y="2325690"/>
            <a:ext cx="52389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F5F5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120+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571500" y="4408140"/>
            <a:ext cx="5238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Clubes ignorados que operan a ciegas</a:t>
            </a:r>
            <a:endParaRPr i="0" sz="4000" u="none" cap="none" strike="noStrike">
              <a:solidFill>
                <a:srgbClr val="F5F5F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6381675" y="3792540"/>
            <a:ext cx="52389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El competidor principal solo abarca a ~25 instituciones de la élite.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277" name="Google Shape;2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675" y="1887540"/>
            <a:ext cx="523875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h2cbbacd64be43ae2_0_69"/>
          <p:cNvGrpSpPr/>
          <p:nvPr/>
        </p:nvGrpSpPr>
        <p:grpSpPr>
          <a:xfrm>
            <a:off x="1587300" y="1615325"/>
            <a:ext cx="9017432" cy="4800156"/>
            <a:chOff x="0" y="0"/>
            <a:chExt cx="4953000" cy="4572012"/>
          </a:xfrm>
        </p:grpSpPr>
        <p:sp>
          <p:nvSpPr>
            <p:cNvPr id="283" name="Google Shape;283;h2cbbacd64be43ae2_0_69"/>
            <p:cNvSpPr/>
            <p:nvPr/>
          </p:nvSpPr>
          <p:spPr>
            <a:xfrm>
              <a:off x="0" y="0"/>
              <a:ext cx="4953000" cy="4572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h2cbbacd64be43ae2_0_69"/>
            <p:cNvSpPr txBox="1"/>
            <p:nvPr/>
          </p:nvSpPr>
          <p:spPr>
            <a:xfrm>
              <a:off x="381000" y="3429012"/>
              <a:ext cx="41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800">
                  <a:solidFill>
                    <a:srgbClr val="1E293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Llevamos el MVP al terreno</a:t>
              </a:r>
              <a:endParaRPr b="0" sz="3800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285" name="Google Shape;285;h2cbbacd64be43ae2_0_69"/>
          <p:cNvSpPr txBox="1"/>
          <p:nvPr/>
        </p:nvSpPr>
        <p:spPr>
          <a:xfrm>
            <a:off x="762000" y="428625"/>
            <a:ext cx="10668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Directo en el territorio</a:t>
            </a:r>
            <a:endParaRPr b="1" sz="2200">
              <a:solidFill>
                <a:srgbClr val="0284C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Validación empírica</a:t>
            </a:r>
            <a:endParaRPr b="0" sz="42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86" name="Google Shape;286;h2cbbacd64be43ae2_0_69" title="talleres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2650" y="1690575"/>
            <a:ext cx="3849975" cy="38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h2cbbacd64be43ae2_0_69" title="club_ciudad.png"/>
          <p:cNvPicPr preferRelativeResize="0"/>
          <p:nvPr/>
        </p:nvPicPr>
        <p:blipFill rotWithShape="1">
          <a:blip r:embed="rId5">
            <a:alphaModFix/>
          </a:blip>
          <a:srcRect b="5551" l="0" r="0" t="4924"/>
          <a:stretch/>
        </p:blipFill>
        <p:spPr>
          <a:xfrm>
            <a:off x="6262625" y="1615330"/>
            <a:ext cx="3516725" cy="4035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2cbbacd64be43ae2_0_95"/>
          <p:cNvSpPr txBox="1"/>
          <p:nvPr/>
        </p:nvSpPr>
        <p:spPr>
          <a:xfrm>
            <a:off x="762000" y="428625"/>
            <a:ext cx="10668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Directo en el territorio</a:t>
            </a:r>
            <a:endParaRPr b="1" sz="2200">
              <a:solidFill>
                <a:srgbClr val="0284C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Validación empírica</a:t>
            </a:r>
            <a:endParaRPr b="0" sz="42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93" name="Google Shape;293;h2cbbacd64be43ae2_0_95"/>
          <p:cNvGrpSpPr/>
          <p:nvPr/>
        </p:nvGrpSpPr>
        <p:grpSpPr>
          <a:xfrm>
            <a:off x="84451" y="1970603"/>
            <a:ext cx="6325728" cy="3367309"/>
            <a:chOff x="1587300" y="1615325"/>
            <a:chExt cx="9017432" cy="4800156"/>
          </a:xfrm>
        </p:grpSpPr>
        <p:grpSp>
          <p:nvGrpSpPr>
            <p:cNvPr id="294" name="Google Shape;294;h2cbbacd64be43ae2_0_95"/>
            <p:cNvGrpSpPr/>
            <p:nvPr/>
          </p:nvGrpSpPr>
          <p:grpSpPr>
            <a:xfrm>
              <a:off x="1587300" y="1615325"/>
              <a:ext cx="9017432" cy="4800156"/>
              <a:chOff x="0" y="0"/>
              <a:chExt cx="4953000" cy="4572012"/>
            </a:xfrm>
          </p:grpSpPr>
          <p:sp>
            <p:nvSpPr>
              <p:cNvPr id="295" name="Google Shape;295;h2cbbacd64be43ae2_0_95"/>
              <p:cNvSpPr/>
              <p:nvPr/>
            </p:nvSpPr>
            <p:spPr>
              <a:xfrm>
                <a:off x="0" y="0"/>
                <a:ext cx="4953000" cy="4572000"/>
              </a:xfrm>
              <a:prstGeom prst="roundRect">
                <a:avLst>
                  <a:gd fmla="val 5000" name="adj"/>
                </a:avLst>
              </a:prstGeom>
              <a:solidFill>
                <a:srgbClr val="F8FAFC"/>
              </a:solidFill>
              <a:ln cap="flat" cmpd="sng" w="1337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h2cbbacd64be43ae2_0_95"/>
              <p:cNvSpPr txBox="1"/>
              <p:nvPr/>
            </p:nvSpPr>
            <p:spPr>
              <a:xfrm>
                <a:off x="381000" y="3429012"/>
                <a:ext cx="4191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666">
                    <a:solidFill>
                      <a:srgbClr val="1E293B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Llevamos el MVP al terreno</a:t>
                </a:r>
                <a:endParaRPr b="0" sz="2666">
                  <a:solidFill>
                    <a:srgbClr val="1E293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  <p:pic>
          <p:nvPicPr>
            <p:cNvPr id="297" name="Google Shape;297;h2cbbacd64be43ae2_0_95" title="talleres-removebg-preview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2650" y="1690575"/>
              <a:ext cx="3849975" cy="3849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h2cbbacd64be43ae2_0_95" title="club_ciudad.png"/>
            <p:cNvPicPr preferRelativeResize="0"/>
            <p:nvPr/>
          </p:nvPicPr>
          <p:blipFill rotWithShape="1">
            <a:blip r:embed="rId5">
              <a:alphaModFix/>
            </a:blip>
            <a:srcRect b="5551" l="0" r="0" t="4924"/>
            <a:stretch/>
          </p:blipFill>
          <p:spPr>
            <a:xfrm>
              <a:off x="6262625" y="1615330"/>
              <a:ext cx="3516725" cy="40352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h2cbbacd64be43ae2_0_95"/>
          <p:cNvSpPr/>
          <p:nvPr/>
        </p:nvSpPr>
        <p:spPr>
          <a:xfrm>
            <a:off x="6627325" y="3915538"/>
            <a:ext cx="5334000" cy="1572900"/>
          </a:xfrm>
          <a:prstGeom prst="roundRect">
            <a:avLst>
              <a:gd fmla="val 10256" name="adj"/>
            </a:avLst>
          </a:prstGeom>
          <a:solidFill>
            <a:srgbClr val="F0F9FF"/>
          </a:solidFill>
          <a:ln cap="flat" cmpd="sng" w="14300">
            <a:solidFill>
              <a:srgbClr val="C7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h2cbbacd64be43ae2_0_95"/>
          <p:cNvSpPr/>
          <p:nvPr/>
        </p:nvSpPr>
        <p:spPr>
          <a:xfrm>
            <a:off x="6627325" y="1820038"/>
            <a:ext cx="5334000" cy="1572900"/>
          </a:xfrm>
          <a:prstGeom prst="roundRect">
            <a:avLst>
              <a:gd fmla="val 10256" name="adj"/>
            </a:avLst>
          </a:prstGeom>
          <a:solidFill>
            <a:srgbClr val="FEF2F2"/>
          </a:solidFill>
          <a:ln cap="flat" cmpd="sng" w="143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2cbbacd64be43ae2_0_95"/>
          <p:cNvSpPr/>
          <p:nvPr/>
        </p:nvSpPr>
        <p:spPr>
          <a:xfrm>
            <a:off x="6627325" y="1820038"/>
            <a:ext cx="95400" cy="15729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h2cbbacd64be43ae2_0_95"/>
          <p:cNvSpPr/>
          <p:nvPr/>
        </p:nvSpPr>
        <p:spPr>
          <a:xfrm>
            <a:off x="7033775" y="2216938"/>
            <a:ext cx="815700" cy="779100"/>
          </a:xfrm>
          <a:prstGeom prst="ellipse">
            <a:avLst/>
          </a:prstGeom>
          <a:solidFill>
            <a:srgbClr val="EF4444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h2cbbacd64be43ae2_0_95"/>
          <p:cNvSpPr txBox="1"/>
          <p:nvPr/>
        </p:nvSpPr>
        <p:spPr>
          <a:xfrm>
            <a:off x="7017850" y="2210563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endParaRPr/>
          </a:p>
        </p:txBody>
      </p:sp>
      <p:sp>
        <p:nvSpPr>
          <p:cNvPr id="304" name="Google Shape;304;h2cbbacd64be43ae2_0_95"/>
          <p:cNvSpPr txBox="1"/>
          <p:nvPr/>
        </p:nvSpPr>
        <p:spPr>
          <a:xfrm>
            <a:off x="7939876" y="2106388"/>
            <a:ext cx="3829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rPr>
              <a:t>Confirmación de los puntos de dolor institucionales</a:t>
            </a:r>
            <a:endParaRPr sz="2400">
              <a:solidFill>
                <a:srgbClr val="4755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h2cbbacd64be43ae2_0_95"/>
          <p:cNvSpPr/>
          <p:nvPr/>
        </p:nvSpPr>
        <p:spPr>
          <a:xfrm>
            <a:off x="6627325" y="3915538"/>
            <a:ext cx="136800" cy="15729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h2cbbacd64be43ae2_0_95"/>
          <p:cNvSpPr txBox="1"/>
          <p:nvPr/>
        </p:nvSpPr>
        <p:spPr>
          <a:xfrm>
            <a:off x="7017850" y="4306063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ouch_app</a:t>
            </a:r>
            <a:endParaRPr/>
          </a:p>
        </p:txBody>
      </p:sp>
      <p:sp>
        <p:nvSpPr>
          <p:cNvPr id="307" name="Google Shape;307;h2cbbacd64be43ae2_0_95"/>
          <p:cNvSpPr txBox="1"/>
          <p:nvPr/>
        </p:nvSpPr>
        <p:spPr>
          <a:xfrm>
            <a:off x="7939875" y="4059088"/>
            <a:ext cx="40959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75985"/>
                </a:solidFill>
                <a:latin typeface="Montserrat"/>
                <a:ea typeface="Montserrat"/>
                <a:cs typeface="Montserrat"/>
                <a:sym typeface="Montserrat"/>
              </a:rPr>
              <a:t>Refinamiento UX / UI para minimizar la curva de aprendizaje</a:t>
            </a:r>
            <a:endParaRPr sz="2800">
              <a:solidFill>
                <a:srgbClr val="4755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h2cbbacd64be43ae2_0_95"/>
          <p:cNvSpPr/>
          <p:nvPr/>
        </p:nvSpPr>
        <p:spPr>
          <a:xfrm>
            <a:off x="7033775" y="4312438"/>
            <a:ext cx="815700" cy="779100"/>
          </a:xfrm>
          <a:prstGeom prst="ellipse">
            <a:avLst/>
          </a:prstGeom>
          <a:solidFill>
            <a:srgbClr val="C7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2cbbacd64be43ae2_0_138"/>
          <p:cNvSpPr/>
          <p:nvPr/>
        </p:nvSpPr>
        <p:spPr>
          <a:xfrm>
            <a:off x="6026150" y="0"/>
            <a:ext cx="6165900" cy="342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h2cbbacd64be43ae2_0_138"/>
          <p:cNvSpPr/>
          <p:nvPr/>
        </p:nvSpPr>
        <p:spPr>
          <a:xfrm>
            <a:off x="0" y="3429000"/>
            <a:ext cx="6026100" cy="342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h2cbbacd64be43ae2_0_138" title="Macbook-Air-web.sociounido.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25" y="284088"/>
            <a:ext cx="4973650" cy="286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h2cbbacd64be43ae2_0_138" title="Google-Pixel-6-PRO-control.sociounido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9837" y="3658050"/>
            <a:ext cx="1366426" cy="297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h2cbbacd64be43ae2_0_138" title="iPhone-14-PRO-app.sociounido.c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0175" y="229050"/>
            <a:ext cx="1457854" cy="2970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h2cbbacd64be43ae2_0_138"/>
          <p:cNvGrpSpPr/>
          <p:nvPr/>
        </p:nvGrpSpPr>
        <p:grpSpPr>
          <a:xfrm>
            <a:off x="8425917" y="3644901"/>
            <a:ext cx="1366363" cy="2997185"/>
            <a:chOff x="9123970" y="2197424"/>
            <a:chExt cx="2085413" cy="4574458"/>
          </a:xfrm>
        </p:grpSpPr>
        <p:pic>
          <p:nvPicPr>
            <p:cNvPr id="319" name="Google Shape;319;h2cbbacd64be43ae2_0_138" title="Google-Pixel-6-PRO-control.sociounido.co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123971" y="2237793"/>
              <a:ext cx="2085412" cy="4534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h2cbbacd64be43ae2_0_138" title="Google-Pixel-6-PRO-control.sociounido.com.png"/>
            <p:cNvPicPr preferRelativeResize="0"/>
            <p:nvPr/>
          </p:nvPicPr>
          <p:blipFill rotWithShape="1">
            <a:blip r:embed="rId4">
              <a:alphaModFix/>
            </a:blip>
            <a:srcRect b="97704" l="95661" r="0" t="0"/>
            <a:stretch/>
          </p:blipFill>
          <p:spPr>
            <a:xfrm>
              <a:off x="11118905" y="2237794"/>
              <a:ext cx="90478" cy="104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h2cbbacd64be43ae2_0_138" title="Google-Pixel-6-PRO-control.sociounido.com.png"/>
            <p:cNvPicPr preferRelativeResize="0"/>
            <p:nvPr/>
          </p:nvPicPr>
          <p:blipFill rotWithShape="1">
            <a:blip r:embed="rId4">
              <a:alphaModFix/>
            </a:blip>
            <a:srcRect b="98016" l="0" r="0" t="0"/>
            <a:stretch/>
          </p:blipFill>
          <p:spPr>
            <a:xfrm>
              <a:off x="9123970" y="2244860"/>
              <a:ext cx="2085413" cy="899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h2cbbacd64be43ae2_0_138" title="Google-Pixel-6-PRO-control.sociounido.com.png"/>
            <p:cNvPicPr preferRelativeResize="0"/>
            <p:nvPr/>
          </p:nvPicPr>
          <p:blipFill rotWithShape="1">
            <a:blip r:embed="rId4">
              <a:alphaModFix/>
            </a:blip>
            <a:srcRect b="0" l="0" r="97495" t="2229"/>
            <a:stretch/>
          </p:blipFill>
          <p:spPr>
            <a:xfrm rot="10800000">
              <a:off x="11109999" y="2197424"/>
              <a:ext cx="88851" cy="446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h2cbbacd64be43ae2_0_138" title="Screenshot_20260924-220234.png"/>
            <p:cNvPicPr preferRelativeResize="0"/>
            <p:nvPr/>
          </p:nvPicPr>
          <p:blipFill rotWithShape="1">
            <a:blip r:embed="rId6">
              <a:alphaModFix/>
            </a:blip>
            <a:srcRect b="1784" l="0" r="0" t="6742"/>
            <a:stretch/>
          </p:blipFill>
          <p:spPr>
            <a:xfrm>
              <a:off x="9162825" y="2335075"/>
              <a:ext cx="1966650" cy="4270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h2cbbacd64be43ae2_0_138" title="Google-Pixel-6-PRO-control.sociounido.com.png"/>
            <p:cNvPicPr preferRelativeResize="0"/>
            <p:nvPr/>
          </p:nvPicPr>
          <p:blipFill rotWithShape="1">
            <a:blip r:embed="rId4">
              <a:alphaModFix/>
            </a:blip>
            <a:srcRect b="0" l="0" r="97495" t="0"/>
            <a:stretch/>
          </p:blipFill>
          <p:spPr>
            <a:xfrm>
              <a:off x="9124450" y="2237800"/>
              <a:ext cx="79524" cy="45138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h2cbbacd64be43ae2_0_160" title="Macbook-Air-web.sociounido.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025" y="599850"/>
            <a:ext cx="9853926" cy="56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h2cbbacd64be43ae2_0_182" title="iPhone-14-PRO-app.sociounido.co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174" y="275225"/>
            <a:ext cx="3093574" cy="630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h2cbbacd64be43ae2_0_182" title="iPhone-14-PRO-app.sociounido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7438" y="275192"/>
            <a:ext cx="3093574" cy="6307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BFB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h2cbbacd64be43ae2_0_189" title="iPad-PRO-11-control.sociounido.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75" y="831800"/>
            <a:ext cx="7195074" cy="519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h2cbbacd64be43ae2_0_189"/>
          <p:cNvGrpSpPr/>
          <p:nvPr/>
        </p:nvGrpSpPr>
        <p:grpSpPr>
          <a:xfrm>
            <a:off x="8248967" y="185939"/>
            <a:ext cx="2956908" cy="6486124"/>
            <a:chOff x="9123970" y="2197424"/>
            <a:chExt cx="2085413" cy="4574458"/>
          </a:xfrm>
        </p:grpSpPr>
        <p:pic>
          <p:nvPicPr>
            <p:cNvPr id="342" name="Google Shape;342;h2cbbacd64be43ae2_0_189" title="Google-Pixel-6-PRO-control.sociounido.co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123971" y="2237793"/>
              <a:ext cx="2085412" cy="4534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h2cbbacd64be43ae2_0_189" title="Google-Pixel-6-PRO-control.sociounido.com.png"/>
            <p:cNvPicPr preferRelativeResize="0"/>
            <p:nvPr/>
          </p:nvPicPr>
          <p:blipFill rotWithShape="1">
            <a:blip r:embed="rId4">
              <a:alphaModFix/>
            </a:blip>
            <a:srcRect b="97704" l="95661" r="0" t="0"/>
            <a:stretch/>
          </p:blipFill>
          <p:spPr>
            <a:xfrm>
              <a:off x="11118905" y="2237794"/>
              <a:ext cx="90478" cy="104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h2cbbacd64be43ae2_0_189" title="Google-Pixel-6-PRO-control.sociounido.com.png"/>
            <p:cNvPicPr preferRelativeResize="0"/>
            <p:nvPr/>
          </p:nvPicPr>
          <p:blipFill rotWithShape="1">
            <a:blip r:embed="rId4">
              <a:alphaModFix/>
            </a:blip>
            <a:srcRect b="98016" l="0" r="0" t="0"/>
            <a:stretch/>
          </p:blipFill>
          <p:spPr>
            <a:xfrm>
              <a:off x="9123970" y="2244860"/>
              <a:ext cx="2085413" cy="899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h2cbbacd64be43ae2_0_189" title="Google-Pixel-6-PRO-control.sociounido.com.png"/>
            <p:cNvPicPr preferRelativeResize="0"/>
            <p:nvPr/>
          </p:nvPicPr>
          <p:blipFill rotWithShape="1">
            <a:blip r:embed="rId4">
              <a:alphaModFix/>
            </a:blip>
            <a:srcRect b="0" l="0" r="97495" t="2229"/>
            <a:stretch/>
          </p:blipFill>
          <p:spPr>
            <a:xfrm rot="10800000">
              <a:off x="11109999" y="2197424"/>
              <a:ext cx="88851" cy="446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h2cbbacd64be43ae2_0_189" title="Screenshot_20260924-220234.png"/>
            <p:cNvPicPr preferRelativeResize="0"/>
            <p:nvPr/>
          </p:nvPicPr>
          <p:blipFill rotWithShape="1">
            <a:blip r:embed="rId5">
              <a:alphaModFix/>
            </a:blip>
            <a:srcRect b="1784" l="0" r="0" t="6742"/>
            <a:stretch/>
          </p:blipFill>
          <p:spPr>
            <a:xfrm>
              <a:off x="9162825" y="2335075"/>
              <a:ext cx="1966650" cy="4270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h2cbbacd64be43ae2_0_189" title="Google-Pixel-6-PRO-control.sociounido.com.png"/>
            <p:cNvPicPr preferRelativeResize="0"/>
            <p:nvPr/>
          </p:nvPicPr>
          <p:blipFill rotWithShape="1">
            <a:blip r:embed="rId4">
              <a:alphaModFix/>
            </a:blip>
            <a:srcRect b="0" l="0" r="97495" t="0"/>
            <a:stretch/>
          </p:blipFill>
          <p:spPr>
            <a:xfrm>
              <a:off x="9124450" y="2237800"/>
              <a:ext cx="79524" cy="45138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12"/>
          <p:cNvGrpSpPr/>
          <p:nvPr/>
        </p:nvGrpSpPr>
        <p:grpSpPr>
          <a:xfrm>
            <a:off x="571500" y="1524000"/>
            <a:ext cx="11049000" cy="4476750"/>
            <a:chOff x="571500" y="1524000"/>
            <a:chExt cx="11049000" cy="4476750"/>
          </a:xfrm>
        </p:grpSpPr>
        <p:grpSp>
          <p:nvGrpSpPr>
            <p:cNvPr id="353" name="Google Shape;353;p12"/>
            <p:cNvGrpSpPr/>
            <p:nvPr/>
          </p:nvGrpSpPr>
          <p:grpSpPr>
            <a:xfrm>
              <a:off x="571500" y="1524000"/>
              <a:ext cx="5334000" cy="2095500"/>
              <a:chOff x="0" y="0"/>
              <a:chExt cx="5334000" cy="2095500"/>
            </a:xfrm>
          </p:grpSpPr>
          <p:sp>
            <p:nvSpPr>
              <p:cNvPr id="354" name="Google Shape;354;p12"/>
              <p:cNvSpPr/>
              <p:nvPr/>
            </p:nvSpPr>
            <p:spPr>
              <a:xfrm>
                <a:off x="0" y="0"/>
                <a:ext cx="5334000" cy="2095500"/>
              </a:xfrm>
              <a:prstGeom prst="roundRect">
                <a:avLst>
                  <a:gd fmla="val 7272" name="adj"/>
                </a:avLst>
              </a:prstGeom>
              <a:solidFill>
                <a:srgbClr val="181A20"/>
              </a:solidFill>
              <a:ln cap="flat" cmpd="sng" w="19050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2"/>
              <p:cNvSpPr/>
              <p:nvPr/>
            </p:nvSpPr>
            <p:spPr>
              <a:xfrm>
                <a:off x="304800" y="304800"/>
                <a:ext cx="571500" cy="571500"/>
              </a:xfrm>
              <a:prstGeom prst="roundRect">
                <a:avLst>
                  <a:gd fmla="val 20000" name="adj"/>
                </a:avLst>
              </a:prstGeom>
              <a:solidFill>
                <a:srgbClr val="0F2B4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2"/>
              <p:cNvSpPr txBox="1"/>
              <p:nvPr/>
            </p:nvSpPr>
            <p:spPr>
              <a:xfrm>
                <a:off x="304800" y="351536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trending_up</a:t>
                </a:r>
                <a:endParaRPr sz="3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57" name="Google Shape;357;p12"/>
              <p:cNvSpPr txBox="1"/>
              <p:nvPr/>
            </p:nvSpPr>
            <p:spPr>
              <a:xfrm>
                <a:off x="4286250" y="26670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380">
                    <a:solidFill>
                      <a:srgbClr val="38BDF8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01</a:t>
                </a:r>
                <a:endParaRPr b="0" i="0" sz="2380">
                  <a:solidFill>
                    <a:srgbClr val="38BD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endParaRPr>
              </a:p>
            </p:txBody>
          </p:sp>
          <p:sp>
            <p:nvSpPr>
              <p:cNvPr id="358" name="Google Shape;358;p12"/>
              <p:cNvSpPr txBox="1"/>
              <p:nvPr/>
            </p:nvSpPr>
            <p:spPr>
              <a:xfrm>
                <a:off x="304800" y="1066800"/>
                <a:ext cx="4724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Motor predictivo de morosidad</a:t>
                </a:r>
                <a:endParaRPr b="1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359" name="Google Shape;359;p12"/>
            <p:cNvGrpSpPr/>
            <p:nvPr/>
          </p:nvGrpSpPr>
          <p:grpSpPr>
            <a:xfrm>
              <a:off x="6286500" y="1524000"/>
              <a:ext cx="5334000" cy="2095500"/>
              <a:chOff x="0" y="0"/>
              <a:chExt cx="5334000" cy="2095500"/>
            </a:xfrm>
          </p:grpSpPr>
          <p:sp>
            <p:nvSpPr>
              <p:cNvPr id="360" name="Google Shape;360;p12"/>
              <p:cNvSpPr/>
              <p:nvPr/>
            </p:nvSpPr>
            <p:spPr>
              <a:xfrm>
                <a:off x="0" y="0"/>
                <a:ext cx="5334000" cy="2095500"/>
              </a:xfrm>
              <a:prstGeom prst="roundRect">
                <a:avLst>
                  <a:gd fmla="val 7272" name="adj"/>
                </a:avLst>
              </a:prstGeom>
              <a:solidFill>
                <a:srgbClr val="181A20"/>
              </a:solidFill>
              <a:ln cap="flat" cmpd="sng" w="19050">
                <a:solidFill>
                  <a:srgbClr val="818C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2"/>
              <p:cNvSpPr/>
              <p:nvPr/>
            </p:nvSpPr>
            <p:spPr>
              <a:xfrm>
                <a:off x="304800" y="304800"/>
                <a:ext cx="571500" cy="571500"/>
              </a:xfrm>
              <a:prstGeom prst="roundRect">
                <a:avLst>
                  <a:gd fmla="val 20000" name="adj"/>
                </a:avLst>
              </a:prstGeom>
              <a:solidFill>
                <a:srgbClr val="20245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2"/>
              <p:cNvSpPr txBox="1"/>
              <p:nvPr/>
            </p:nvSpPr>
            <p:spPr>
              <a:xfrm>
                <a:off x="304800" y="351536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>
                    <a:solidFill>
                      <a:srgbClr val="818C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account_balance</a:t>
                </a:r>
                <a:endParaRPr sz="3200">
                  <a:solidFill>
                    <a:srgbClr val="818C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63" name="Google Shape;363;p12"/>
              <p:cNvSpPr txBox="1"/>
              <p:nvPr/>
            </p:nvSpPr>
            <p:spPr>
              <a:xfrm>
                <a:off x="4286250" y="26670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380">
                    <a:solidFill>
                      <a:srgbClr val="818CF8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02</a:t>
                </a:r>
                <a:endParaRPr b="0" i="0" sz="2380">
                  <a:solidFill>
                    <a:srgbClr val="818CF8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endParaRPr>
              </a:p>
            </p:txBody>
          </p:sp>
          <p:sp>
            <p:nvSpPr>
              <p:cNvPr id="364" name="Google Shape;364;p12"/>
              <p:cNvSpPr txBox="1"/>
              <p:nvPr/>
            </p:nvSpPr>
            <p:spPr>
              <a:xfrm>
                <a:off x="304800" y="1066800"/>
                <a:ext cx="4724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Optimización de activos institucionales</a:t>
                </a:r>
                <a:endParaRPr b="1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365" name="Google Shape;365;p12"/>
            <p:cNvGrpSpPr/>
            <p:nvPr/>
          </p:nvGrpSpPr>
          <p:grpSpPr>
            <a:xfrm>
              <a:off x="571500" y="3905250"/>
              <a:ext cx="5334000" cy="2095500"/>
              <a:chOff x="0" y="0"/>
              <a:chExt cx="5334000" cy="2095500"/>
            </a:xfrm>
          </p:grpSpPr>
          <p:sp>
            <p:nvSpPr>
              <p:cNvPr id="366" name="Google Shape;366;p12"/>
              <p:cNvSpPr/>
              <p:nvPr/>
            </p:nvSpPr>
            <p:spPr>
              <a:xfrm>
                <a:off x="0" y="0"/>
                <a:ext cx="5334000" cy="2095500"/>
              </a:xfrm>
              <a:prstGeom prst="roundRect">
                <a:avLst>
                  <a:gd fmla="val 7272" name="adj"/>
                </a:avLst>
              </a:prstGeom>
              <a:solidFill>
                <a:srgbClr val="181A20"/>
              </a:solidFill>
              <a:ln cap="flat" cmpd="sng" w="19050">
                <a:solidFill>
                  <a:srgbClr val="F43F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2"/>
              <p:cNvSpPr/>
              <p:nvPr/>
            </p:nvSpPr>
            <p:spPr>
              <a:xfrm>
                <a:off x="304800" y="304800"/>
                <a:ext cx="571500" cy="571500"/>
              </a:xfrm>
              <a:prstGeom prst="roundRect">
                <a:avLst>
                  <a:gd fmla="val 20000" name="adj"/>
                </a:avLst>
              </a:prstGeom>
              <a:solidFill>
                <a:srgbClr val="3D172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2"/>
              <p:cNvSpPr txBox="1"/>
              <p:nvPr/>
            </p:nvSpPr>
            <p:spPr>
              <a:xfrm>
                <a:off x="304800" y="351536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>
                    <a:solidFill>
                      <a:srgbClr val="F43F5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32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69" name="Google Shape;369;p12"/>
              <p:cNvSpPr txBox="1"/>
              <p:nvPr/>
            </p:nvSpPr>
            <p:spPr>
              <a:xfrm>
                <a:off x="4286250" y="26670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380">
                    <a:solidFill>
                      <a:srgbClr val="F43F5E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03</a:t>
                </a:r>
                <a:endParaRPr b="0" i="0" sz="2380">
                  <a:solidFill>
                    <a:srgbClr val="F43F5E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endParaRPr>
              </a:p>
            </p:txBody>
          </p:sp>
          <p:sp>
            <p:nvSpPr>
              <p:cNvPr id="370" name="Google Shape;370;p12"/>
              <p:cNvSpPr txBox="1"/>
              <p:nvPr/>
            </p:nvSpPr>
            <p:spPr>
              <a:xfrm>
                <a:off x="304800" y="1066800"/>
                <a:ext cx="4724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Interacción cognitiva sin fricción</a:t>
                </a:r>
                <a:endParaRPr b="1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371" name="Google Shape;371;p12"/>
            <p:cNvGrpSpPr/>
            <p:nvPr/>
          </p:nvGrpSpPr>
          <p:grpSpPr>
            <a:xfrm>
              <a:off x="6286500" y="3905250"/>
              <a:ext cx="5334000" cy="2095500"/>
              <a:chOff x="0" y="0"/>
              <a:chExt cx="5334000" cy="2095500"/>
            </a:xfrm>
          </p:grpSpPr>
          <p:sp>
            <p:nvSpPr>
              <p:cNvPr id="372" name="Google Shape;372;p12"/>
              <p:cNvSpPr/>
              <p:nvPr/>
            </p:nvSpPr>
            <p:spPr>
              <a:xfrm>
                <a:off x="0" y="0"/>
                <a:ext cx="5334000" cy="2095500"/>
              </a:xfrm>
              <a:prstGeom prst="roundRect">
                <a:avLst>
                  <a:gd fmla="val 7272" name="adj"/>
                </a:avLst>
              </a:prstGeom>
              <a:solidFill>
                <a:srgbClr val="181A20"/>
              </a:solidFill>
              <a:ln cap="flat" cmpd="sng" w="19050">
                <a:solidFill>
                  <a:srgbClr val="34D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2"/>
              <p:cNvSpPr/>
              <p:nvPr/>
            </p:nvSpPr>
            <p:spPr>
              <a:xfrm>
                <a:off x="304800" y="304800"/>
                <a:ext cx="571500" cy="571500"/>
              </a:xfrm>
              <a:prstGeom prst="roundRect">
                <a:avLst>
                  <a:gd fmla="val 20000" name="adj"/>
                </a:avLst>
              </a:prstGeom>
              <a:solidFill>
                <a:srgbClr val="11332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2"/>
              <p:cNvSpPr txBox="1"/>
              <p:nvPr/>
            </p:nvSpPr>
            <p:spPr>
              <a:xfrm>
                <a:off x="304800" y="351536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>
                    <a:solidFill>
                      <a:srgbClr val="34D3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phonelink_lock</a:t>
                </a:r>
                <a:endParaRPr sz="3200">
                  <a:solidFill>
                    <a:srgbClr val="34D3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75" name="Google Shape;375;p12"/>
              <p:cNvSpPr txBox="1"/>
              <p:nvPr/>
            </p:nvSpPr>
            <p:spPr>
              <a:xfrm>
                <a:off x="4286250" y="26670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380">
                    <a:solidFill>
                      <a:srgbClr val="34D399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04</a:t>
                </a:r>
                <a:endParaRPr b="0" i="0" sz="2380">
                  <a:solidFill>
                    <a:srgbClr val="34D399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endParaRPr>
              </a:p>
            </p:txBody>
          </p:sp>
          <p:sp>
            <p:nvSpPr>
              <p:cNvPr id="376" name="Google Shape;376;p12"/>
              <p:cNvSpPr txBox="1"/>
              <p:nvPr/>
            </p:nvSpPr>
            <p:spPr>
              <a:xfrm>
                <a:off x="304800" y="1066800"/>
                <a:ext cx="4724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Acceso inteligente TOTP 100% offline</a:t>
                </a:r>
                <a:endParaRPr b="1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377" name="Google Shape;377;p12"/>
          <p:cNvSpPr txBox="1"/>
          <p:nvPr/>
        </p:nvSpPr>
        <p:spPr>
          <a:xfrm>
            <a:off x="571500" y="476250"/>
            <a:ext cx="11049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Ejes de innovación y disrupción</a:t>
            </a:r>
            <a:endParaRPr b="0" sz="42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h52211feb925dae3c_10_7"/>
          <p:cNvSpPr txBox="1"/>
          <p:nvPr/>
        </p:nvSpPr>
        <p:spPr>
          <a:xfrm>
            <a:off x="1215900" y="475500"/>
            <a:ext cx="97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¿Cómo está construido SocioUnido?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83" name="Google Shape;383;h52211feb925dae3c_10_7"/>
          <p:cNvSpPr/>
          <p:nvPr/>
        </p:nvSpPr>
        <p:spPr>
          <a:xfrm>
            <a:off x="167640" y="1783080"/>
            <a:ext cx="1280100" cy="13716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h52211feb925dae3c_10_7"/>
          <p:cNvSpPr/>
          <p:nvPr/>
        </p:nvSpPr>
        <p:spPr>
          <a:xfrm>
            <a:off x="579120" y="1929384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EAEC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iente" id="385" name="Google Shape;385;h52211feb925dae3c_1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844" y="200710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h52211feb925dae3c_10_7"/>
          <p:cNvSpPr txBox="1"/>
          <p:nvPr/>
        </p:nvSpPr>
        <p:spPr>
          <a:xfrm>
            <a:off x="142400" y="2459725"/>
            <a:ext cx="132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2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Usuario</a:t>
            </a:r>
            <a:endParaRPr sz="2400"/>
          </a:p>
        </p:txBody>
      </p:sp>
      <p:sp>
        <p:nvSpPr>
          <p:cNvPr id="387" name="Google Shape;387;h52211feb925dae3c_10_7"/>
          <p:cNvSpPr/>
          <p:nvPr/>
        </p:nvSpPr>
        <p:spPr>
          <a:xfrm>
            <a:off x="1813560" y="1783080"/>
            <a:ext cx="1645800" cy="13716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h52211feb925dae3c_10_7"/>
          <p:cNvSpPr/>
          <p:nvPr/>
        </p:nvSpPr>
        <p:spPr>
          <a:xfrm>
            <a:off x="2407920" y="1929384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D7F3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I Gateway" id="389" name="Google Shape;389;h52211feb925dae3c_1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5644" y="200710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h52211feb925dae3c_10_7"/>
          <p:cNvSpPr txBox="1"/>
          <p:nvPr/>
        </p:nvSpPr>
        <p:spPr>
          <a:xfrm>
            <a:off x="1813450" y="2397350"/>
            <a:ext cx="164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API Gatew</a:t>
            </a:r>
            <a:r>
              <a:rPr b="1" lang="en-US" sz="2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ay</a:t>
            </a:r>
            <a:endParaRPr sz="2400"/>
          </a:p>
        </p:txBody>
      </p:sp>
      <p:sp>
        <p:nvSpPr>
          <p:cNvPr id="391" name="Google Shape;391;h52211feb925dae3c_10_7"/>
          <p:cNvSpPr/>
          <p:nvPr/>
        </p:nvSpPr>
        <p:spPr>
          <a:xfrm>
            <a:off x="1387550" y="3770350"/>
            <a:ext cx="2376600" cy="8688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h52211feb925dae3c_10_7"/>
          <p:cNvSpPr/>
          <p:nvPr/>
        </p:nvSpPr>
        <p:spPr>
          <a:xfrm>
            <a:off x="2392890" y="3861715"/>
            <a:ext cx="365700" cy="365700"/>
          </a:xfrm>
          <a:prstGeom prst="roundRect">
            <a:avLst>
              <a:gd fmla="val 20000" name="adj"/>
            </a:avLst>
          </a:prstGeom>
          <a:solidFill>
            <a:srgbClr val="EAEC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ealthchecker" id="393" name="Google Shape;393;h52211feb925dae3c_1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5069" y="3923894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h52211feb925dae3c_10_7"/>
          <p:cNvSpPr txBox="1"/>
          <p:nvPr/>
        </p:nvSpPr>
        <p:spPr>
          <a:xfrm>
            <a:off x="1387450" y="4258175"/>
            <a:ext cx="2376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Healthchecker</a:t>
            </a:r>
            <a:endParaRPr sz="2400"/>
          </a:p>
        </p:txBody>
      </p:sp>
      <p:cxnSp>
        <p:nvCxnSpPr>
          <p:cNvPr id="395" name="Google Shape;395;h52211feb925dae3c_10_7"/>
          <p:cNvCxnSpPr>
            <a:stCxn id="387" idx="2"/>
          </p:cNvCxnSpPr>
          <p:nvPr/>
        </p:nvCxnSpPr>
        <p:spPr>
          <a:xfrm>
            <a:off x="2636460" y="3154680"/>
            <a:ext cx="0" cy="579000"/>
          </a:xfrm>
          <a:prstGeom prst="straightConnector1">
            <a:avLst/>
          </a:prstGeom>
          <a:noFill/>
          <a:ln cap="flat" cmpd="sng" w="19050">
            <a:solidFill>
              <a:srgbClr val="818CF8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396" name="Google Shape;396;h52211feb925dae3c_10_7"/>
          <p:cNvCxnSpPr/>
          <p:nvPr/>
        </p:nvCxnSpPr>
        <p:spPr>
          <a:xfrm>
            <a:off x="1447800" y="2468880"/>
            <a:ext cx="3657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7" name="Google Shape;397;h52211feb925dae3c_10_7"/>
          <p:cNvCxnSpPr/>
          <p:nvPr/>
        </p:nvCxnSpPr>
        <p:spPr>
          <a:xfrm>
            <a:off x="3459480" y="2468880"/>
            <a:ext cx="498600" cy="1110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8" name="Google Shape;398;h52211feb925dae3c_10_7"/>
          <p:cNvSpPr/>
          <p:nvPr/>
        </p:nvSpPr>
        <p:spPr>
          <a:xfrm>
            <a:off x="3958075" y="1371600"/>
            <a:ext cx="5884200" cy="283470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h52211feb925dae3c_10_7"/>
          <p:cNvSpPr txBox="1"/>
          <p:nvPr/>
        </p:nvSpPr>
        <p:spPr>
          <a:xfrm>
            <a:off x="4354175" y="1463050"/>
            <a:ext cx="548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CAPA LÓGICA DE NEGOCIO</a:t>
            </a:r>
            <a:r>
              <a:rPr b="0" i="0" lang="en-US" sz="280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800"/>
          </a:p>
        </p:txBody>
      </p:sp>
      <p:sp>
        <p:nvSpPr>
          <p:cNvPr id="400" name="Google Shape;400;h52211feb925dae3c_10_7"/>
          <p:cNvSpPr/>
          <p:nvPr/>
        </p:nvSpPr>
        <p:spPr>
          <a:xfrm>
            <a:off x="4187782" y="1874520"/>
            <a:ext cx="1625400" cy="9600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h52211feb925dae3c_10_7"/>
          <p:cNvSpPr/>
          <p:nvPr/>
        </p:nvSpPr>
        <p:spPr>
          <a:xfrm>
            <a:off x="4773895" y="1997873"/>
            <a:ext cx="402300" cy="402300"/>
          </a:xfrm>
          <a:prstGeom prst="roundRect">
            <a:avLst>
              <a:gd fmla="val 20000" name="adj"/>
            </a:avLst>
          </a:prstGeom>
          <a:solidFill>
            <a:srgbClr val="FDEF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gos" id="402" name="Google Shape;402;h52211feb925dae3c_1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4381" y="2074892"/>
            <a:ext cx="301300" cy="26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h52211feb925dae3c_10_7"/>
          <p:cNvSpPr txBox="1"/>
          <p:nvPr/>
        </p:nvSpPr>
        <p:spPr>
          <a:xfrm>
            <a:off x="4187925" y="2404097"/>
            <a:ext cx="162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Pagos</a:t>
            </a:r>
            <a:endParaRPr sz="2400"/>
          </a:p>
        </p:txBody>
      </p:sp>
      <p:sp>
        <p:nvSpPr>
          <p:cNvPr id="404" name="Google Shape;404;h52211feb925dae3c_10_7"/>
          <p:cNvSpPr/>
          <p:nvPr/>
        </p:nvSpPr>
        <p:spPr>
          <a:xfrm>
            <a:off x="5986258" y="1874525"/>
            <a:ext cx="2234700" cy="9600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h52211feb925dae3c_10_7"/>
          <p:cNvSpPr/>
          <p:nvPr/>
        </p:nvSpPr>
        <p:spPr>
          <a:xfrm>
            <a:off x="6905652" y="1960532"/>
            <a:ext cx="402300" cy="402300"/>
          </a:xfrm>
          <a:prstGeom prst="roundRect">
            <a:avLst>
              <a:gd fmla="val 20000" name="adj"/>
            </a:avLst>
          </a:prstGeom>
          <a:solidFill>
            <a:srgbClr val="F1E3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utenticación" id="406" name="Google Shape;406;h52211feb925dae3c_10_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46744" y="2001583"/>
            <a:ext cx="301300" cy="26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h52211feb925dae3c_10_7"/>
          <p:cNvSpPr txBox="1"/>
          <p:nvPr/>
        </p:nvSpPr>
        <p:spPr>
          <a:xfrm>
            <a:off x="5919282" y="2422060"/>
            <a:ext cx="237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Autenticación</a:t>
            </a:r>
            <a:endParaRPr sz="2400"/>
          </a:p>
        </p:txBody>
      </p:sp>
      <p:sp>
        <p:nvSpPr>
          <p:cNvPr id="408" name="Google Shape;408;h52211feb925dae3c_10_7"/>
          <p:cNvSpPr/>
          <p:nvPr/>
        </p:nvSpPr>
        <p:spPr>
          <a:xfrm>
            <a:off x="8306875" y="1874525"/>
            <a:ext cx="1327800" cy="9600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h52211feb925dae3c_10_7"/>
          <p:cNvSpPr/>
          <p:nvPr/>
        </p:nvSpPr>
        <p:spPr>
          <a:xfrm>
            <a:off x="8793872" y="1997885"/>
            <a:ext cx="402300" cy="402300"/>
          </a:xfrm>
          <a:prstGeom prst="roundRect">
            <a:avLst>
              <a:gd fmla="val 20000" name="adj"/>
            </a:avLst>
          </a:prstGeom>
          <a:solidFill>
            <a:srgbClr val="DEF7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ub" id="410" name="Google Shape;410;h52211feb925dae3c_10_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44385" y="2062372"/>
            <a:ext cx="301300" cy="26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h52211feb925dae3c_10_7"/>
          <p:cNvSpPr txBox="1"/>
          <p:nvPr/>
        </p:nvSpPr>
        <p:spPr>
          <a:xfrm>
            <a:off x="8306800" y="2475800"/>
            <a:ext cx="132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Club</a:t>
            </a:r>
            <a:endParaRPr sz="2400"/>
          </a:p>
        </p:txBody>
      </p:sp>
      <p:sp>
        <p:nvSpPr>
          <p:cNvPr id="412" name="Google Shape;412;h52211feb925dae3c_10_7"/>
          <p:cNvSpPr/>
          <p:nvPr/>
        </p:nvSpPr>
        <p:spPr>
          <a:xfrm>
            <a:off x="4187787" y="2971800"/>
            <a:ext cx="1625400" cy="10743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h52211feb925dae3c_10_7"/>
          <p:cNvSpPr/>
          <p:nvPr/>
        </p:nvSpPr>
        <p:spPr>
          <a:xfrm>
            <a:off x="4763253" y="3091255"/>
            <a:ext cx="402300" cy="402300"/>
          </a:xfrm>
          <a:prstGeom prst="roundRect">
            <a:avLst>
              <a:gd fmla="val 20000" name="adj"/>
            </a:avLst>
          </a:prstGeom>
          <a:solidFill>
            <a:srgbClr val="DFF4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nalíticas" id="414" name="Google Shape;414;h52211feb925dae3c_10_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24368" y="3159012"/>
            <a:ext cx="301300" cy="26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h52211feb925dae3c_10_7"/>
          <p:cNvSpPr txBox="1"/>
          <p:nvPr/>
        </p:nvSpPr>
        <p:spPr>
          <a:xfrm>
            <a:off x="4167225" y="3538725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Analíticas</a:t>
            </a:r>
            <a:endParaRPr sz="2400"/>
          </a:p>
        </p:txBody>
      </p:sp>
      <p:sp>
        <p:nvSpPr>
          <p:cNvPr id="416" name="Google Shape;416;h52211feb925dae3c_10_7"/>
          <p:cNvSpPr/>
          <p:nvPr/>
        </p:nvSpPr>
        <p:spPr>
          <a:xfrm>
            <a:off x="5986258" y="2971800"/>
            <a:ext cx="2191200" cy="10743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h52211feb925dae3c_10_7"/>
          <p:cNvSpPr/>
          <p:nvPr/>
        </p:nvSpPr>
        <p:spPr>
          <a:xfrm>
            <a:off x="6943627" y="2982392"/>
            <a:ext cx="402300" cy="402300"/>
          </a:xfrm>
          <a:prstGeom prst="roundRect">
            <a:avLst>
              <a:gd fmla="val 20000" name="adj"/>
            </a:avLst>
          </a:prstGeom>
          <a:solidFill>
            <a:srgbClr val="FEE8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cceso inteligente" id="418" name="Google Shape;418;h52211feb925dae3c_10_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94132" y="3022775"/>
            <a:ext cx="301300" cy="26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h52211feb925dae3c_10_7"/>
          <p:cNvSpPr txBox="1"/>
          <p:nvPr/>
        </p:nvSpPr>
        <p:spPr>
          <a:xfrm>
            <a:off x="5986325" y="3288535"/>
            <a:ext cx="2191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Acceso inteligente</a:t>
            </a:r>
            <a:endParaRPr sz="2400"/>
          </a:p>
        </p:txBody>
      </p:sp>
      <p:sp>
        <p:nvSpPr>
          <p:cNvPr id="420" name="Google Shape;420;h52211feb925dae3c_10_7"/>
          <p:cNvSpPr/>
          <p:nvPr/>
        </p:nvSpPr>
        <p:spPr>
          <a:xfrm>
            <a:off x="8306873" y="2971800"/>
            <a:ext cx="1327800" cy="10743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h52211feb925dae3c_10_7"/>
          <p:cNvSpPr/>
          <p:nvPr/>
        </p:nvSpPr>
        <p:spPr>
          <a:xfrm>
            <a:off x="8793872" y="3063240"/>
            <a:ext cx="402300" cy="402300"/>
          </a:xfrm>
          <a:prstGeom prst="roundRect">
            <a:avLst>
              <a:gd fmla="val 20000" name="adj"/>
            </a:avLst>
          </a:prstGeom>
          <a:solidFill>
            <a:srgbClr val="FDE0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t" id="422" name="Google Shape;422;h52211feb925dae3c_10_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44385" y="3131637"/>
            <a:ext cx="301300" cy="26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h52211feb925dae3c_10_7"/>
          <p:cNvSpPr txBox="1"/>
          <p:nvPr/>
        </p:nvSpPr>
        <p:spPr>
          <a:xfrm>
            <a:off x="8288825" y="3520350"/>
            <a:ext cx="13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Bot</a:t>
            </a:r>
            <a:endParaRPr sz="2400"/>
          </a:p>
        </p:txBody>
      </p:sp>
      <p:cxnSp>
        <p:nvCxnSpPr>
          <p:cNvPr id="424" name="Google Shape;424;h52211feb925dae3c_10_7"/>
          <p:cNvCxnSpPr/>
          <p:nvPr/>
        </p:nvCxnSpPr>
        <p:spPr>
          <a:xfrm>
            <a:off x="6668675" y="4271091"/>
            <a:ext cx="6300" cy="69210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5" name="Google Shape;425;h52211feb925dae3c_10_7"/>
          <p:cNvSpPr/>
          <p:nvPr/>
        </p:nvSpPr>
        <p:spPr>
          <a:xfrm>
            <a:off x="3958150" y="4983475"/>
            <a:ext cx="5884200" cy="182880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h52211feb925dae3c_10_7"/>
          <p:cNvSpPr txBox="1"/>
          <p:nvPr/>
        </p:nvSpPr>
        <p:spPr>
          <a:xfrm>
            <a:off x="4447175" y="5074925"/>
            <a:ext cx="494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CAPA DE PERSISTENCIA</a:t>
            </a:r>
            <a:r>
              <a:rPr b="0" i="0" lang="en-US" sz="280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2800"/>
          </a:p>
        </p:txBody>
      </p:sp>
      <p:sp>
        <p:nvSpPr>
          <p:cNvPr id="427" name="Google Shape;427;h52211feb925dae3c_10_7"/>
          <p:cNvSpPr/>
          <p:nvPr/>
        </p:nvSpPr>
        <p:spPr>
          <a:xfrm>
            <a:off x="4117275" y="5486500"/>
            <a:ext cx="1645800" cy="12345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h52211feb925dae3c_10_7"/>
          <p:cNvSpPr/>
          <p:nvPr/>
        </p:nvSpPr>
        <p:spPr>
          <a:xfrm>
            <a:off x="4733232" y="5599833"/>
            <a:ext cx="402300" cy="402300"/>
          </a:xfrm>
          <a:prstGeom prst="roundRect">
            <a:avLst>
              <a:gd fmla="val 20000" name="adj"/>
            </a:avLst>
          </a:prstGeom>
          <a:solidFill>
            <a:srgbClr val="FDEF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nanciera" id="429" name="Google Shape;429;h52211feb925dae3c_10_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01604" y="5668230"/>
            <a:ext cx="265542" cy="26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h52211feb925dae3c_10_7"/>
          <p:cNvSpPr txBox="1"/>
          <p:nvPr/>
        </p:nvSpPr>
        <p:spPr>
          <a:xfrm>
            <a:off x="4081322" y="6126325"/>
            <a:ext cx="1706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Financiera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1" name="Google Shape;431;h52211feb925dae3c_10_7"/>
          <p:cNvSpPr/>
          <p:nvPr/>
        </p:nvSpPr>
        <p:spPr>
          <a:xfrm>
            <a:off x="5897300" y="5458800"/>
            <a:ext cx="2230800" cy="12345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h52211feb925dae3c_10_7"/>
          <p:cNvSpPr/>
          <p:nvPr/>
        </p:nvSpPr>
        <p:spPr>
          <a:xfrm>
            <a:off x="6765769" y="5568533"/>
            <a:ext cx="455700" cy="402300"/>
          </a:xfrm>
          <a:prstGeom prst="roundRect">
            <a:avLst>
              <a:gd fmla="val 20000" name="adj"/>
            </a:avLst>
          </a:prstGeom>
          <a:solidFill>
            <a:srgbClr val="F1E3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utenticación" id="433" name="Google Shape;433;h52211feb925dae3c_10_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43236" y="5636930"/>
            <a:ext cx="300754" cy="26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h52211feb925dae3c_10_7"/>
          <p:cNvSpPr txBox="1"/>
          <p:nvPr/>
        </p:nvSpPr>
        <p:spPr>
          <a:xfrm>
            <a:off x="5833074" y="6126325"/>
            <a:ext cx="2376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Autenticación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435" name="Google Shape;435;h52211feb925dae3c_10_7"/>
          <p:cNvSpPr/>
          <p:nvPr/>
        </p:nvSpPr>
        <p:spPr>
          <a:xfrm>
            <a:off x="8255323" y="5490080"/>
            <a:ext cx="1432500" cy="12345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h52211feb925dae3c_10_7"/>
          <p:cNvSpPr/>
          <p:nvPr/>
        </p:nvSpPr>
        <p:spPr>
          <a:xfrm>
            <a:off x="8741172" y="5599808"/>
            <a:ext cx="402300" cy="402300"/>
          </a:xfrm>
          <a:prstGeom prst="roundRect">
            <a:avLst>
              <a:gd fmla="val 20000" name="adj"/>
            </a:avLst>
          </a:prstGeom>
          <a:solidFill>
            <a:srgbClr val="EDF0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lacional" id="437" name="Google Shape;437;h52211feb925dae3c_10_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809569" y="5668205"/>
            <a:ext cx="265542" cy="26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h52211feb925dae3c_10_7"/>
          <p:cNvSpPr txBox="1"/>
          <p:nvPr/>
        </p:nvSpPr>
        <p:spPr>
          <a:xfrm>
            <a:off x="8259570" y="6124108"/>
            <a:ext cx="1432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Socios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cxnSp>
        <p:nvCxnSpPr>
          <p:cNvPr id="439" name="Google Shape;439;h52211feb925dae3c_10_7"/>
          <p:cNvCxnSpPr/>
          <p:nvPr/>
        </p:nvCxnSpPr>
        <p:spPr>
          <a:xfrm flipH="1" rot="10800000">
            <a:off x="9895350" y="2788825"/>
            <a:ext cx="541500" cy="150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0" name="Google Shape;440;h52211feb925dae3c_10_7"/>
          <p:cNvSpPr/>
          <p:nvPr/>
        </p:nvSpPr>
        <p:spPr>
          <a:xfrm>
            <a:off x="10512675" y="1371600"/>
            <a:ext cx="1432500" cy="408720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h52211feb925dae3c_10_7"/>
          <p:cNvSpPr txBox="1"/>
          <p:nvPr/>
        </p:nvSpPr>
        <p:spPr>
          <a:xfrm>
            <a:off x="10586323" y="1463050"/>
            <a:ext cx="137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TERCEROS</a:t>
            </a:r>
            <a:r>
              <a:rPr b="0" i="0" lang="en-US" sz="180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1800"/>
          </a:p>
        </p:txBody>
      </p:sp>
      <p:sp>
        <p:nvSpPr>
          <p:cNvPr id="442" name="Google Shape;442;h52211feb925dae3c_10_7"/>
          <p:cNvSpPr/>
          <p:nvPr/>
        </p:nvSpPr>
        <p:spPr>
          <a:xfrm>
            <a:off x="10586326" y="1874525"/>
            <a:ext cx="1266300" cy="7863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rcado Pago" id="443" name="Google Shape;443;h52211feb925dae3c_10_7"/>
          <p:cNvPicPr preferRelativeResize="0"/>
          <p:nvPr/>
        </p:nvPicPr>
        <p:blipFill rotWithShape="1">
          <a:blip r:embed="rId15">
            <a:alphaModFix/>
          </a:blip>
          <a:srcRect b="0" l="0" r="59102" t="0"/>
          <a:stretch/>
        </p:blipFill>
        <p:spPr>
          <a:xfrm>
            <a:off x="10854928" y="1893625"/>
            <a:ext cx="729086" cy="7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h52211feb925dae3c_10_7"/>
          <p:cNvSpPr/>
          <p:nvPr/>
        </p:nvSpPr>
        <p:spPr>
          <a:xfrm>
            <a:off x="10586301" y="2770625"/>
            <a:ext cx="1266300" cy="7863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inary" id="445" name="Google Shape;445;h52211feb925dae3c_10_7"/>
          <p:cNvPicPr preferRelativeResize="0"/>
          <p:nvPr/>
        </p:nvPicPr>
        <p:blipFill rotWithShape="1">
          <a:blip r:embed="rId16">
            <a:alphaModFix/>
          </a:blip>
          <a:srcRect b="14872" l="0" r="73004" t="0"/>
          <a:stretch/>
        </p:blipFill>
        <p:spPr>
          <a:xfrm>
            <a:off x="10873428" y="2829570"/>
            <a:ext cx="692100" cy="6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h52211feb925dae3c_10_7"/>
          <p:cNvSpPr/>
          <p:nvPr/>
        </p:nvSpPr>
        <p:spPr>
          <a:xfrm>
            <a:off x="10586301" y="3666750"/>
            <a:ext cx="1266300" cy="7863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rebase" id="447" name="Google Shape;447;h52211feb925dae3c_10_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018300" y="3690432"/>
            <a:ext cx="402300" cy="73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h52211feb925dae3c_10_7"/>
          <p:cNvSpPr/>
          <p:nvPr/>
        </p:nvSpPr>
        <p:spPr>
          <a:xfrm>
            <a:off x="10586301" y="4562875"/>
            <a:ext cx="1266300" cy="7863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legram" id="449" name="Google Shape;449;h52211feb925dae3c_10_7"/>
          <p:cNvPicPr preferRelativeResize="0"/>
          <p:nvPr/>
        </p:nvPicPr>
        <p:blipFill rotWithShape="1">
          <a:blip r:embed="rId18">
            <a:alphaModFix/>
          </a:blip>
          <a:srcRect b="32769" l="14425" r="13195" t="0"/>
          <a:stretch/>
        </p:blipFill>
        <p:spPr>
          <a:xfrm>
            <a:off x="10929987" y="4598125"/>
            <a:ext cx="578979" cy="7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h661f2e6144e1f622_0_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625"/>
            <a:ext cx="12191998" cy="679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h661f2e6144e1f622_0_3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3100" y="1292225"/>
            <a:ext cx="5088975" cy="3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h661f2e6144e1f622_0_3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250" y="793750"/>
            <a:ext cx="2539450" cy="5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h661f2e6144e1f622_0_314"/>
          <p:cNvSpPr txBox="1"/>
          <p:nvPr/>
        </p:nvSpPr>
        <p:spPr>
          <a:xfrm>
            <a:off x="4499700" y="731388"/>
            <a:ext cx="319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SocioUnido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458" name="Google Shape;458;h661f2e6144e1f622_0_314"/>
          <p:cNvSpPr txBox="1"/>
          <p:nvPr/>
        </p:nvSpPr>
        <p:spPr>
          <a:xfrm>
            <a:off x="1960500" y="1165225"/>
            <a:ext cx="8271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¿Con qué está construido?</a:t>
            </a:r>
            <a:endParaRPr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4"/>
          <p:cNvSpPr txBox="1"/>
          <p:nvPr/>
        </p:nvSpPr>
        <p:spPr>
          <a:xfrm>
            <a:off x="571500" y="476250"/>
            <a:ext cx="11049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Atributos de calidad y resiliencia</a:t>
            </a:r>
            <a:endParaRPr b="0" i="0" sz="42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464" name="Google Shape;464;p14"/>
          <p:cNvGrpSpPr/>
          <p:nvPr/>
        </p:nvGrpSpPr>
        <p:grpSpPr>
          <a:xfrm>
            <a:off x="571500" y="1524000"/>
            <a:ext cx="5334000" cy="2095500"/>
            <a:chOff x="0" y="0"/>
            <a:chExt cx="5334000" cy="2095500"/>
          </a:xfrm>
        </p:grpSpPr>
        <p:sp>
          <p:nvSpPr>
            <p:cNvPr id="465" name="Google Shape;465;p14"/>
            <p:cNvSpPr/>
            <p:nvPr/>
          </p:nvSpPr>
          <p:spPr>
            <a:xfrm>
              <a:off x="0" y="0"/>
              <a:ext cx="5334000" cy="2095500"/>
            </a:xfrm>
            <a:prstGeom prst="roundRect">
              <a:avLst>
                <a:gd fmla="val 7272" name="adj"/>
              </a:avLst>
            </a:prstGeom>
            <a:solidFill>
              <a:srgbClr val="181A20"/>
            </a:solidFill>
            <a:ln cap="flat" cmpd="sng" w="1905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304800" y="304800"/>
              <a:ext cx="571500" cy="571500"/>
            </a:xfrm>
            <a:prstGeom prst="roundRect">
              <a:avLst>
                <a:gd fmla="val 20000" name="adj"/>
              </a:avLst>
            </a:prstGeom>
            <a:solidFill>
              <a:srgbClr val="311F0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4"/>
            <p:cNvSpPr txBox="1"/>
            <p:nvPr/>
          </p:nvSpPr>
          <p:spPr>
            <a:xfrm>
              <a:off x="304800" y="398272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strike="noStrike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b="0" i="0" sz="3200" u="none" strike="noStrike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8" name="Google Shape;468;p14"/>
            <p:cNvSpPr txBox="1"/>
            <p:nvPr/>
          </p:nvSpPr>
          <p:spPr>
            <a:xfrm>
              <a:off x="304800" y="1066800"/>
              <a:ext cx="47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Seguridad (Zero-Trust)</a:t>
              </a:r>
              <a:endPara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69" name="Google Shape;469;p14"/>
          <p:cNvGrpSpPr/>
          <p:nvPr/>
        </p:nvGrpSpPr>
        <p:grpSpPr>
          <a:xfrm>
            <a:off x="6286500" y="1524000"/>
            <a:ext cx="5334000" cy="2095500"/>
            <a:chOff x="0" y="0"/>
            <a:chExt cx="5334000" cy="2095500"/>
          </a:xfrm>
        </p:grpSpPr>
        <p:sp>
          <p:nvSpPr>
            <p:cNvPr id="470" name="Google Shape;470;p14"/>
            <p:cNvSpPr/>
            <p:nvPr/>
          </p:nvSpPr>
          <p:spPr>
            <a:xfrm>
              <a:off x="0" y="0"/>
              <a:ext cx="5334000" cy="2095500"/>
            </a:xfrm>
            <a:prstGeom prst="roundRect">
              <a:avLst>
                <a:gd fmla="val 7272" name="adj"/>
              </a:avLst>
            </a:prstGeom>
            <a:solidFill>
              <a:srgbClr val="181A20"/>
            </a:solidFill>
            <a:ln cap="flat" cmpd="sng" w="1905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304800" y="304800"/>
              <a:ext cx="571500" cy="571500"/>
            </a:xfrm>
            <a:prstGeom prst="roundRect">
              <a:avLst>
                <a:gd fmla="val 20000" name="adj"/>
              </a:avLst>
            </a:prstGeom>
            <a:solidFill>
              <a:srgbClr val="0833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4"/>
            <p:cNvSpPr txBox="1"/>
            <p:nvPr/>
          </p:nvSpPr>
          <p:spPr>
            <a:xfrm>
              <a:off x="304800" y="398272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strike="noStrike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b="0" i="0" sz="3200" u="none" strike="noStrike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3" name="Google Shape;473;p14"/>
            <p:cNvSpPr txBox="1"/>
            <p:nvPr/>
          </p:nvSpPr>
          <p:spPr>
            <a:xfrm>
              <a:off x="304800" y="1066800"/>
              <a:ext cx="47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Escalabilidad</a:t>
              </a:r>
              <a:endPara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4" name="Google Shape;474;p14"/>
          <p:cNvGrpSpPr/>
          <p:nvPr/>
        </p:nvGrpSpPr>
        <p:grpSpPr>
          <a:xfrm>
            <a:off x="571500" y="3905250"/>
            <a:ext cx="5334000" cy="2095500"/>
            <a:chOff x="0" y="0"/>
            <a:chExt cx="5334000" cy="2095500"/>
          </a:xfrm>
        </p:grpSpPr>
        <p:sp>
          <p:nvSpPr>
            <p:cNvPr id="475" name="Google Shape;475;p14"/>
            <p:cNvSpPr/>
            <p:nvPr/>
          </p:nvSpPr>
          <p:spPr>
            <a:xfrm>
              <a:off x="0" y="0"/>
              <a:ext cx="5334000" cy="2095500"/>
            </a:xfrm>
            <a:prstGeom prst="roundRect">
              <a:avLst>
                <a:gd fmla="val 7272" name="adj"/>
              </a:avLst>
            </a:prstGeom>
            <a:solidFill>
              <a:srgbClr val="181A20"/>
            </a:solidFill>
            <a:ln cap="flat" cmpd="sng" w="19050">
              <a:solidFill>
                <a:srgbClr val="A855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304800" y="304800"/>
              <a:ext cx="571500" cy="571500"/>
            </a:xfrm>
            <a:prstGeom prst="roundRect">
              <a:avLst>
                <a:gd fmla="val 20000" name="adj"/>
              </a:avLst>
            </a:prstGeom>
            <a:solidFill>
              <a:srgbClr val="3B076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4"/>
            <p:cNvSpPr txBox="1"/>
            <p:nvPr/>
          </p:nvSpPr>
          <p:spPr>
            <a:xfrm>
              <a:off x="304800" y="398272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strike="noStrike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b="0" i="0" sz="3200" u="none" strike="noStrike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8" name="Google Shape;478;p14"/>
            <p:cNvSpPr txBox="1"/>
            <p:nvPr/>
          </p:nvSpPr>
          <p:spPr>
            <a:xfrm>
              <a:off x="304800" y="1066800"/>
              <a:ext cx="47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Rendimiento &amp; UX</a:t>
              </a:r>
              <a:endPara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9" name="Google Shape;479;p14"/>
          <p:cNvGrpSpPr/>
          <p:nvPr/>
        </p:nvGrpSpPr>
        <p:grpSpPr>
          <a:xfrm>
            <a:off x="6286500" y="3905250"/>
            <a:ext cx="5334000" cy="2095500"/>
            <a:chOff x="0" y="0"/>
            <a:chExt cx="5334000" cy="2095500"/>
          </a:xfrm>
        </p:grpSpPr>
        <p:sp>
          <p:nvSpPr>
            <p:cNvPr id="480" name="Google Shape;480;p14"/>
            <p:cNvSpPr/>
            <p:nvPr/>
          </p:nvSpPr>
          <p:spPr>
            <a:xfrm>
              <a:off x="0" y="0"/>
              <a:ext cx="5334000" cy="2095500"/>
            </a:xfrm>
            <a:prstGeom prst="roundRect">
              <a:avLst>
                <a:gd fmla="val 7272" name="adj"/>
              </a:avLst>
            </a:prstGeom>
            <a:solidFill>
              <a:srgbClr val="181A20"/>
            </a:solidFill>
            <a:ln cap="flat" cmpd="sng" w="19050">
              <a:solidFill>
                <a:srgbClr val="F973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304800" y="304800"/>
              <a:ext cx="571500" cy="571500"/>
            </a:xfrm>
            <a:prstGeom prst="roundRect">
              <a:avLst>
                <a:gd fmla="val 20000" name="adj"/>
              </a:avLst>
            </a:prstGeom>
            <a:solidFill>
              <a:srgbClr val="43140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4"/>
            <p:cNvSpPr txBox="1"/>
            <p:nvPr/>
          </p:nvSpPr>
          <p:spPr>
            <a:xfrm>
              <a:off x="304800" y="398272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strike="noStrike">
                  <a:solidFill>
                    <a:srgbClr val="F9731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b="0" i="0" sz="3200" u="none" strike="noStrike">
                <a:solidFill>
                  <a:srgbClr val="F9731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3" name="Google Shape;483;p14"/>
            <p:cNvSpPr txBox="1"/>
            <p:nvPr/>
          </p:nvSpPr>
          <p:spPr>
            <a:xfrm>
              <a:off x="304800" y="1066800"/>
              <a:ext cx="47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Interoperabilidad</a:t>
              </a:r>
              <a:endPara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661f2e6144e1f622_0_113"/>
          <p:cNvSpPr txBox="1"/>
          <p:nvPr/>
        </p:nvSpPr>
        <p:spPr>
          <a:xfrm>
            <a:off x="566943" y="256032"/>
            <a:ext cx="1106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Metodología de desarrollo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h661f2e6144e1f622_0_113"/>
          <p:cNvSpPr/>
          <p:nvPr/>
        </p:nvSpPr>
        <p:spPr>
          <a:xfrm>
            <a:off x="594366" y="976475"/>
            <a:ext cx="2304300" cy="4326900"/>
          </a:xfrm>
          <a:prstGeom prst="roundRect">
            <a:avLst>
              <a:gd fmla="val 16667" name="adj"/>
            </a:avLst>
          </a:prstGeom>
          <a:solidFill>
            <a:srgbClr val="F4F5F8"/>
          </a:solidFill>
          <a:ln cap="flat" cmpd="sng" w="19050">
            <a:solidFill>
              <a:srgbClr val="24B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h661f2e6144e1f622_0_113"/>
          <p:cNvSpPr txBox="1"/>
          <p:nvPr/>
        </p:nvSpPr>
        <p:spPr>
          <a:xfrm>
            <a:off x="758972" y="989775"/>
            <a:ext cx="47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4BEE8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h661f2e6144e1f622_0_113"/>
          <p:cNvSpPr txBox="1"/>
          <p:nvPr/>
        </p:nvSpPr>
        <p:spPr>
          <a:xfrm>
            <a:off x="594366" y="1416300"/>
            <a:ext cx="230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30"/>
                </a:solidFill>
                <a:latin typeface="Montserrat"/>
                <a:ea typeface="Montserrat"/>
                <a:cs typeface="Montserrat"/>
                <a:sym typeface="Montserrat"/>
              </a:rPr>
              <a:t>Búsqueda de producto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h661f2e6144e1f622_0_113"/>
          <p:cNvSpPr txBox="1"/>
          <p:nvPr/>
        </p:nvSpPr>
        <p:spPr>
          <a:xfrm>
            <a:off x="594266" y="3794750"/>
            <a:ext cx="230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4BEE8"/>
                </a:solidFill>
                <a:latin typeface="Montserrat"/>
                <a:ea typeface="Montserrat"/>
                <a:cs typeface="Montserrat"/>
                <a:sym typeface="Montserrat"/>
              </a:rPr>
              <a:t>5Cs  •  4Ps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h661f2e6144e1f622_0_113"/>
          <p:cNvSpPr/>
          <p:nvPr/>
        </p:nvSpPr>
        <p:spPr>
          <a:xfrm>
            <a:off x="3493096" y="976477"/>
            <a:ext cx="2304300" cy="4326900"/>
          </a:xfrm>
          <a:prstGeom prst="roundRect">
            <a:avLst>
              <a:gd fmla="val 16667" name="adj"/>
            </a:avLst>
          </a:prstGeom>
          <a:solidFill>
            <a:srgbClr val="F4F5F8"/>
          </a:solidFill>
          <a:ln cap="flat" cmpd="sng" w="19050">
            <a:solidFill>
              <a:srgbClr val="9B4B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h661f2e6144e1f622_0_113"/>
          <p:cNvSpPr txBox="1"/>
          <p:nvPr/>
        </p:nvSpPr>
        <p:spPr>
          <a:xfrm>
            <a:off x="3657698" y="989786"/>
            <a:ext cx="47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B4BE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h661f2e6144e1f622_0_113"/>
          <p:cNvSpPr txBox="1"/>
          <p:nvPr/>
        </p:nvSpPr>
        <p:spPr>
          <a:xfrm>
            <a:off x="3493093" y="1409175"/>
            <a:ext cx="230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30"/>
                </a:solidFill>
                <a:latin typeface="Montserrat"/>
                <a:ea typeface="Montserrat"/>
                <a:cs typeface="Montserrat"/>
                <a:sym typeface="Montserrat"/>
              </a:rPr>
              <a:t>Desarrollo del MVP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h661f2e6144e1f622_0_113"/>
          <p:cNvSpPr/>
          <p:nvPr/>
        </p:nvSpPr>
        <p:spPr>
          <a:xfrm>
            <a:off x="6391820" y="976627"/>
            <a:ext cx="2304300" cy="4326900"/>
          </a:xfrm>
          <a:prstGeom prst="roundRect">
            <a:avLst>
              <a:gd fmla="val 16667" name="adj"/>
            </a:avLst>
          </a:prstGeom>
          <a:solidFill>
            <a:srgbClr val="F4F5F8"/>
          </a:solidFill>
          <a:ln cap="flat" cmpd="sng" w="19050">
            <a:solidFill>
              <a:srgbClr val="2FD2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h661f2e6144e1f622_0_113"/>
          <p:cNvSpPr txBox="1"/>
          <p:nvPr/>
        </p:nvSpPr>
        <p:spPr>
          <a:xfrm>
            <a:off x="6556423" y="989787"/>
            <a:ext cx="47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FD29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h661f2e6144e1f622_0_113"/>
          <p:cNvSpPr txBox="1"/>
          <p:nvPr/>
        </p:nvSpPr>
        <p:spPr>
          <a:xfrm>
            <a:off x="6391820" y="1416301"/>
            <a:ext cx="230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30"/>
                </a:solidFill>
                <a:latin typeface="Montserrat"/>
                <a:ea typeface="Montserrat"/>
                <a:cs typeface="Montserrat"/>
                <a:sym typeface="Montserrat"/>
              </a:rPr>
              <a:t>Validación de producto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h661f2e6144e1f622_0_113"/>
          <p:cNvSpPr/>
          <p:nvPr/>
        </p:nvSpPr>
        <p:spPr>
          <a:xfrm>
            <a:off x="9290556" y="976477"/>
            <a:ext cx="2304300" cy="4326900"/>
          </a:xfrm>
          <a:prstGeom prst="roundRect">
            <a:avLst>
              <a:gd fmla="val 16667" name="adj"/>
            </a:avLst>
          </a:prstGeom>
          <a:solidFill>
            <a:srgbClr val="F4F5F8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h661f2e6144e1f622_0_113"/>
          <p:cNvSpPr txBox="1"/>
          <p:nvPr/>
        </p:nvSpPr>
        <p:spPr>
          <a:xfrm>
            <a:off x="9455148" y="989775"/>
            <a:ext cx="47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h661f2e6144e1f622_0_113"/>
          <p:cNvSpPr txBox="1"/>
          <p:nvPr/>
        </p:nvSpPr>
        <p:spPr>
          <a:xfrm>
            <a:off x="9290548" y="1367325"/>
            <a:ext cx="230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30"/>
                </a:solidFill>
                <a:latin typeface="Montserrat"/>
                <a:ea typeface="Montserrat"/>
                <a:cs typeface="Montserrat"/>
                <a:sym typeface="Montserrat"/>
              </a:rPr>
              <a:t>Entrega y defensa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2" name="Google Shape;502;h661f2e6144e1f622_0_113"/>
          <p:cNvCxnSpPr/>
          <p:nvPr/>
        </p:nvCxnSpPr>
        <p:spPr>
          <a:xfrm>
            <a:off x="1005867" y="5779008"/>
            <a:ext cx="10195800" cy="0"/>
          </a:xfrm>
          <a:prstGeom prst="straightConnector1">
            <a:avLst/>
          </a:prstGeom>
          <a:noFill/>
          <a:ln cap="flat" cmpd="sng" w="25400">
            <a:solidFill>
              <a:srgbClr val="DCDE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503" name="Google Shape;503;h661f2e6144e1f622_0_113"/>
          <p:cNvSpPr/>
          <p:nvPr/>
        </p:nvSpPr>
        <p:spPr>
          <a:xfrm>
            <a:off x="1746551" y="5623560"/>
            <a:ext cx="310800" cy="310800"/>
          </a:xfrm>
          <a:prstGeom prst="ellipse">
            <a:avLst/>
          </a:prstGeom>
          <a:solidFill>
            <a:srgbClr val="24BEE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h661f2e6144e1f622_0_113"/>
          <p:cNvSpPr/>
          <p:nvPr/>
        </p:nvSpPr>
        <p:spPr>
          <a:xfrm>
            <a:off x="4645276" y="5623560"/>
            <a:ext cx="310800" cy="310800"/>
          </a:xfrm>
          <a:prstGeom prst="ellipse">
            <a:avLst/>
          </a:prstGeom>
          <a:solidFill>
            <a:srgbClr val="9B4B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h661f2e6144e1f622_0_113"/>
          <p:cNvSpPr/>
          <p:nvPr/>
        </p:nvSpPr>
        <p:spPr>
          <a:xfrm>
            <a:off x="7544001" y="5623560"/>
            <a:ext cx="310800" cy="310800"/>
          </a:xfrm>
          <a:prstGeom prst="ellipse">
            <a:avLst/>
          </a:prstGeom>
          <a:solidFill>
            <a:srgbClr val="2FD29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h661f2e6144e1f622_0_113"/>
          <p:cNvSpPr/>
          <p:nvPr/>
        </p:nvSpPr>
        <p:spPr>
          <a:xfrm>
            <a:off x="10442726" y="5623560"/>
            <a:ext cx="310800" cy="310800"/>
          </a:xfrm>
          <a:prstGeom prst="ellipse">
            <a:avLst/>
          </a:prstGeom>
          <a:solidFill>
            <a:srgbClr val="FF99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h661f2e6144e1f622_0_113"/>
          <p:cNvSpPr txBox="1"/>
          <p:nvPr/>
        </p:nvSpPr>
        <p:spPr>
          <a:xfrm>
            <a:off x="1005752" y="6053325"/>
            <a:ext cx="10195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0F1730"/>
                </a:solidFill>
                <a:latin typeface="Montserrat"/>
                <a:ea typeface="Montserrat"/>
                <a:cs typeface="Montserrat"/>
                <a:sym typeface="Montserrat"/>
              </a:rPr>
              <a:t>DISEÑAR</a:t>
            </a:r>
            <a:r>
              <a:rPr b="1" i="0" lang="en-US" sz="2900" u="none" cap="none" strike="noStrike">
                <a:solidFill>
                  <a:srgbClr val="0F1730"/>
                </a:solidFill>
                <a:latin typeface="Montserrat"/>
                <a:ea typeface="Montserrat"/>
                <a:cs typeface="Montserrat"/>
                <a:sym typeface="Montserrat"/>
              </a:rPr>
              <a:t> → CONSTRUIR → </a:t>
            </a:r>
            <a:r>
              <a:rPr b="1" lang="en-US" sz="2900">
                <a:solidFill>
                  <a:srgbClr val="0F1730"/>
                </a:solidFill>
                <a:latin typeface="Montserrat"/>
                <a:ea typeface="Montserrat"/>
                <a:cs typeface="Montserrat"/>
                <a:sym typeface="Montserrat"/>
              </a:rPr>
              <a:t>VALIDAR</a:t>
            </a:r>
            <a:r>
              <a:rPr b="1" i="0" lang="en-US" sz="2900" u="none" cap="none" strike="noStrike">
                <a:solidFill>
                  <a:srgbClr val="0F1730"/>
                </a:solidFill>
                <a:latin typeface="Montserrat"/>
                <a:ea typeface="Montserrat"/>
                <a:cs typeface="Montserrat"/>
                <a:sym typeface="Montserrat"/>
              </a:rPr>
              <a:t> → PRESENTAR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8" name="Google Shape;508;h661f2e6144e1f622_0_113" title="image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321" y="2617763"/>
            <a:ext cx="2051780" cy="2402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h661f2e6144e1f622_0_113" title="talleres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798" y="2880112"/>
            <a:ext cx="1195625" cy="11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h661f2e6144e1f622_0_113" title="club_ciudad.png"/>
          <p:cNvPicPr preferRelativeResize="0"/>
          <p:nvPr/>
        </p:nvPicPr>
        <p:blipFill rotWithShape="1">
          <a:blip r:embed="rId5">
            <a:alphaModFix/>
          </a:blip>
          <a:srcRect b="5551" l="0" r="0" t="4924"/>
          <a:stretch/>
        </p:blipFill>
        <p:spPr>
          <a:xfrm>
            <a:off x="7414148" y="3787600"/>
            <a:ext cx="1195658" cy="13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h661f2e6144e1f622_0_113"/>
          <p:cNvPicPr preferRelativeResize="0"/>
          <p:nvPr/>
        </p:nvPicPr>
        <p:blipFill rotWithShape="1">
          <a:blip r:embed="rId6">
            <a:alphaModFix/>
          </a:blip>
          <a:srcRect b="0" l="0" r="0" t="10619"/>
          <a:stretch/>
        </p:blipFill>
        <p:spPr>
          <a:xfrm>
            <a:off x="9321573" y="2364825"/>
            <a:ext cx="2242310" cy="27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h661f2e6144e1f622_0_215"/>
          <p:cNvSpPr/>
          <p:nvPr/>
        </p:nvSpPr>
        <p:spPr>
          <a:xfrm>
            <a:off x="7571433" y="1325880"/>
            <a:ext cx="4023300" cy="4892100"/>
          </a:xfrm>
          <a:prstGeom prst="roundRect">
            <a:avLst>
              <a:gd fmla="val 16667" name="adj"/>
            </a:avLst>
          </a:prstGeom>
          <a:solidFill>
            <a:srgbClr val="18191F"/>
          </a:solidFill>
          <a:ln cap="flat" cmpd="sng" w="19050">
            <a:solidFill>
              <a:srgbClr val="F54B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h661f2e6144e1f622_0_215"/>
          <p:cNvSpPr/>
          <p:nvPr/>
        </p:nvSpPr>
        <p:spPr>
          <a:xfrm>
            <a:off x="7638986" y="2361405"/>
            <a:ext cx="749700" cy="749700"/>
          </a:xfrm>
          <a:prstGeom prst="roundRect">
            <a:avLst>
              <a:gd fmla="val 16667" name="adj"/>
            </a:avLst>
          </a:prstGeom>
          <a:solidFill>
            <a:srgbClr val="3C1C2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h661f2e6144e1f622_0_215"/>
          <p:cNvSpPr txBox="1"/>
          <p:nvPr/>
        </p:nvSpPr>
        <p:spPr>
          <a:xfrm>
            <a:off x="563693" y="393557"/>
            <a:ext cx="1106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Montserrat"/>
                <a:ea typeface="Montserrat"/>
                <a:cs typeface="Montserrat"/>
                <a:sym typeface="Montserrat"/>
              </a:rPr>
              <a:t>Riesgos que condicionaron el proyecto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h661f2e6144e1f622_0_215"/>
          <p:cNvSpPr/>
          <p:nvPr/>
        </p:nvSpPr>
        <p:spPr>
          <a:xfrm>
            <a:off x="594376" y="1325880"/>
            <a:ext cx="6721200" cy="4892100"/>
          </a:xfrm>
          <a:prstGeom prst="roundRect">
            <a:avLst>
              <a:gd fmla="val 16667" name="adj"/>
            </a:avLst>
          </a:prstGeom>
          <a:solidFill>
            <a:srgbClr val="18191F"/>
          </a:solidFill>
          <a:ln cap="flat" cmpd="sng" w="19050">
            <a:solidFill>
              <a:srgbClr val="24BE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h661f2e6144e1f622_0_215"/>
          <p:cNvSpPr txBox="1"/>
          <p:nvPr/>
        </p:nvSpPr>
        <p:spPr>
          <a:xfrm>
            <a:off x="868693" y="1600200"/>
            <a:ext cx="61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4BEE8"/>
                </a:solidFill>
                <a:latin typeface="Montserrat"/>
                <a:ea typeface="Montserrat"/>
                <a:cs typeface="Montserrat"/>
                <a:sym typeface="Montserrat"/>
              </a:rPr>
              <a:t>RIESGOS PREVISTOS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h661f2e6144e1f622_0_215"/>
          <p:cNvSpPr/>
          <p:nvPr/>
        </p:nvSpPr>
        <p:spPr>
          <a:xfrm>
            <a:off x="868703" y="2468865"/>
            <a:ext cx="713100" cy="713100"/>
          </a:xfrm>
          <a:prstGeom prst="roundRect">
            <a:avLst>
              <a:gd fmla="val 16667" name="adj"/>
            </a:avLst>
          </a:prstGeom>
          <a:solidFill>
            <a:srgbClr val="1D32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h661f2e6144e1f622_0_215"/>
          <p:cNvSpPr txBox="1"/>
          <p:nvPr/>
        </p:nvSpPr>
        <p:spPr>
          <a:xfrm>
            <a:off x="1783190" y="2317533"/>
            <a:ext cx="438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AFAFA"/>
                </a:solidFill>
                <a:latin typeface="Montserrat"/>
                <a:ea typeface="Montserrat"/>
                <a:cs typeface="Montserrat"/>
                <a:sym typeface="Montserrat"/>
              </a:rPr>
              <a:t>Distribución de tiempos y plazos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h661f2e6144e1f622_0_215"/>
          <p:cNvSpPr/>
          <p:nvPr/>
        </p:nvSpPr>
        <p:spPr>
          <a:xfrm>
            <a:off x="868641" y="3710360"/>
            <a:ext cx="713100" cy="713100"/>
          </a:xfrm>
          <a:prstGeom prst="roundRect">
            <a:avLst>
              <a:gd fmla="val 16667" name="adj"/>
            </a:avLst>
          </a:prstGeom>
          <a:solidFill>
            <a:srgbClr val="3C301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h661f2e6144e1f622_0_215"/>
          <p:cNvSpPr txBox="1"/>
          <p:nvPr/>
        </p:nvSpPr>
        <p:spPr>
          <a:xfrm>
            <a:off x="1783203" y="3559066"/>
            <a:ext cx="438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AFAFA"/>
                </a:solidFill>
                <a:latin typeface="Montserrat"/>
                <a:ea typeface="Montserrat"/>
                <a:cs typeface="Montserrat"/>
                <a:sym typeface="Montserrat"/>
              </a:rPr>
              <a:t>Ventanas horarias cambiantes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h661f2e6144e1f622_0_215"/>
          <p:cNvSpPr/>
          <p:nvPr/>
        </p:nvSpPr>
        <p:spPr>
          <a:xfrm>
            <a:off x="868698" y="4951825"/>
            <a:ext cx="713100" cy="646500"/>
          </a:xfrm>
          <a:prstGeom prst="roundRect">
            <a:avLst>
              <a:gd fmla="val 16667" name="adj"/>
            </a:avLst>
          </a:prstGeom>
          <a:solidFill>
            <a:srgbClr val="35244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h661f2e6144e1f622_0_215"/>
          <p:cNvSpPr txBox="1"/>
          <p:nvPr/>
        </p:nvSpPr>
        <p:spPr>
          <a:xfrm>
            <a:off x="1783198" y="4998025"/>
            <a:ext cx="5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AFAFA"/>
                </a:solidFill>
                <a:latin typeface="Montserrat"/>
                <a:ea typeface="Montserrat"/>
                <a:cs typeface="Montserrat"/>
                <a:sym typeface="Montserrat"/>
              </a:rPr>
              <a:t>Bot conversacional</a:t>
            </a:r>
            <a:r>
              <a:rPr b="1" lang="en-US" sz="3000">
                <a:solidFill>
                  <a:srgbClr val="FAFAFA"/>
                </a:solidFill>
                <a:latin typeface="Montserrat"/>
                <a:ea typeface="Montserrat"/>
                <a:cs typeface="Montserrat"/>
                <a:sym typeface="Montserrat"/>
              </a:rPr>
              <a:t> (PLN)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h661f2e6144e1f622_0_215"/>
          <p:cNvSpPr txBox="1"/>
          <p:nvPr/>
        </p:nvSpPr>
        <p:spPr>
          <a:xfrm>
            <a:off x="7845758" y="1600200"/>
            <a:ext cx="356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4B69"/>
                </a:solidFill>
                <a:latin typeface="Montserrat"/>
                <a:ea typeface="Montserrat"/>
                <a:cs typeface="Montserrat"/>
                <a:sym typeface="Montserrat"/>
              </a:rPr>
              <a:t>IMPREVISTOs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h661f2e6144e1f622_0_215"/>
          <p:cNvSpPr txBox="1"/>
          <p:nvPr/>
        </p:nvSpPr>
        <p:spPr>
          <a:xfrm>
            <a:off x="7638963" y="2328197"/>
            <a:ext cx="74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54B69"/>
                </a:solidFill>
                <a:latin typeface="Play"/>
                <a:ea typeface="Play"/>
                <a:cs typeface="Play"/>
                <a:sym typeface="Play"/>
              </a:rPr>
              <a:t>↪</a:t>
            </a:r>
            <a:endParaRPr sz="3700"/>
          </a:p>
        </p:txBody>
      </p:sp>
      <p:sp>
        <p:nvSpPr>
          <p:cNvPr id="529" name="Google Shape;529;h661f2e6144e1f622_0_215"/>
          <p:cNvSpPr txBox="1"/>
          <p:nvPr/>
        </p:nvSpPr>
        <p:spPr>
          <a:xfrm>
            <a:off x="8388675" y="2212850"/>
            <a:ext cx="320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AFAFA"/>
                </a:solidFill>
                <a:latin typeface="Montserrat"/>
                <a:ea typeface="Montserrat"/>
                <a:cs typeface="Montserrat"/>
                <a:sym typeface="Montserrat"/>
              </a:rPr>
              <a:t>Canal conversacional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h661f2e6144e1f622_0_215"/>
          <p:cNvSpPr txBox="1"/>
          <p:nvPr/>
        </p:nvSpPr>
        <p:spPr>
          <a:xfrm rot="-5400000">
            <a:off x="8809371" y="3025375"/>
            <a:ext cx="1547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00" u="none" cap="none" strike="noStrike">
                <a:solidFill>
                  <a:srgbClr val="F54B69"/>
                </a:solidFill>
                <a:latin typeface="Montserrat"/>
                <a:ea typeface="Montserrat"/>
                <a:cs typeface="Montserrat"/>
                <a:sym typeface="Montserrat"/>
              </a:rPr>
              <a:t>↓</a:t>
            </a:r>
            <a:endParaRPr sz="8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1" name="Google Shape;531;h661f2e6144e1f622_0_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334" y="2317525"/>
            <a:ext cx="1015800" cy="101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h661f2e6144e1f622_0_2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337" y="3692000"/>
            <a:ext cx="749800" cy="74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h661f2e6144e1f622_0_2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937" y="4867813"/>
            <a:ext cx="814513" cy="814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h661f2e6144e1f622_0_2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5750" y="3318188"/>
            <a:ext cx="1357965" cy="7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h661f2e6144e1f622_0_2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33573" y="3287188"/>
            <a:ext cx="749700" cy="7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h661f2e6144e1f622_0_215"/>
          <p:cNvSpPr/>
          <p:nvPr/>
        </p:nvSpPr>
        <p:spPr>
          <a:xfrm>
            <a:off x="7638986" y="4545630"/>
            <a:ext cx="749700" cy="749700"/>
          </a:xfrm>
          <a:prstGeom prst="roundRect">
            <a:avLst>
              <a:gd fmla="val 16667" name="adj"/>
            </a:avLst>
          </a:prstGeom>
          <a:solidFill>
            <a:srgbClr val="3C1C2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h661f2e6144e1f622_0_215"/>
          <p:cNvSpPr txBox="1"/>
          <p:nvPr/>
        </p:nvSpPr>
        <p:spPr>
          <a:xfrm>
            <a:off x="8388675" y="4395446"/>
            <a:ext cx="291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AFAFA"/>
                </a:solidFill>
                <a:latin typeface="Montserrat"/>
                <a:ea typeface="Montserrat"/>
                <a:cs typeface="Montserrat"/>
                <a:sym typeface="Montserrat"/>
              </a:rPr>
              <a:t>Cambio de reglamento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8" name="Google Shape;538;h661f2e6144e1f622_0_2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57275" y="4610072"/>
            <a:ext cx="713100" cy="620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h6614320cb80fea18_0_2092"/>
          <p:cNvSpPr txBox="1"/>
          <p:nvPr/>
        </p:nvSpPr>
        <p:spPr>
          <a:xfrm>
            <a:off x="571500" y="476250"/>
            <a:ext cx="1104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El lienzo Instituciona</a:t>
            </a:r>
            <a:r>
              <a:rPr lang="en-US" sz="4200">
                <a:solidFill>
                  <a:srgbClr val="11111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</a:t>
            </a:r>
            <a:endParaRPr i="0" sz="1800">
              <a:solidFill>
                <a:srgbClr val="11111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44" name="Google Shape;544;h6614320cb80fea18_0_2092"/>
          <p:cNvGrpSpPr/>
          <p:nvPr/>
        </p:nvGrpSpPr>
        <p:grpSpPr>
          <a:xfrm>
            <a:off x="571500" y="1669894"/>
            <a:ext cx="3429000" cy="4649915"/>
            <a:chOff x="571500" y="2000250"/>
            <a:chExt cx="3429000" cy="4191000"/>
          </a:xfrm>
        </p:grpSpPr>
        <p:sp>
          <p:nvSpPr>
            <p:cNvPr id="545" name="Google Shape;545;h6614320cb80fea18_0_2092"/>
            <p:cNvSpPr/>
            <p:nvPr/>
          </p:nvSpPr>
          <p:spPr>
            <a:xfrm>
              <a:off x="571500" y="200025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F4F4F5"/>
            </a:solidFill>
            <a:ln cap="flat" cmpd="sng" w="19050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h6614320cb80fea18_0_2092"/>
            <p:cNvSpPr/>
            <p:nvPr/>
          </p:nvSpPr>
          <p:spPr>
            <a:xfrm>
              <a:off x="876300" y="2305050"/>
              <a:ext cx="609600" cy="609600"/>
            </a:xfrm>
            <a:prstGeom prst="roundRect">
              <a:avLst>
                <a:gd fmla="val 18750" name="adj"/>
              </a:avLst>
            </a:prstGeom>
            <a:solidFill>
              <a:srgbClr val="E4E4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h6614320cb80fea18_0_2092"/>
            <p:cNvSpPr txBox="1"/>
            <p:nvPr/>
          </p:nvSpPr>
          <p:spPr>
            <a:xfrm>
              <a:off x="876300" y="2398522"/>
              <a:ext cx="6096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>
                  <a:solidFill>
                    <a:srgbClr val="18181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b="0" i="0" sz="3200">
                <a:solidFill>
                  <a:srgbClr val="18181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48" name="Google Shape;548;h6614320cb80fea18_0_2092"/>
            <p:cNvSpPr txBox="1"/>
            <p:nvPr/>
          </p:nvSpPr>
          <p:spPr>
            <a:xfrm>
              <a:off x="876300" y="3219450"/>
              <a:ext cx="28194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Teoría de la Gestalt</a:t>
              </a:r>
              <a:endParaRPr b="1" i="0" sz="40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2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49" name="Google Shape;549;h6614320cb80fea18_0_2092"/>
          <p:cNvGrpSpPr/>
          <p:nvPr/>
        </p:nvGrpSpPr>
        <p:grpSpPr>
          <a:xfrm>
            <a:off x="4381500" y="1669894"/>
            <a:ext cx="3429000" cy="4649915"/>
            <a:chOff x="4381500" y="2000250"/>
            <a:chExt cx="3429000" cy="4191000"/>
          </a:xfrm>
        </p:grpSpPr>
        <p:sp>
          <p:nvSpPr>
            <p:cNvPr id="550" name="Google Shape;550;h6614320cb80fea18_0_2092"/>
            <p:cNvSpPr/>
            <p:nvPr/>
          </p:nvSpPr>
          <p:spPr>
            <a:xfrm>
              <a:off x="4381500" y="200025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F4F4F5"/>
            </a:solidFill>
            <a:ln cap="flat" cmpd="sng" w="19050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h6614320cb80fea18_0_2092"/>
            <p:cNvSpPr/>
            <p:nvPr/>
          </p:nvSpPr>
          <p:spPr>
            <a:xfrm>
              <a:off x="4686300" y="2305050"/>
              <a:ext cx="609600" cy="609600"/>
            </a:xfrm>
            <a:prstGeom prst="roundRect">
              <a:avLst>
                <a:gd fmla="val 18750" name="adj"/>
              </a:avLst>
            </a:prstGeom>
            <a:solidFill>
              <a:srgbClr val="E4E4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h6614320cb80fea18_0_2092"/>
            <p:cNvSpPr txBox="1"/>
            <p:nvPr/>
          </p:nvSpPr>
          <p:spPr>
            <a:xfrm>
              <a:off x="4686300" y="2398522"/>
              <a:ext cx="6096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>
                  <a:solidFill>
                    <a:srgbClr val="18181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palette</a:t>
              </a:r>
              <a:endParaRPr b="0" i="0" sz="3200">
                <a:solidFill>
                  <a:srgbClr val="18181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53" name="Google Shape;553;h6614320cb80fea18_0_2092"/>
            <p:cNvSpPr txBox="1"/>
            <p:nvPr/>
          </p:nvSpPr>
          <p:spPr>
            <a:xfrm>
              <a:off x="4572000" y="3219450"/>
              <a:ext cx="30699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Base </a:t>
              </a:r>
              <a:r>
                <a:rPr b="1" lang="en-US" sz="40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b="1" i="0" lang="en-US" sz="40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cromática</a:t>
              </a:r>
              <a:endParaRPr b="1" i="0" sz="40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2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54" name="Google Shape;554;h6614320cb80fea18_0_2092"/>
          <p:cNvGrpSpPr/>
          <p:nvPr/>
        </p:nvGrpSpPr>
        <p:grpSpPr>
          <a:xfrm>
            <a:off x="8191500" y="1669894"/>
            <a:ext cx="3429000" cy="4649915"/>
            <a:chOff x="8191500" y="2000250"/>
            <a:chExt cx="3429000" cy="4191000"/>
          </a:xfrm>
        </p:grpSpPr>
        <p:sp>
          <p:nvSpPr>
            <p:cNvPr id="555" name="Google Shape;555;h6614320cb80fea18_0_2092"/>
            <p:cNvSpPr/>
            <p:nvPr/>
          </p:nvSpPr>
          <p:spPr>
            <a:xfrm>
              <a:off x="8191500" y="2000250"/>
              <a:ext cx="3429000" cy="4191000"/>
            </a:xfrm>
            <a:prstGeom prst="roundRect">
              <a:avLst>
                <a:gd fmla="val 4444" name="adj"/>
              </a:avLst>
            </a:prstGeom>
            <a:solidFill>
              <a:srgbClr val="F4F4F5"/>
            </a:solidFill>
            <a:ln cap="flat" cmpd="sng" w="19050">
              <a:solidFill>
                <a:srgbClr val="E4E4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h6614320cb80fea18_0_2092"/>
            <p:cNvSpPr/>
            <p:nvPr/>
          </p:nvSpPr>
          <p:spPr>
            <a:xfrm>
              <a:off x="8496300" y="2305050"/>
              <a:ext cx="609600" cy="609600"/>
            </a:xfrm>
            <a:prstGeom prst="roundRect">
              <a:avLst>
                <a:gd fmla="val 18750" name="adj"/>
              </a:avLst>
            </a:prstGeom>
            <a:solidFill>
              <a:srgbClr val="E4E4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h6614320cb80fea18_0_2092"/>
            <p:cNvSpPr txBox="1"/>
            <p:nvPr/>
          </p:nvSpPr>
          <p:spPr>
            <a:xfrm>
              <a:off x="8496300" y="2398522"/>
              <a:ext cx="6096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>
                  <a:solidFill>
                    <a:srgbClr val="18181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b="0" i="0" sz="3200">
                <a:solidFill>
                  <a:srgbClr val="18181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58" name="Google Shape;558;h6614320cb80fea18_0_2092"/>
            <p:cNvSpPr txBox="1"/>
            <p:nvPr/>
          </p:nvSpPr>
          <p:spPr>
            <a:xfrm>
              <a:off x="8496300" y="3143250"/>
              <a:ext cx="28194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Claridad</a:t>
              </a:r>
              <a:r>
                <a:rPr b="1" i="0" lang="en-US" sz="40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lang="en-US" sz="40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</a:t>
              </a:r>
              <a:r>
                <a:rPr b="1" i="0" lang="en-US" sz="4000">
                  <a:solidFill>
                    <a:srgbClr val="11111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inanciera</a:t>
              </a:r>
              <a:endParaRPr b="1" i="0" sz="40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52525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h6614320cb80fea18_0_24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4475" y="3067050"/>
            <a:ext cx="96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h6614320cb80fea18_0_2451"/>
          <p:cNvSpPr txBox="1"/>
          <p:nvPr/>
        </p:nvSpPr>
        <p:spPr>
          <a:xfrm>
            <a:off x="587925" y="213500"/>
            <a:ext cx="43608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Estrategia </a:t>
            </a:r>
            <a:endParaRPr b="0" sz="4000">
              <a:solidFill>
                <a:srgbClr val="38BDF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 penetración</a:t>
            </a:r>
            <a:r>
              <a:rPr b="0" lang="en-US" sz="4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b="0" sz="4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A1A1A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(Go-To-Market)</a:t>
            </a:r>
            <a:endParaRPr b="0" sz="4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565" name="Google Shape;565;h6614320cb80fea18_0_2451"/>
          <p:cNvCxnSpPr/>
          <p:nvPr/>
        </p:nvCxnSpPr>
        <p:spPr>
          <a:xfrm>
            <a:off x="762000" y="3524250"/>
            <a:ext cx="106680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h6614320cb80fea18_0_2451"/>
          <p:cNvCxnSpPr/>
          <p:nvPr/>
        </p:nvCxnSpPr>
        <p:spPr>
          <a:xfrm>
            <a:off x="762000" y="3524250"/>
            <a:ext cx="10668000" cy="0"/>
          </a:xfrm>
          <a:prstGeom prst="straightConnector1">
            <a:avLst/>
          </a:prstGeom>
          <a:solidFill>
            <a:srgbClr val="FFFFFF"/>
          </a:solidFill>
          <a:ln cap="rnd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7" name="Google Shape;567;h6614320cb80fea18_0_24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3524250"/>
            <a:ext cx="192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h6614320cb80fea18_0_24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7950" y="3124200"/>
            <a:ext cx="795300" cy="7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h6614320cb80fea18_0_2451"/>
          <p:cNvSpPr/>
          <p:nvPr/>
        </p:nvSpPr>
        <p:spPr>
          <a:xfrm>
            <a:off x="2952750" y="3429000"/>
            <a:ext cx="190500" cy="1905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h6614320cb80fea18_0_2451"/>
          <p:cNvSpPr txBox="1"/>
          <p:nvPr/>
        </p:nvSpPr>
        <p:spPr>
          <a:xfrm>
            <a:off x="666825" y="4000500"/>
            <a:ext cx="4762500" cy="26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FASE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Nicho estratégico</a:t>
            </a:r>
            <a:endParaRPr sz="3000">
              <a:solidFill>
                <a:srgbClr val="D4D4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Cobertura objetivo:</a:t>
            </a:r>
            <a:endParaRPr sz="26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93700" lvl="0" marL="457200" rtl="0" algn="l">
              <a:spcBef>
                <a:spcPts val="450"/>
              </a:spcBef>
              <a:spcAft>
                <a:spcPts val="0"/>
              </a:spcAft>
              <a:buClr>
                <a:srgbClr val="3C78D8"/>
              </a:buClr>
              <a:buSzPts val="2600"/>
              <a:buFont typeface="Montserrat"/>
              <a:buChar char="●"/>
            </a:pPr>
            <a:r>
              <a:rPr b="1" lang="en-US" sz="26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Primera B Metropolitana</a:t>
            </a:r>
            <a:endParaRPr b="1" sz="26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spcBef>
                <a:spcPts val="300"/>
              </a:spcBef>
              <a:spcAft>
                <a:spcPts val="0"/>
              </a:spcAft>
              <a:buClr>
                <a:srgbClr val="3C78D8"/>
              </a:buClr>
              <a:buSzPts val="2600"/>
              <a:buFont typeface="Montserrat"/>
              <a:buChar char="●"/>
            </a:pPr>
            <a:r>
              <a:rPr b="1" lang="en-US" sz="26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Primera C</a:t>
            </a:r>
            <a:endParaRPr b="1" sz="26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spcBef>
                <a:spcPts val="300"/>
              </a:spcBef>
              <a:spcAft>
                <a:spcPts val="0"/>
              </a:spcAft>
              <a:buClr>
                <a:srgbClr val="3C78D8"/>
              </a:buClr>
              <a:buSzPts val="2600"/>
              <a:buFont typeface="Montserrat"/>
              <a:buChar char="●"/>
            </a:pPr>
            <a:r>
              <a:rPr b="1" lang="en-US" sz="260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Federal A</a:t>
            </a:r>
            <a:endParaRPr b="1" sz="260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h6614320cb80fea18_0_2451"/>
          <p:cNvSpPr txBox="1"/>
          <p:nvPr/>
        </p:nvSpPr>
        <p:spPr>
          <a:xfrm>
            <a:off x="6758025" y="477900"/>
            <a:ext cx="4762500" cy="25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Escalamiento</a:t>
            </a:r>
            <a:endParaRPr b="1"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CA3A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Ligas de expansión:</a:t>
            </a:r>
            <a:endParaRPr sz="2600">
              <a:solidFill>
                <a:srgbClr val="9CA3A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93700" lvl="0" marL="457200" rtl="0" algn="l">
              <a:spcBef>
                <a:spcPts val="450"/>
              </a:spcBef>
              <a:spcAft>
                <a:spcPts val="0"/>
              </a:spcAft>
              <a:buClr>
                <a:srgbClr val="34D399"/>
              </a:buClr>
              <a:buSzPts val="2600"/>
              <a:buFont typeface="Montserrat"/>
              <a:buChar char="●"/>
            </a:pPr>
            <a:r>
              <a:rPr lang="en-US" sz="2600">
                <a:solidFill>
                  <a:srgbClr val="34D39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Primera Nacional</a:t>
            </a:r>
            <a:endParaRPr sz="2600">
              <a:solidFill>
                <a:srgbClr val="34D39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93700" lvl="0" marL="457200" rtl="0" algn="l">
              <a:spcBef>
                <a:spcPts val="300"/>
              </a:spcBef>
              <a:spcAft>
                <a:spcPts val="0"/>
              </a:spcAft>
              <a:buClr>
                <a:srgbClr val="34D399"/>
              </a:buClr>
              <a:buSzPts val="2600"/>
              <a:buFont typeface="Montserrat"/>
              <a:buChar char="●"/>
            </a:pPr>
            <a:r>
              <a:rPr lang="en-US" sz="2600">
                <a:solidFill>
                  <a:srgbClr val="34D39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Liga Profesional</a:t>
            </a:r>
            <a:endParaRPr sz="2600">
              <a:solidFill>
                <a:srgbClr val="34D39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4D39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1700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FASE 2</a:t>
            </a:r>
            <a:endParaRPr sz="1900">
              <a:solidFill>
                <a:srgbClr val="34D39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72" name="Google Shape;572;h6614320cb80fea18_0_2451"/>
          <p:cNvGrpSpPr/>
          <p:nvPr/>
        </p:nvGrpSpPr>
        <p:grpSpPr>
          <a:xfrm>
            <a:off x="8743950" y="3124200"/>
            <a:ext cx="790725" cy="797700"/>
            <a:chOff x="8743950" y="3124200"/>
            <a:chExt cx="790725" cy="797700"/>
          </a:xfrm>
        </p:grpSpPr>
        <p:pic>
          <p:nvPicPr>
            <p:cNvPr id="573" name="Google Shape;573;h6614320cb80fea18_0_24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43950" y="3124200"/>
              <a:ext cx="400200" cy="795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h6614320cb80fea18_0_24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9134475" y="3126600"/>
              <a:ext cx="400200" cy="7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h6614320cb80fea18_0_2451"/>
            <p:cNvSpPr/>
            <p:nvPr/>
          </p:nvSpPr>
          <p:spPr>
            <a:xfrm>
              <a:off x="9044025" y="3428850"/>
              <a:ext cx="190500" cy="1905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7"/>
          <p:cNvSpPr/>
          <p:nvPr/>
        </p:nvSpPr>
        <p:spPr>
          <a:xfrm>
            <a:off x="571500" y="1619250"/>
            <a:ext cx="3429000" cy="45720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7"/>
          <p:cNvSpPr txBox="1"/>
          <p:nvPr/>
        </p:nvSpPr>
        <p:spPr>
          <a:xfrm>
            <a:off x="571500" y="476250"/>
            <a:ext cx="11049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Pricing basado en el valor</a:t>
            </a:r>
            <a:endParaRPr b="0" sz="40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82" name="Google Shape;582;p17"/>
          <p:cNvGrpSpPr/>
          <p:nvPr/>
        </p:nvGrpSpPr>
        <p:grpSpPr>
          <a:xfrm>
            <a:off x="4381500" y="1619250"/>
            <a:ext cx="3429000" cy="4572000"/>
            <a:chOff x="0" y="0"/>
            <a:chExt cx="3429000" cy="4572000"/>
          </a:xfrm>
        </p:grpSpPr>
        <p:sp>
          <p:nvSpPr>
            <p:cNvPr id="583" name="Google Shape;583;p17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304800" y="304800"/>
              <a:ext cx="609600" cy="609600"/>
            </a:xfrm>
            <a:prstGeom prst="roundRect">
              <a:avLst>
                <a:gd fmla="val 2187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7"/>
            <p:cNvSpPr txBox="1"/>
            <p:nvPr/>
          </p:nvSpPr>
          <p:spPr>
            <a:xfrm>
              <a:off x="304800" y="348615"/>
              <a:ext cx="609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published_with_changes</a:t>
              </a:r>
              <a:endParaRPr sz="3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86" name="Google Shape;586;p17"/>
            <p:cNvSpPr txBox="1"/>
            <p:nvPr/>
          </p:nvSpPr>
          <p:spPr>
            <a:xfrm>
              <a:off x="93300" y="1107600"/>
              <a:ext cx="3242400" cy="12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4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Suscripción híbrida</a:t>
              </a:r>
              <a:endParaRPr b="1" sz="404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587" name="Google Shape;587;p17"/>
            <p:cNvCxnSpPr/>
            <p:nvPr/>
          </p:nvCxnSpPr>
          <p:spPr>
            <a:xfrm>
              <a:off x="304800" y="1733550"/>
              <a:ext cx="2819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8" name="Google Shape;588;p17"/>
            <p:cNvSpPr txBox="1"/>
            <p:nvPr/>
          </p:nvSpPr>
          <p:spPr>
            <a:xfrm>
              <a:off x="93300" y="2456850"/>
              <a:ext cx="3242400" cy="17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Abono mensual + tarifa variable por transacción</a:t>
              </a:r>
              <a:endParaRPr sz="3200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89" name="Google Shape;589;p17"/>
          <p:cNvGrpSpPr/>
          <p:nvPr/>
        </p:nvGrpSpPr>
        <p:grpSpPr>
          <a:xfrm>
            <a:off x="8191500" y="1619250"/>
            <a:ext cx="3429000" cy="4572000"/>
            <a:chOff x="0" y="0"/>
            <a:chExt cx="3429000" cy="4572000"/>
          </a:xfrm>
        </p:grpSpPr>
        <p:sp>
          <p:nvSpPr>
            <p:cNvPr id="590" name="Google Shape;590;p17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304800" y="304800"/>
              <a:ext cx="609600" cy="609600"/>
            </a:xfrm>
            <a:prstGeom prst="roundRect">
              <a:avLst>
                <a:gd fmla="val 2187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7"/>
            <p:cNvSpPr txBox="1"/>
            <p:nvPr/>
          </p:nvSpPr>
          <p:spPr>
            <a:xfrm>
              <a:off x="304800" y="348615"/>
              <a:ext cx="609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campaign</a:t>
              </a:r>
              <a:endParaRPr sz="3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93" name="Google Shape;593;p17"/>
            <p:cNvSpPr txBox="1"/>
            <p:nvPr/>
          </p:nvSpPr>
          <p:spPr>
            <a:xfrm>
              <a:off x="49350" y="1135650"/>
              <a:ext cx="3330300" cy="11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Marketplace CPA</a:t>
              </a:r>
              <a:endParaRPr b="1" sz="4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594" name="Google Shape;594;p17"/>
            <p:cNvCxnSpPr/>
            <p:nvPr/>
          </p:nvCxnSpPr>
          <p:spPr>
            <a:xfrm>
              <a:off x="304800" y="1733550"/>
              <a:ext cx="2819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5" name="Google Shape;595;p17"/>
            <p:cNvSpPr txBox="1"/>
            <p:nvPr/>
          </p:nvSpPr>
          <p:spPr>
            <a:xfrm>
              <a:off x="228600" y="2508875"/>
              <a:ext cx="2971800" cy="166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Monetización publicitaria en la aplicación móvil</a:t>
              </a:r>
              <a:endParaRPr sz="32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solidFill>
                  <a:srgbClr val="0F172A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596" name="Google Shape;596;p17"/>
          <p:cNvSpPr/>
          <p:nvPr/>
        </p:nvSpPr>
        <p:spPr>
          <a:xfrm>
            <a:off x="876300" y="1924050"/>
            <a:ext cx="609600" cy="609600"/>
          </a:xfrm>
          <a:prstGeom prst="roundRect">
            <a:avLst>
              <a:gd fmla="val 2187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7"/>
          <p:cNvSpPr txBox="1"/>
          <p:nvPr/>
        </p:nvSpPr>
        <p:spPr>
          <a:xfrm>
            <a:off x="876300" y="1967865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handshake</a:t>
            </a:r>
            <a:endParaRPr sz="30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98" name="Google Shape;598;p17"/>
          <p:cNvSpPr txBox="1"/>
          <p:nvPr/>
        </p:nvSpPr>
        <p:spPr>
          <a:xfrm>
            <a:off x="856275" y="2739375"/>
            <a:ext cx="28194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Setup Fee</a:t>
            </a:r>
            <a:endParaRPr b="1" sz="4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17"/>
          <p:cNvSpPr txBox="1"/>
          <p:nvPr/>
        </p:nvSpPr>
        <p:spPr>
          <a:xfrm>
            <a:off x="876300" y="3543300"/>
            <a:ext cx="28194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Costo de configuración inicial</a:t>
            </a:r>
            <a:endParaRPr sz="3000">
              <a:solidFill>
                <a:srgbClr val="166534"/>
              </a:solidFill>
              <a:highlight>
                <a:srgbClr val="FFFFFF"/>
              </a:highlight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00" name="Google Shape;600;p17"/>
          <p:cNvCxnSpPr/>
          <p:nvPr/>
        </p:nvCxnSpPr>
        <p:spPr>
          <a:xfrm>
            <a:off x="876300" y="3352800"/>
            <a:ext cx="28194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1" name="Google Shape;601;p17"/>
          <p:cNvGrpSpPr/>
          <p:nvPr/>
        </p:nvGrpSpPr>
        <p:grpSpPr>
          <a:xfrm>
            <a:off x="856239" y="5106872"/>
            <a:ext cx="2819470" cy="991318"/>
            <a:chOff x="856200" y="4344675"/>
            <a:chExt cx="1549500" cy="544800"/>
          </a:xfrm>
        </p:grpSpPr>
        <p:sp>
          <p:nvSpPr>
            <p:cNvPr id="602" name="Google Shape;602;p17"/>
            <p:cNvSpPr/>
            <p:nvPr/>
          </p:nvSpPr>
          <p:spPr>
            <a:xfrm>
              <a:off x="876300" y="4378875"/>
              <a:ext cx="1509300" cy="476400"/>
            </a:xfrm>
            <a:prstGeom prst="roundRect">
              <a:avLst>
                <a:gd fmla="val 50000" name="adj"/>
              </a:avLst>
            </a:prstGeom>
            <a:solidFill>
              <a:srgbClr val="DCFCE7"/>
            </a:solidFill>
            <a:ln cap="flat" cmpd="sng" w="17325">
              <a:solidFill>
                <a:srgbClr val="86EF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47"/>
            </a:p>
          </p:txBody>
        </p:sp>
        <p:sp>
          <p:nvSpPr>
            <p:cNvPr id="603" name="Google Shape;603;p17"/>
            <p:cNvSpPr txBox="1"/>
            <p:nvPr/>
          </p:nvSpPr>
          <p:spPr>
            <a:xfrm>
              <a:off x="856200" y="4344675"/>
              <a:ext cx="1549500" cy="5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47">
                  <a:solidFill>
                    <a:srgbClr val="1665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100% BONIFICADO PARA PRIMEROS CLIENTES</a:t>
              </a:r>
              <a:endParaRPr b="1" sz="1547">
                <a:solidFill>
                  <a:srgbClr val="16653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h6614320cb80fea18_0_3040"/>
          <p:cNvSpPr txBox="1"/>
          <p:nvPr/>
        </p:nvSpPr>
        <p:spPr>
          <a:xfrm>
            <a:off x="762000" y="571500"/>
            <a:ext cx="106680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rgbClr val="F7F9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Proyección financiera base</a:t>
            </a:r>
            <a:endParaRPr b="0" sz="4000">
              <a:solidFill>
                <a:srgbClr val="F7F9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09" name="Google Shape;609;h6614320cb80fea18_0_3040"/>
          <p:cNvSpPr/>
          <p:nvPr/>
        </p:nvSpPr>
        <p:spPr>
          <a:xfrm>
            <a:off x="762038" y="1524000"/>
            <a:ext cx="10667700" cy="4572000"/>
          </a:xfrm>
          <a:prstGeom prst="roundRect">
            <a:avLst>
              <a:gd fmla="val 416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h6614320cb80fea18_0_3040"/>
          <p:cNvSpPr/>
          <p:nvPr/>
        </p:nvSpPr>
        <p:spPr>
          <a:xfrm>
            <a:off x="1261200" y="1919400"/>
            <a:ext cx="9669600" cy="6834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h6614320cb80fea18_0_3040"/>
          <p:cNvSpPr txBox="1"/>
          <p:nvPr/>
        </p:nvSpPr>
        <p:spPr>
          <a:xfrm>
            <a:off x="955200" y="2022900"/>
            <a:ext cx="10474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12% Penetración (10 Clubes)</a:t>
            </a:r>
            <a:endParaRPr b="1" sz="4200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h6614320cb80fea18_0_3040"/>
          <p:cNvSpPr txBox="1"/>
          <p:nvPr/>
        </p:nvSpPr>
        <p:spPr>
          <a:xfrm>
            <a:off x="1567095" y="3106950"/>
            <a:ext cx="40476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</a:t>
            </a:r>
            <a:r>
              <a:rPr lang="en-US" sz="7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96</a:t>
            </a:r>
            <a:r>
              <a:rPr b="0" lang="en-US" sz="7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</a:t>
            </a:r>
            <a:r>
              <a:rPr b="0" lang="en-US" sz="76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b="0" lang="en-US" sz="3600">
                <a:solidFill>
                  <a:srgbClr val="0284C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USD</a:t>
            </a:r>
            <a:endParaRPr b="0" sz="76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613" name="Google Shape;613;h6614320cb80fea18_0_3040"/>
          <p:cNvGrpSpPr/>
          <p:nvPr/>
        </p:nvGrpSpPr>
        <p:grpSpPr>
          <a:xfrm>
            <a:off x="5957559" y="2848598"/>
            <a:ext cx="5699841" cy="1922811"/>
            <a:chOff x="5924559" y="2848598"/>
            <a:chExt cx="5699841" cy="1922811"/>
          </a:xfrm>
        </p:grpSpPr>
        <p:grpSp>
          <p:nvGrpSpPr>
            <p:cNvPr id="614" name="Google Shape;614;h6614320cb80fea18_0_3040"/>
            <p:cNvGrpSpPr/>
            <p:nvPr/>
          </p:nvGrpSpPr>
          <p:grpSpPr>
            <a:xfrm>
              <a:off x="5924559" y="2848598"/>
              <a:ext cx="1798701" cy="1922811"/>
              <a:chOff x="6953250" y="2857500"/>
              <a:chExt cx="762000" cy="814578"/>
            </a:xfrm>
          </p:grpSpPr>
          <p:sp>
            <p:nvSpPr>
              <p:cNvPr id="615" name="Google Shape;615;h6614320cb80fea18_0_3040"/>
              <p:cNvSpPr/>
              <p:nvPr/>
            </p:nvSpPr>
            <p:spPr>
              <a:xfrm>
                <a:off x="6953250" y="2857500"/>
                <a:ext cx="762000" cy="762000"/>
              </a:xfrm>
              <a:prstGeom prst="ellipse">
                <a:avLst/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h6614320cb80fea18_0_3040"/>
              <p:cNvSpPr txBox="1"/>
              <p:nvPr/>
            </p:nvSpPr>
            <p:spPr>
              <a:xfrm>
                <a:off x="6953250" y="2910078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498">
                    <a:solidFill>
                      <a:srgbClr val="34D3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trending_up</a:t>
                </a:r>
                <a:endParaRPr b="0" sz="8498">
                  <a:solidFill>
                    <a:srgbClr val="34D3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617" name="Google Shape;617;h6614320cb80fea18_0_3040"/>
            <p:cNvSpPr txBox="1"/>
            <p:nvPr/>
          </p:nvSpPr>
          <p:spPr>
            <a:xfrm>
              <a:off x="7899900" y="3128100"/>
              <a:ext cx="3724500" cy="13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33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+ Ingresos variables exponenciales</a:t>
              </a:r>
              <a:endParaRPr b="1" sz="333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18" name="Google Shape;618;h6614320cb80fea18_0_3040"/>
          <p:cNvSpPr txBox="1"/>
          <p:nvPr/>
        </p:nvSpPr>
        <p:spPr>
          <a:xfrm>
            <a:off x="3307650" y="5120700"/>
            <a:ext cx="5576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INGRESOS ANUALES</a:t>
            </a:r>
            <a:endParaRPr b="1" sz="3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9"/>
          <p:cNvSpPr txBox="1"/>
          <p:nvPr/>
        </p:nvSpPr>
        <p:spPr>
          <a:xfrm>
            <a:off x="3714750" y="952500"/>
            <a:ext cx="4762500" cy="153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</a:t>
            </a:r>
            <a:endParaRPr b="0" sz="100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1597500" y="3025450"/>
            <a:ext cx="8997000" cy="238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9"/>
          <p:cNvSpPr txBox="1"/>
          <p:nvPr/>
        </p:nvSpPr>
        <p:spPr>
          <a:xfrm>
            <a:off x="4450500" y="4937700"/>
            <a:ext cx="3291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EN ACCIÓN</a:t>
            </a:r>
            <a:endParaRPr b="1" sz="4200">
              <a:solidFill>
                <a:srgbClr val="11111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6" name="Google Shape;626;p19" title="texto.png"/>
          <p:cNvPicPr preferRelativeResize="0"/>
          <p:nvPr/>
        </p:nvPicPr>
        <p:blipFill rotWithShape="1">
          <a:blip r:embed="rId3">
            <a:alphaModFix/>
          </a:blip>
          <a:srcRect b="23437" l="0" r="0" t="25288"/>
          <a:stretch/>
        </p:blipFill>
        <p:spPr>
          <a:xfrm>
            <a:off x="2099425" y="3574625"/>
            <a:ext cx="7993150" cy="13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h6594a2e70c4c9f3_22_113"/>
          <p:cNvSpPr txBox="1"/>
          <p:nvPr/>
        </p:nvSpPr>
        <p:spPr>
          <a:xfrm>
            <a:off x="666750" y="476250"/>
            <a:ext cx="10858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15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Próximos pasos</a:t>
            </a:r>
            <a:endParaRPr b="0" sz="3795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2" name="Google Shape;632;h6594a2e70c4c9f3_22_113"/>
          <p:cNvSpPr/>
          <p:nvPr/>
        </p:nvSpPr>
        <p:spPr>
          <a:xfrm>
            <a:off x="169050" y="2433025"/>
            <a:ext cx="2207400" cy="2604900"/>
          </a:xfrm>
          <a:prstGeom prst="roundRect">
            <a:avLst>
              <a:gd fmla="val 7407" name="adj"/>
            </a:avLst>
          </a:prstGeom>
          <a:solidFill>
            <a:srgbClr val="18181B"/>
          </a:solidFill>
          <a:ln cap="flat" cmpd="sng" w="153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2"/>
          </a:p>
        </p:txBody>
      </p:sp>
      <p:sp>
        <p:nvSpPr>
          <p:cNvPr id="633" name="Google Shape;633;h6594a2e70c4c9f3_22_113"/>
          <p:cNvSpPr/>
          <p:nvPr/>
        </p:nvSpPr>
        <p:spPr>
          <a:xfrm>
            <a:off x="373425" y="2678274"/>
            <a:ext cx="408600" cy="286200"/>
          </a:xfrm>
          <a:prstGeom prst="roundRect">
            <a:avLst>
              <a:gd fmla="val 21428" name="adj"/>
            </a:avLst>
          </a:prstGeom>
          <a:solidFill>
            <a:srgbClr val="0284C7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h6594a2e70c4c9f3_22_113"/>
          <p:cNvSpPr txBox="1"/>
          <p:nvPr/>
        </p:nvSpPr>
        <p:spPr>
          <a:xfrm>
            <a:off x="285783" y="2678275"/>
            <a:ext cx="582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b="0" sz="2400">
              <a:solidFill>
                <a:srgbClr val="38BDF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35" name="Google Shape;635;h6594a2e70c4c9f3_22_113"/>
          <p:cNvPicPr preferRelativeResize="0"/>
          <p:nvPr/>
        </p:nvPicPr>
        <p:blipFill rotWithShape="1">
          <a:blip r:embed="rId3">
            <a:alphaModFix/>
          </a:blip>
          <a:srcRect b="1719" l="0" r="0" t="1728"/>
          <a:stretch/>
        </p:blipFill>
        <p:spPr>
          <a:xfrm>
            <a:off x="373425" y="3209647"/>
            <a:ext cx="490500" cy="4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h6594a2e70c4c9f3_22_113"/>
          <p:cNvSpPr txBox="1"/>
          <p:nvPr/>
        </p:nvSpPr>
        <p:spPr>
          <a:xfrm>
            <a:off x="373425" y="3945395"/>
            <a:ext cx="17985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3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Protección intelectual</a:t>
            </a:r>
            <a:endParaRPr b="1" sz="2431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66"/>
              </a:spcBef>
              <a:spcAft>
                <a:spcPts val="0"/>
              </a:spcAft>
              <a:buNone/>
            </a:pPr>
            <a:r>
              <a:t/>
            </a:r>
            <a:endParaRPr b="0" sz="118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h6594a2e70c4c9f3_22_113"/>
          <p:cNvSpPr/>
          <p:nvPr/>
        </p:nvSpPr>
        <p:spPr>
          <a:xfrm>
            <a:off x="2580674" y="2433025"/>
            <a:ext cx="2207400" cy="2604900"/>
          </a:xfrm>
          <a:prstGeom prst="roundRect">
            <a:avLst>
              <a:gd fmla="val 7407" name="adj"/>
            </a:avLst>
          </a:prstGeom>
          <a:solidFill>
            <a:srgbClr val="18181B"/>
          </a:solidFill>
          <a:ln cap="flat" cmpd="sng" w="153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h6594a2e70c4c9f3_22_113"/>
          <p:cNvSpPr/>
          <p:nvPr/>
        </p:nvSpPr>
        <p:spPr>
          <a:xfrm>
            <a:off x="2785049" y="2678274"/>
            <a:ext cx="408600" cy="286200"/>
          </a:xfrm>
          <a:prstGeom prst="roundRect">
            <a:avLst>
              <a:gd fmla="val 21428" name="adj"/>
            </a:avLst>
          </a:prstGeom>
          <a:solidFill>
            <a:srgbClr val="0284C7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h6594a2e70c4c9f3_22_113"/>
          <p:cNvSpPr txBox="1"/>
          <p:nvPr/>
        </p:nvSpPr>
        <p:spPr>
          <a:xfrm>
            <a:off x="2752185" y="2678275"/>
            <a:ext cx="490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b="0" sz="2400">
              <a:solidFill>
                <a:srgbClr val="38BDF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40" name="Google Shape;640;h6594a2e70c4c9f3_22_113"/>
          <p:cNvPicPr preferRelativeResize="0"/>
          <p:nvPr/>
        </p:nvPicPr>
        <p:blipFill rotWithShape="1">
          <a:blip r:embed="rId4">
            <a:alphaModFix/>
          </a:blip>
          <a:srcRect b="0" l="8567" r="8576" t="0"/>
          <a:stretch/>
        </p:blipFill>
        <p:spPr>
          <a:xfrm>
            <a:off x="2785049" y="3209647"/>
            <a:ext cx="490500" cy="4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h6594a2e70c4c9f3_22_113"/>
          <p:cNvSpPr txBox="1"/>
          <p:nvPr/>
        </p:nvSpPr>
        <p:spPr>
          <a:xfrm>
            <a:off x="2785049" y="3902495"/>
            <a:ext cx="1798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3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Gestión de grupo familiar</a:t>
            </a:r>
            <a:endParaRPr b="1" sz="2431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66"/>
              </a:spcBef>
              <a:spcAft>
                <a:spcPts val="0"/>
              </a:spcAft>
              <a:buNone/>
            </a:pPr>
            <a:r>
              <a:t/>
            </a:r>
            <a:endParaRPr b="0" sz="118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Google Shape;642;h6594a2e70c4c9f3_22_113"/>
          <p:cNvSpPr/>
          <p:nvPr/>
        </p:nvSpPr>
        <p:spPr>
          <a:xfrm>
            <a:off x="4992298" y="2433025"/>
            <a:ext cx="2207400" cy="2604900"/>
          </a:xfrm>
          <a:prstGeom prst="roundRect">
            <a:avLst>
              <a:gd fmla="val 7407" name="adj"/>
            </a:avLst>
          </a:prstGeom>
          <a:solidFill>
            <a:srgbClr val="18181B"/>
          </a:solidFill>
          <a:ln cap="flat" cmpd="sng" w="153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h6594a2e70c4c9f3_22_113"/>
          <p:cNvSpPr/>
          <p:nvPr/>
        </p:nvSpPr>
        <p:spPr>
          <a:xfrm>
            <a:off x="5196673" y="2678274"/>
            <a:ext cx="408600" cy="286200"/>
          </a:xfrm>
          <a:prstGeom prst="roundRect">
            <a:avLst>
              <a:gd fmla="val 21428" name="adj"/>
            </a:avLst>
          </a:prstGeom>
          <a:solidFill>
            <a:srgbClr val="0284C7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h6594a2e70c4c9f3_22_113"/>
          <p:cNvSpPr txBox="1"/>
          <p:nvPr/>
        </p:nvSpPr>
        <p:spPr>
          <a:xfrm>
            <a:off x="5109034" y="2678275"/>
            <a:ext cx="582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b="0" sz="2400">
              <a:solidFill>
                <a:srgbClr val="38BDF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45" name="Google Shape;645;h6594a2e70c4c9f3_22_113"/>
          <p:cNvSpPr txBox="1"/>
          <p:nvPr/>
        </p:nvSpPr>
        <p:spPr>
          <a:xfrm>
            <a:off x="5196673" y="3945395"/>
            <a:ext cx="17985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66"/>
              </a:spcAft>
              <a:buNone/>
            </a:pPr>
            <a:r>
              <a:rPr b="1" lang="en-US" sz="24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Molinetes físicos</a:t>
            </a:r>
            <a:endParaRPr b="0" sz="24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Google Shape;646;h6594a2e70c4c9f3_22_113"/>
          <p:cNvSpPr/>
          <p:nvPr/>
        </p:nvSpPr>
        <p:spPr>
          <a:xfrm>
            <a:off x="7403922" y="2433025"/>
            <a:ext cx="2207400" cy="2604900"/>
          </a:xfrm>
          <a:prstGeom prst="roundRect">
            <a:avLst>
              <a:gd fmla="val 7407" name="adj"/>
            </a:avLst>
          </a:prstGeom>
          <a:solidFill>
            <a:srgbClr val="18181B"/>
          </a:solidFill>
          <a:ln cap="flat" cmpd="sng" w="153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h6594a2e70c4c9f3_22_113"/>
          <p:cNvSpPr/>
          <p:nvPr/>
        </p:nvSpPr>
        <p:spPr>
          <a:xfrm>
            <a:off x="7608297" y="2678274"/>
            <a:ext cx="408600" cy="286200"/>
          </a:xfrm>
          <a:prstGeom prst="roundRect">
            <a:avLst>
              <a:gd fmla="val 21428" name="adj"/>
            </a:avLst>
          </a:prstGeom>
          <a:solidFill>
            <a:srgbClr val="0284C7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h6594a2e70c4c9f3_22_113"/>
          <p:cNvSpPr txBox="1"/>
          <p:nvPr/>
        </p:nvSpPr>
        <p:spPr>
          <a:xfrm>
            <a:off x="7487792" y="2678275"/>
            <a:ext cx="68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b="0" sz="2400">
              <a:solidFill>
                <a:srgbClr val="38BDF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49" name="Google Shape;649;h6594a2e70c4c9f3_22_113"/>
          <p:cNvPicPr preferRelativeResize="0"/>
          <p:nvPr/>
        </p:nvPicPr>
        <p:blipFill rotWithShape="1">
          <a:blip r:embed="rId5">
            <a:alphaModFix/>
          </a:blip>
          <a:srcRect b="1719" l="0" r="0" t="1728"/>
          <a:stretch/>
        </p:blipFill>
        <p:spPr>
          <a:xfrm>
            <a:off x="7608297" y="3209647"/>
            <a:ext cx="490500" cy="4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h6594a2e70c4c9f3_22_113"/>
          <p:cNvSpPr txBox="1"/>
          <p:nvPr/>
        </p:nvSpPr>
        <p:spPr>
          <a:xfrm>
            <a:off x="7608297" y="3945395"/>
            <a:ext cx="17985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66"/>
              </a:spcAft>
              <a:buNone/>
            </a:pPr>
            <a:r>
              <a:rPr b="1" lang="en-US" sz="24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Expansión</a:t>
            </a:r>
            <a:r>
              <a:rPr b="1" lang="en-US" sz="24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financiera</a:t>
            </a:r>
            <a:endParaRPr b="0" sz="24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1" name="Google Shape;651;h6594a2e70c4c9f3_22_113"/>
          <p:cNvSpPr/>
          <p:nvPr/>
        </p:nvSpPr>
        <p:spPr>
          <a:xfrm>
            <a:off x="9815546" y="2433025"/>
            <a:ext cx="2207400" cy="2604900"/>
          </a:xfrm>
          <a:prstGeom prst="roundRect">
            <a:avLst>
              <a:gd fmla="val 7407" name="adj"/>
            </a:avLst>
          </a:prstGeom>
          <a:solidFill>
            <a:srgbClr val="18181B"/>
          </a:solidFill>
          <a:ln cap="flat" cmpd="sng" w="153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2"/>
          </a:p>
        </p:txBody>
      </p:sp>
      <p:sp>
        <p:nvSpPr>
          <p:cNvPr id="652" name="Google Shape;652;h6594a2e70c4c9f3_22_113"/>
          <p:cNvSpPr/>
          <p:nvPr/>
        </p:nvSpPr>
        <p:spPr>
          <a:xfrm>
            <a:off x="10019921" y="2678274"/>
            <a:ext cx="408600" cy="286200"/>
          </a:xfrm>
          <a:prstGeom prst="roundRect">
            <a:avLst>
              <a:gd fmla="val 21428" name="adj"/>
            </a:avLst>
          </a:prstGeom>
          <a:solidFill>
            <a:srgbClr val="0284C7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h6594a2e70c4c9f3_22_113"/>
          <p:cNvSpPr txBox="1"/>
          <p:nvPr/>
        </p:nvSpPr>
        <p:spPr>
          <a:xfrm>
            <a:off x="9932285" y="2678275"/>
            <a:ext cx="582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05</a:t>
            </a:r>
            <a:endParaRPr b="0" sz="2400">
              <a:solidFill>
                <a:srgbClr val="38BDF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54" name="Google Shape;654;h6594a2e70c4c9f3_22_113"/>
          <p:cNvPicPr preferRelativeResize="0"/>
          <p:nvPr/>
        </p:nvPicPr>
        <p:blipFill rotWithShape="1">
          <a:blip r:embed="rId6">
            <a:alphaModFix/>
          </a:blip>
          <a:srcRect b="6897" l="0" r="0" t="6897"/>
          <a:stretch/>
        </p:blipFill>
        <p:spPr>
          <a:xfrm>
            <a:off x="10019921" y="3209647"/>
            <a:ext cx="490500" cy="4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h6594a2e70c4c9f3_22_113"/>
          <p:cNvSpPr txBox="1"/>
          <p:nvPr/>
        </p:nvSpPr>
        <p:spPr>
          <a:xfrm>
            <a:off x="9983400" y="3945325"/>
            <a:ext cx="18717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66"/>
              </a:spcAft>
              <a:buNone/>
            </a:pPr>
            <a:r>
              <a:rPr b="1" lang="en-US" sz="24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Despliegue Nativo</a:t>
            </a:r>
            <a:endParaRPr b="0" sz="24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656" name="Google Shape;656;h6594a2e70c4c9f3_22_1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65912" y="3188939"/>
            <a:ext cx="347664" cy="48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1" name="Google Shape;6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1"/>
          <p:cNvSpPr txBox="1"/>
          <p:nvPr/>
        </p:nvSpPr>
        <p:spPr>
          <a:xfrm>
            <a:off x="-1383548" y="2056029"/>
            <a:ext cx="14959103" cy="2788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36" u="non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Entonces</a:t>
            </a:r>
            <a:r>
              <a:rPr b="1" i="0" lang="en-US" sz="8236" u="non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, ¿</a:t>
            </a:r>
            <a:r>
              <a:rPr b="1" i="0" lang="en-US" sz="8236" u="non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Por qu</a:t>
            </a:r>
            <a:r>
              <a:rPr b="1" lang="en-US" sz="8236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é</a:t>
            </a:r>
            <a:endParaRPr b="1" sz="8236">
              <a:solidFill>
                <a:srgbClr val="1111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36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</a:t>
            </a:r>
            <a:r>
              <a:rPr b="1" i="0" lang="en-US" sz="8236" u="none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305"/>
          </a:p>
        </p:txBody>
      </p:sp>
      <p:pic>
        <p:nvPicPr>
          <p:cNvPr id="663" name="Google Shape;663;p21" title="texto.png"/>
          <p:cNvPicPr preferRelativeResize="0"/>
          <p:nvPr/>
        </p:nvPicPr>
        <p:blipFill rotWithShape="1">
          <a:blip r:embed="rId4">
            <a:alphaModFix/>
          </a:blip>
          <a:srcRect b="23437" l="0" r="0" t="25288"/>
          <a:stretch/>
        </p:blipFill>
        <p:spPr>
          <a:xfrm>
            <a:off x="1496250" y="3603275"/>
            <a:ext cx="7728325" cy="131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2"/>
          <p:cNvSpPr txBox="1"/>
          <p:nvPr/>
        </p:nvSpPr>
        <p:spPr>
          <a:xfrm>
            <a:off x="295275" y="2857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Porque…</a:t>
            </a:r>
            <a:endParaRPr b="1" i="0" sz="7500" u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